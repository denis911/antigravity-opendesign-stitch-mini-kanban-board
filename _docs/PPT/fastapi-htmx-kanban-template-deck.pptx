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    <Relationship Id="rId1" Type="http://schemas.openxmlformats.org/officeDocument/2006/relationships/extended-properties" Target="docProps/app.xml"/>
    <Relationship Id="rId2" Type="http://schemas.openxmlformats.org/package/2006/relationships/metadata/core-properties" Target="docProps/core.xml"/>
    <Relationship Id="rId3" Type="http://schemas.openxmlformats.org/officeDocument/2006/relationships/officeDocument" Target="ppt/presentation.xml"/>
    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    <Relationship Id="rId1" Type="http://schemas.openxmlformats.org/officeDocument/2006/relationships/theme" Target="../theme/theme1.xml"/>
    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1.xml"/>
    </Relationships>
</file>

<file path=ppt/notesSlides/_rels/notesSlide2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2.xml"/>
    </Relationships>
</file>

<file path=ppt/notesSlides/_rels/notesSlide3.xml.rels><?xml version="1.0" encoding="UTF-8" standalone="yes"?>
    <Relationships xmlns="http://schemas.openxmlformats.org/package/2006/relationships">
      <Relationship Id="rId1" Type="http://schemas.openxmlformats.org/officeDocument/2006/relationships/notesMaster" Target="../notesMasters/notesMaster1.xml"/>
      <Relationship Id="rId2" Type="http://schemas.openxmlformats.org/officeDocument/2006/relationships/slide" Target="../slides/slide3.xml"/>
    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image" Target="../media/image-2-17.png"/><Relationship Id="rId18" Type="http://schemas.openxmlformats.org/officeDocument/2006/relationships/image" Target="../media/image-2-18.svg"/><Relationship Id="rId19" Type="http://schemas.openxmlformats.org/officeDocument/2006/relationships/image" Target="../media/image-2-19.png"/><Relationship Id="rId20" Type="http://schemas.openxmlformats.org/officeDocument/2006/relationships/image" Target="../media/image-2-20.svg"/><Relationship Id="rId21" Type="http://schemas.openxmlformats.org/officeDocument/2006/relationships/image" Target="../media/image-2-21.png"/><Relationship Id="rId22" Type="http://schemas.openxmlformats.org/officeDocument/2006/relationships/image" Target="../media/image-2-22.svg"/><Relationship Id="rId23" Type="http://schemas.openxmlformats.org/officeDocument/2006/relationships/slideLayout" Target="../slideLayouts/slideLayout1.xml"/><Relationship Id="rId2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/>
        </p:spPr>
      </p:sp>
      <p:sp>
        <p:nvSpPr>
          <p:cNvPr id="4" name="Shape 4"/>
          <p:cNvSpPr/>
          <p:nvPr/>
        </p:nvSpPr>
        <p:spPr>
          <a:xfrm>
            <a:off x="457200" y="342900"/>
            <a:ext cx="8229600" cy="210217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42900"/>
            <a:ext cx="8229600" cy="210217"/>
          </a:xfrm>
          <a:prstGeom prst="rect">
            <a:avLst/>
          </a:prstGeom>
        </p:spPr>
      </p:pic>
      <p:sp>
        <p:nvSpPr>
          <p:cNvPr id="6" name="Shape 8"/>
          <p:cNvSpPr/>
          <p:nvPr/>
        </p:nvSpPr>
        <p:spPr>
          <a:xfrm>
            <a:off x="457200" y="375047"/>
            <a:ext cx="28575" cy="28575"/>
          </a:xfrm>
          <a:prstGeom prst="roundRect">
            <a:avLst>
              <a:gd name="adj" fmla="val 37500"/>
            </a:avLst>
          </a:prstGeom>
          <a:solidFill>
            <a:srgbClr val="100600"/>
          </a:solidFill>
          <a:ln/>
        </p:spPr>
      </p:sp>
      <p:sp>
        <p:nvSpPr>
          <p:cNvPr id="7" name="TextBox 10"/>
          <p:cNvSpPr/>
          <p:nvPr/>
        </p:nvSpPr>
        <p:spPr>
          <a:xfrm>
            <a:off x="542925" y="342900"/>
            <a:ext cx="1676543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488" spc="39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ZEN PRECISION SAAS · ARCHITECTURE BLUEPRINT</a:t>
            </a:r>
            <a:endParaRPr lang="en-US" sz="488" dirty="0"/>
          </a:p>
        </p:txBody>
      </p:sp>
      <p:sp>
        <p:nvSpPr>
          <p:cNvPr id="8" name="TextBox 13"/>
          <p:cNvSpPr/>
          <p:nvPr/>
        </p:nvSpPr>
        <p:spPr>
          <a:xfrm>
            <a:off x="8082772" y="342900"/>
            <a:ext cx="604028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488" spc="29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STACK // SPEC 01</a:t>
            </a:r>
            <a:endParaRPr lang="en-US" sz="488" dirty="0"/>
          </a:p>
        </p:txBody>
      </p:sp>
      <p:sp>
        <p:nvSpPr>
          <p:cNvPr id="9" name="TextBox 20"/>
          <p:cNvSpPr/>
          <p:nvPr/>
        </p:nvSpPr>
        <p:spPr>
          <a:xfrm>
            <a:off x="457200" y="781717"/>
            <a:ext cx="822960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488" spc="39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HYPER-DENSE MINIMAL ORCHESTRATION</a:t>
            </a:r>
            <a:endParaRPr lang="en-US" sz="488" dirty="0"/>
          </a:p>
        </p:txBody>
      </p:sp>
      <p:sp>
        <p:nvSpPr>
          <p:cNvPr id="10" name="TextBox 22"/>
          <p:cNvSpPr/>
          <p:nvPr/>
        </p:nvSpPr>
        <p:spPr>
          <a:xfrm>
            <a:off x="457200" y="950785"/>
            <a:ext cx="3374898" cy="5867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310"/>
              </a:lnSpc>
              <a:buNone/>
            </a:pPr>
            <a:r>
              <a:rPr lang="en-US" sz="2100" b="1" spc="-52" kern="0" dirty="0">
                <a:solidFill>
                  <a:srgbClr val="0708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&amp; HTMX Software Stack</a:t>
            </a:r>
            <a:endParaRPr lang="en-US" sz="2100" dirty="0"/>
          </a:p>
        </p:txBody>
      </p:sp>
      <p:sp>
        <p:nvSpPr>
          <p:cNvPr id="11" name="TextBox 24"/>
          <p:cNvSpPr/>
          <p:nvPr/>
        </p:nvSpPr>
        <p:spPr>
          <a:xfrm>
            <a:off x="457200" y="1632775"/>
            <a:ext cx="297803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5B5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Synthesizing Pythonic asynchronous execution with hypermedia-driven DOM morphing. Elimination of SPA build churn in favor of serene, declarative operational density.</a:t>
            </a:r>
            <a:endParaRPr lang="en-US" sz="750" dirty="0"/>
          </a:p>
        </p:txBody>
      </p:sp>
      <p:sp>
        <p:nvSpPr>
          <p:cNvPr id="12" name="Shape 29"/>
          <p:cNvSpPr/>
          <p:nvPr/>
        </p:nvSpPr>
        <p:spPr>
          <a:xfrm>
            <a:off x="457200" y="2546461"/>
            <a:ext cx="2654284" cy="1280922"/>
          </a:xfrm>
          <a:prstGeom prst="roundRect">
            <a:avLst>
              <a:gd name="adj" fmla="val 837"/>
            </a:avLst>
          </a:prstGeom>
          <a:solidFill>
            <a:srgbClr val="FAF9F5"/>
          </a:solidFill>
          <a:ln w="3048">
            <a:solidFill>
              <a:srgbClr val="76777B"/>
            </a:solidFill>
            <a:prstDash val="solid"/>
          </a:ln>
        </p:spPr>
      </p:sp>
      <p:sp>
        <p:nvSpPr>
          <p:cNvPr id="13" name="TextBox 33"/>
          <p:cNvSpPr/>
          <p:nvPr/>
        </p:nvSpPr>
        <p:spPr>
          <a:xfrm>
            <a:off x="612648" y="2701909"/>
            <a:ext cx="23433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RUNTIME</a:t>
            </a:r>
            <a:endParaRPr lang="en-US" sz="450" dirty="0"/>
          </a:p>
        </p:txBody>
      </p:sp>
      <p:sp>
        <p:nvSpPr>
          <p:cNvPr id="14" name="TextBox 35"/>
          <p:cNvSpPr/>
          <p:nvPr/>
        </p:nvSpPr>
        <p:spPr>
          <a:xfrm>
            <a:off x="612648" y="2844784"/>
            <a:ext cx="23433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0708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Backend</a:t>
            </a:r>
            <a:endParaRPr lang="en-US" sz="900" dirty="0"/>
          </a:p>
        </p:txBody>
      </p:sp>
      <p:sp>
        <p:nvSpPr>
          <p:cNvPr id="15" name="TextBox 37"/>
          <p:cNvSpPr/>
          <p:nvPr/>
        </p:nvSpPr>
        <p:spPr>
          <a:xfrm>
            <a:off x="612648" y="3073384"/>
            <a:ext cx="2343388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5B5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Asynchronous ASGI server pipeline powered by Starlette &amp; Pydantic. Delivers validated type boundaries and near-instant JSON/HTML responses under 15ms.</a:t>
            </a:r>
            <a:endParaRPr lang="en-US" sz="600" dirty="0"/>
          </a:p>
        </p:txBody>
      </p:sp>
      <p:sp>
        <p:nvSpPr>
          <p:cNvPr id="16" name="TextBox 42"/>
          <p:cNvSpPr/>
          <p:nvPr/>
        </p:nvSpPr>
        <p:spPr>
          <a:xfrm>
            <a:off x="612648" y="3542014"/>
            <a:ext cx="492157" cy="129921"/>
          </a:xfrm>
          <a:prstGeom prst="roundRect">
            <a:avLst>
              <a:gd name="adj" fmla="val 8248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47625" tIns="19050" rIns="47625" bIns="1905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Python 3.12+</a:t>
            </a:r>
            <a:endParaRPr lang="en-US" sz="450" dirty="0"/>
          </a:p>
        </p:txBody>
      </p:sp>
      <p:sp>
        <p:nvSpPr>
          <p:cNvPr id="17" name="TextBox 44"/>
          <p:cNvSpPr/>
          <p:nvPr/>
        </p:nvSpPr>
        <p:spPr>
          <a:xfrm>
            <a:off x="1142905" y="3542014"/>
            <a:ext cx="492157" cy="129921"/>
          </a:xfrm>
          <a:prstGeom prst="roundRect">
            <a:avLst>
              <a:gd name="adj" fmla="val 8248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47625" tIns="19050" rIns="47625" bIns="1905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Uvicorn ASGI</a:t>
            </a:r>
            <a:endParaRPr lang="en-US" sz="450" dirty="0"/>
          </a:p>
        </p:txBody>
      </p:sp>
      <p:sp>
        <p:nvSpPr>
          <p:cNvPr id="18" name="TextBox 46"/>
          <p:cNvSpPr/>
          <p:nvPr/>
        </p:nvSpPr>
        <p:spPr>
          <a:xfrm>
            <a:off x="1673162" y="3542014"/>
            <a:ext cx="427006" cy="129921"/>
          </a:xfrm>
          <a:prstGeom prst="roundRect">
            <a:avLst>
              <a:gd name="adj" fmla="val 8248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47625" tIns="19050" rIns="47625" bIns="1905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Jinja2 SSR</a:t>
            </a:r>
            <a:endParaRPr lang="en-US" sz="450" dirty="0"/>
          </a:p>
        </p:txBody>
      </p:sp>
      <p:sp>
        <p:nvSpPr>
          <p:cNvPr id="19" name="Shape 50"/>
          <p:cNvSpPr/>
          <p:nvPr/>
        </p:nvSpPr>
        <p:spPr>
          <a:xfrm>
            <a:off x="3244834" y="2546461"/>
            <a:ext cx="2654284" cy="1280922"/>
          </a:xfrm>
          <a:prstGeom prst="roundRect">
            <a:avLst>
              <a:gd name="adj" fmla="val 837"/>
            </a:avLst>
          </a:prstGeom>
          <a:solidFill>
            <a:srgbClr val="FAF9F5"/>
          </a:solidFill>
          <a:ln w="3048">
            <a:solidFill>
              <a:srgbClr val="76777B"/>
            </a:solidFill>
            <a:prstDash val="solid"/>
          </a:ln>
        </p:spPr>
      </p:sp>
      <p:sp>
        <p:nvSpPr>
          <p:cNvPr id="20" name="TextBox 54"/>
          <p:cNvSpPr/>
          <p:nvPr/>
        </p:nvSpPr>
        <p:spPr>
          <a:xfrm>
            <a:off x="3400282" y="2701909"/>
            <a:ext cx="23433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CLIENT TRANSPORT</a:t>
            </a:r>
            <a:endParaRPr lang="en-US" sz="450" dirty="0"/>
          </a:p>
        </p:txBody>
      </p:sp>
      <p:sp>
        <p:nvSpPr>
          <p:cNvPr id="21" name="TextBox 56"/>
          <p:cNvSpPr/>
          <p:nvPr/>
        </p:nvSpPr>
        <p:spPr>
          <a:xfrm>
            <a:off x="3400282" y="2844784"/>
            <a:ext cx="23433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0708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HTMX 2.0 Engine</a:t>
            </a:r>
            <a:endParaRPr lang="en-US" sz="900" dirty="0"/>
          </a:p>
        </p:txBody>
      </p:sp>
      <p:sp>
        <p:nvSpPr>
          <p:cNvPr id="22" name="TextBox 58"/>
          <p:cNvSpPr/>
          <p:nvPr/>
        </p:nvSpPr>
        <p:spPr>
          <a:xfrm>
            <a:off x="3400282" y="3073384"/>
            <a:ext cx="2343388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5B5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Declarative HTML extensions replacing client state stores. Direct DOM element replacement using standard HTTP verbs without micro-bundle bloat.</a:t>
            </a:r>
            <a:endParaRPr lang="en-US" sz="600" dirty="0"/>
          </a:p>
        </p:txBody>
      </p:sp>
      <p:sp>
        <p:nvSpPr>
          <p:cNvPr id="23" name="TextBox 63"/>
          <p:cNvSpPr/>
          <p:nvPr/>
        </p:nvSpPr>
        <p:spPr>
          <a:xfrm>
            <a:off x="3400282" y="3542014"/>
            <a:ext cx="329327" cy="129921"/>
          </a:xfrm>
          <a:prstGeom prst="roundRect">
            <a:avLst>
              <a:gd name="adj" fmla="val 8248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47625" tIns="19050" rIns="47625" bIns="1905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hx-post</a:t>
            </a:r>
            <a:endParaRPr lang="en-US" sz="450" dirty="0"/>
          </a:p>
        </p:txBody>
      </p:sp>
      <p:sp>
        <p:nvSpPr>
          <p:cNvPr id="24" name="TextBox 65"/>
          <p:cNvSpPr/>
          <p:nvPr/>
        </p:nvSpPr>
        <p:spPr>
          <a:xfrm>
            <a:off x="3767709" y="3542014"/>
            <a:ext cx="394430" cy="129921"/>
          </a:xfrm>
          <a:prstGeom prst="roundRect">
            <a:avLst>
              <a:gd name="adj" fmla="val 8248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47625" tIns="19050" rIns="47625" bIns="1905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hx-target</a:t>
            </a:r>
            <a:endParaRPr lang="en-US" sz="450" dirty="0"/>
          </a:p>
        </p:txBody>
      </p:sp>
      <p:sp>
        <p:nvSpPr>
          <p:cNvPr id="25" name="TextBox 67"/>
          <p:cNvSpPr/>
          <p:nvPr/>
        </p:nvSpPr>
        <p:spPr>
          <a:xfrm>
            <a:off x="4200239" y="3542014"/>
            <a:ext cx="394430" cy="129921"/>
          </a:xfrm>
          <a:prstGeom prst="roundRect">
            <a:avLst>
              <a:gd name="adj" fmla="val 8248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47625" tIns="19050" rIns="47625" bIns="1905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outerHTML</a:t>
            </a:r>
            <a:endParaRPr lang="en-US" sz="450" dirty="0"/>
          </a:p>
        </p:txBody>
      </p:sp>
      <p:sp>
        <p:nvSpPr>
          <p:cNvPr id="26" name="Shape 71"/>
          <p:cNvSpPr/>
          <p:nvPr/>
        </p:nvSpPr>
        <p:spPr>
          <a:xfrm>
            <a:off x="6032468" y="2546461"/>
            <a:ext cx="2654284" cy="1280922"/>
          </a:xfrm>
          <a:prstGeom prst="roundRect">
            <a:avLst>
              <a:gd name="adj" fmla="val 837"/>
            </a:avLst>
          </a:prstGeom>
          <a:solidFill>
            <a:srgbClr val="FAF9F5"/>
          </a:solidFill>
          <a:ln w="3048">
            <a:solidFill>
              <a:srgbClr val="76777B"/>
            </a:solidFill>
            <a:prstDash val="solid"/>
          </a:ln>
        </p:spPr>
      </p:sp>
      <p:sp>
        <p:nvSpPr>
          <p:cNvPr id="27" name="TextBox 75"/>
          <p:cNvSpPr/>
          <p:nvPr/>
        </p:nvSpPr>
        <p:spPr>
          <a:xfrm>
            <a:off x="6187916" y="2701909"/>
            <a:ext cx="234338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INTERFACE PARADIGM</a:t>
            </a:r>
            <a:endParaRPr lang="en-US" sz="450" dirty="0"/>
          </a:p>
        </p:txBody>
      </p:sp>
      <p:sp>
        <p:nvSpPr>
          <p:cNvPr id="28" name="TextBox 77"/>
          <p:cNvSpPr/>
          <p:nvPr/>
        </p:nvSpPr>
        <p:spPr>
          <a:xfrm>
            <a:off x="6187916" y="2844784"/>
            <a:ext cx="2343388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900" b="1" spc="-9" kern="0" dirty="0">
                <a:solidFill>
                  <a:srgbClr val="0708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Zen Precision UI</a:t>
            </a:r>
            <a:endParaRPr lang="en-US" sz="900" dirty="0"/>
          </a:p>
        </p:txBody>
      </p:sp>
      <p:sp>
        <p:nvSpPr>
          <p:cNvPr id="29" name="TextBox 79"/>
          <p:cNvSpPr/>
          <p:nvPr/>
        </p:nvSpPr>
        <p:spPr>
          <a:xfrm>
            <a:off x="6187916" y="3073384"/>
            <a:ext cx="2343388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5B5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Wabi-sabi reduction merged with Linear/Raycast keyboard speed. High contrast sumi ink on natural unbleached sand surfaces, devoid of ambient visual noise.</a:t>
            </a:r>
            <a:endParaRPr lang="en-US" sz="600" dirty="0"/>
          </a:p>
        </p:txBody>
      </p:sp>
      <p:sp>
        <p:nvSpPr>
          <p:cNvPr id="30" name="TextBox 84"/>
          <p:cNvSpPr/>
          <p:nvPr/>
        </p:nvSpPr>
        <p:spPr>
          <a:xfrm>
            <a:off x="6187916" y="3542014"/>
            <a:ext cx="492157" cy="129921"/>
          </a:xfrm>
          <a:prstGeom prst="roundRect">
            <a:avLst>
              <a:gd name="adj" fmla="val 8248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47625" tIns="19050" rIns="47625" bIns="1905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#f3f2ec Sand</a:t>
            </a:r>
            <a:endParaRPr lang="en-US" sz="450" dirty="0"/>
          </a:p>
        </p:txBody>
      </p:sp>
      <p:sp>
        <p:nvSpPr>
          <p:cNvPr id="31" name="TextBox 86"/>
          <p:cNvSpPr/>
          <p:nvPr/>
        </p:nvSpPr>
        <p:spPr>
          <a:xfrm>
            <a:off x="6718173" y="3542014"/>
            <a:ext cx="492157" cy="129921"/>
          </a:xfrm>
          <a:prstGeom prst="roundRect">
            <a:avLst>
              <a:gd name="adj" fmla="val 8248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47625" tIns="19050" rIns="47625" bIns="1905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Hairline 1px</a:t>
            </a:r>
            <a:endParaRPr lang="en-US" sz="450" dirty="0"/>
          </a:p>
        </p:txBody>
      </p:sp>
      <p:sp>
        <p:nvSpPr>
          <p:cNvPr id="32" name="TextBox 88"/>
          <p:cNvSpPr/>
          <p:nvPr/>
        </p:nvSpPr>
        <p:spPr>
          <a:xfrm>
            <a:off x="7248430" y="3542014"/>
            <a:ext cx="589836" cy="129921"/>
          </a:xfrm>
          <a:prstGeom prst="roundRect">
            <a:avLst>
              <a:gd name="adj" fmla="val 8248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47625" tIns="19050" rIns="47625" bIns="1905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0.125rem Radius</a:t>
            </a:r>
            <a:endParaRPr lang="en-US" sz="450" dirty="0"/>
          </a:p>
        </p:txBody>
      </p:sp>
      <p:sp>
        <p:nvSpPr>
          <p:cNvPr id="33" name="Shape 93"/>
          <p:cNvSpPr/>
          <p:nvPr/>
        </p:nvSpPr>
        <p:spPr>
          <a:xfrm>
            <a:off x="457200" y="4121944"/>
            <a:ext cx="8229600" cy="184023"/>
          </a:xfrm>
          <a:prstGeom prst="rect">
            <a:avLst/>
          </a:prstGeom>
          <a:noFill/>
          <a:ln/>
        </p:spPr>
      </p:sp>
      <p:pic>
        <p:nvPicPr>
          <p:cNvPr id="34" name="Picture 93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121944"/>
            <a:ext cx="8229600" cy="184023"/>
          </a:xfrm>
          <a:prstGeom prst="rect">
            <a:avLst/>
          </a:prstGeom>
        </p:spPr>
      </p:pic>
      <p:sp>
        <p:nvSpPr>
          <p:cNvPr id="35" name="TextBox 95"/>
          <p:cNvSpPr/>
          <p:nvPr/>
        </p:nvSpPr>
        <p:spPr>
          <a:xfrm>
            <a:off x="457200" y="4220242"/>
            <a:ext cx="1394031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ZEN-STACK-01 // CORE SYSTEM ARCHITECTURE</a:t>
            </a:r>
            <a:endParaRPr lang="en-US" sz="450" dirty="0"/>
          </a:p>
        </p:txBody>
      </p:sp>
      <p:sp>
        <p:nvSpPr>
          <p:cNvPr id="36" name="TextBox 97"/>
          <p:cNvSpPr/>
          <p:nvPr/>
        </p:nvSpPr>
        <p:spPr>
          <a:xfrm>
            <a:off x="8442817" y="4220242"/>
            <a:ext cx="2439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 / 03</a:t>
            </a:r>
            <a:endParaRPr lang="en-US" sz="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3F2EC"/>
          </a:solidFill>
          <a:ln/>
        </p:spPr>
      </p:sp>
      <p:sp>
        <p:nvSpPr>
          <p:cNvPr id="4" name="Shape 4"/>
          <p:cNvSpPr/>
          <p:nvPr/>
        </p:nvSpPr>
        <p:spPr>
          <a:xfrm>
            <a:off x="457200" y="342900"/>
            <a:ext cx="8229600" cy="210217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42900"/>
            <a:ext cx="8229600" cy="210217"/>
          </a:xfrm>
          <a:prstGeom prst="rect">
            <a:avLst/>
          </a:prstGeom>
        </p:spPr>
      </p:pic>
      <p:sp>
        <p:nvSpPr>
          <p:cNvPr id="6" name="Shape 8"/>
          <p:cNvSpPr/>
          <p:nvPr/>
        </p:nvSpPr>
        <p:spPr>
          <a:xfrm>
            <a:off x="457200" y="375047"/>
            <a:ext cx="28575" cy="28575"/>
          </a:xfrm>
          <a:prstGeom prst="roundRect">
            <a:avLst>
              <a:gd name="adj" fmla="val 37500"/>
            </a:avLst>
          </a:prstGeom>
          <a:solidFill>
            <a:srgbClr val="100600"/>
          </a:solidFill>
          <a:ln/>
        </p:spPr>
      </p:sp>
      <p:sp>
        <p:nvSpPr>
          <p:cNvPr id="7" name="TextBox 10"/>
          <p:cNvSpPr/>
          <p:nvPr/>
        </p:nvSpPr>
        <p:spPr>
          <a:xfrm>
            <a:off x="542925" y="342900"/>
            <a:ext cx="1364647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488" spc="39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ZEN PRECISION SAAS · WORKSPACE VIEW</a:t>
            </a:r>
            <a:endParaRPr lang="en-US" sz="488" dirty="0"/>
          </a:p>
        </p:txBody>
      </p:sp>
      <p:sp>
        <p:nvSpPr>
          <p:cNvPr id="8" name="TextBox 13"/>
          <p:cNvSpPr/>
          <p:nvPr/>
        </p:nvSpPr>
        <p:spPr>
          <a:xfrm>
            <a:off x="7894034" y="342900"/>
            <a:ext cx="79276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488" spc="29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TOPOLOGY // KANBAN 02</a:t>
            </a:r>
            <a:endParaRPr lang="en-US" sz="488" dirty="0"/>
          </a:p>
        </p:txBody>
      </p:sp>
      <p:sp>
        <p:nvSpPr>
          <p:cNvPr id="9" name="TextBox 20"/>
          <p:cNvSpPr/>
          <p:nvPr/>
        </p:nvSpPr>
        <p:spPr>
          <a:xfrm>
            <a:off x="457200" y="781717"/>
            <a:ext cx="822960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488" spc="39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3-COLUMN STRUCTURAL MAPPING</a:t>
            </a:r>
            <a:endParaRPr lang="en-US" sz="488" dirty="0"/>
          </a:p>
        </p:txBody>
      </p:sp>
      <p:sp>
        <p:nvSpPr>
          <p:cNvPr id="10" name="TextBox 22"/>
          <p:cNvSpPr/>
          <p:nvPr/>
        </p:nvSpPr>
        <p:spPr>
          <a:xfrm>
            <a:off x="457200" y="950785"/>
            <a:ext cx="8229600" cy="208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25" b="1" spc="-21" kern="0" dirty="0">
                <a:solidFill>
                  <a:srgbClr val="0708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 Task Board Composition</a:t>
            </a:r>
            <a:endParaRPr lang="en-US" sz="1425" dirty="0"/>
          </a:p>
        </p:txBody>
      </p:sp>
      <p:sp>
        <p:nvSpPr>
          <p:cNvPr id="11" name="TextBox 24"/>
          <p:cNvSpPr/>
          <p:nvPr/>
        </p:nvSpPr>
        <p:spPr>
          <a:xfrm>
            <a:off x="457200" y="1235107"/>
            <a:ext cx="29780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5B5E6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white surface cards (#faf9f5) arranged over dashed guide columns. Contact edges utilize hairline rules with zero ambient blur.</a:t>
            </a:r>
            <a:endParaRPr lang="en-US" sz="750" dirty="0"/>
          </a:p>
        </p:txBody>
      </p:sp>
      <p:sp>
        <p:nvSpPr>
          <p:cNvPr id="12" name="Shape 31"/>
          <p:cNvSpPr/>
          <p:nvPr/>
        </p:nvSpPr>
        <p:spPr>
          <a:xfrm>
            <a:off x="457200" y="1635157"/>
            <a:ext cx="2667000" cy="2486787"/>
          </a:xfrm>
          <a:prstGeom prst="roundRect">
            <a:avLst>
              <a:gd name="adj" fmla="val 431"/>
            </a:avLst>
          </a:prstGeom>
          <a:solidFill>
            <a:srgbClr val="FAF9F5">
              <a:alpha val="65000"/>
            </a:srgbClr>
          </a:solidFill>
          <a:ln w="3048">
            <a:solidFill>
              <a:srgbClr val="76777B"/>
            </a:solidFill>
            <a:prstDash val="dash"/>
          </a:ln>
        </p:spPr>
      </p:sp>
      <p:sp>
        <p:nvSpPr>
          <p:cNvPr id="13" name="Shape 33"/>
          <p:cNvSpPr/>
          <p:nvPr/>
        </p:nvSpPr>
        <p:spPr>
          <a:xfrm>
            <a:off x="555498" y="1733455"/>
            <a:ext cx="2470404" cy="164973"/>
          </a:xfrm>
          <a:prstGeom prst="rect">
            <a:avLst/>
          </a:prstGeom>
          <a:noFill/>
          <a:ln/>
        </p:spPr>
      </p:sp>
      <p:pic>
        <p:nvPicPr>
          <p:cNvPr id="14" name="Picture 33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5498" y="1733455"/>
            <a:ext cx="2470404" cy="164973"/>
          </a:xfrm>
          <a:prstGeom prst="rect">
            <a:avLst/>
          </a:prstGeom>
        </p:spPr>
      </p:pic>
      <p:sp>
        <p:nvSpPr>
          <p:cNvPr id="15" name="Shape 37"/>
          <p:cNvSpPr/>
          <p:nvPr/>
        </p:nvSpPr>
        <p:spPr>
          <a:xfrm>
            <a:off x="555498" y="1766792"/>
            <a:ext cx="38100" cy="38100"/>
          </a:xfrm>
          <a:prstGeom prst="roundRect">
            <a:avLst>
              <a:gd name="adj" fmla="val 12500"/>
            </a:avLst>
          </a:prstGeom>
          <a:noFill/>
          <a:ln w="3048">
            <a:solidFill>
              <a:srgbClr val="76777B"/>
            </a:solidFill>
            <a:prstDash val="solid"/>
          </a:ln>
        </p:spPr>
      </p:sp>
      <p:sp>
        <p:nvSpPr>
          <p:cNvPr id="16" name="TextBox 39"/>
          <p:cNvSpPr/>
          <p:nvPr/>
        </p:nvSpPr>
        <p:spPr>
          <a:xfrm>
            <a:off x="631698" y="1735836"/>
            <a:ext cx="196596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25" b="1" spc="21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TO DO</a:t>
            </a:r>
            <a:endParaRPr lang="en-US" sz="525" dirty="0"/>
          </a:p>
        </p:txBody>
      </p:sp>
      <p:sp>
        <p:nvSpPr>
          <p:cNvPr id="17" name="TextBox 42"/>
          <p:cNvSpPr/>
          <p:nvPr/>
        </p:nvSpPr>
        <p:spPr>
          <a:xfrm>
            <a:off x="2886837" y="1733455"/>
            <a:ext cx="139065" cy="104775"/>
          </a:xfrm>
          <a:prstGeom prst="roundRect">
            <a:avLst>
              <a:gd name="adj" fmla="val 10227"/>
            </a:avLst>
          </a:prstGeom>
          <a:solidFill>
            <a:srgbClr val="E0E2E9"/>
          </a:solidFill>
          <a:ln/>
        </p:spPr>
        <p:txBody>
          <a:bodyPr wrap="square" lIns="38100" tIns="9525" rIns="38100" bIns="9525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50" dirty="0"/>
          </a:p>
        </p:txBody>
      </p:sp>
      <p:sp>
        <p:nvSpPr>
          <p:cNvPr id="18" name="Shape 45"/>
          <p:cNvSpPr/>
          <p:nvPr/>
        </p:nvSpPr>
        <p:spPr>
          <a:xfrm>
            <a:off x="555498" y="1974628"/>
            <a:ext cx="2470404" cy="677799"/>
          </a:xfrm>
          <a:prstGeom prst="roundRect">
            <a:avLst>
              <a:gd name="adj" fmla="val 1581"/>
            </a:avLst>
          </a:prstGeom>
          <a:solidFill>
            <a:srgbClr val="FAF9F5"/>
          </a:solidFill>
          <a:ln w="3048">
            <a:solidFill>
              <a:srgbClr val="76777B"/>
            </a:solidFill>
            <a:prstDash val="solid"/>
          </a:ln>
          <a:effectLst>
            <a:outerShdw sx="100000" sy="100000" kx="0" ky="0" algn="bl" rotWithShape="0" blurRad="14288" dist="4763" dir="5400000">
              <a:srgbClr val="07080A">
                <a:alpha val="4000"/>
              </a:srgbClr>
            </a:outerShdw>
          </a:effectLst>
        </p:spPr>
      </p:sp>
      <p:sp>
        <p:nvSpPr>
          <p:cNvPr id="19" name="TextBox 47"/>
          <p:cNvSpPr/>
          <p:nvPr/>
        </p:nvSpPr>
        <p:spPr>
          <a:xfrm>
            <a:off x="653796" y="2072926"/>
            <a:ext cx="2273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ZN-101 · BACKEND</a:t>
            </a:r>
            <a:endParaRPr lang="en-US" sz="450" dirty="0"/>
          </a:p>
        </p:txBody>
      </p:sp>
      <p:sp>
        <p:nvSpPr>
          <p:cNvPr id="20" name="TextBox 49"/>
          <p:cNvSpPr/>
          <p:nvPr/>
        </p:nvSpPr>
        <p:spPr>
          <a:xfrm>
            <a:off x="653796" y="2215801"/>
            <a:ext cx="2273808" cy="106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708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Implement hx-trigger SSE endpoint for live sprint status updates</a:t>
            </a:r>
            <a:endParaRPr lang="en-US" sz="600" dirty="0"/>
          </a:p>
        </p:txBody>
      </p:sp>
      <p:sp>
        <p:nvSpPr>
          <p:cNvPr id="21" name="Shape 51"/>
          <p:cNvSpPr/>
          <p:nvPr/>
        </p:nvSpPr>
        <p:spPr>
          <a:xfrm>
            <a:off x="653796" y="2398681"/>
            <a:ext cx="2273808" cy="155448"/>
          </a:xfrm>
          <a:prstGeom prst="rect">
            <a:avLst/>
          </a:prstGeom>
          <a:noFill/>
          <a:ln/>
        </p:spPr>
      </p:sp>
      <p:pic>
        <p:nvPicPr>
          <p:cNvPr id="22" name="Picture 51" descr="__type_image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53796" y="2398681"/>
            <a:ext cx="2273808" cy="155448"/>
          </a:xfrm>
          <a:prstGeom prst="rect">
            <a:avLst/>
          </a:prstGeom>
        </p:spPr>
      </p:pic>
      <p:sp>
        <p:nvSpPr>
          <p:cNvPr id="23" name="TextBox 53"/>
          <p:cNvSpPr/>
          <p:nvPr/>
        </p:nvSpPr>
        <p:spPr>
          <a:xfrm>
            <a:off x="653796" y="2445115"/>
            <a:ext cx="272129" cy="103727"/>
          </a:xfrm>
          <a:prstGeom prst="roundRect">
            <a:avLst>
              <a:gd name="adj" fmla="val 10331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28575" tIns="9525" rIns="28575" bIns="9525" rtlCol="0" anchor="t">
            <a:spAutoFit/>
          </a:bodyPr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413" spc="8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P1 High</a:t>
            </a:r>
            <a:endParaRPr lang="en-US" sz="413" dirty="0"/>
          </a:p>
        </p:txBody>
      </p:sp>
      <p:sp>
        <p:nvSpPr>
          <p:cNvPr id="24" name="TextBox 55"/>
          <p:cNvSpPr/>
          <p:nvPr/>
        </p:nvSpPr>
        <p:spPr>
          <a:xfrm>
            <a:off x="2813304" y="2439829"/>
            <a:ext cx="114300" cy="114300"/>
          </a:xfrm>
          <a:prstGeom prst="roundRect">
            <a:avLst>
              <a:gd name="adj" fmla="val 9375"/>
            </a:avLst>
          </a:prstGeom>
          <a:solidFill>
            <a:srgbClr val="E0E2E9"/>
          </a:solidFill>
          <a:ln w="3048">
            <a:solidFill>
              <a:srgbClr val="76777B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375" b="1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AK</a:t>
            </a:r>
            <a:endParaRPr lang="en-US" sz="375" dirty="0"/>
          </a:p>
        </p:txBody>
      </p:sp>
      <p:sp>
        <p:nvSpPr>
          <p:cNvPr id="25" name="Shape 59"/>
          <p:cNvSpPr/>
          <p:nvPr/>
        </p:nvSpPr>
        <p:spPr>
          <a:xfrm>
            <a:off x="555498" y="2728627"/>
            <a:ext cx="2470404" cy="784479"/>
          </a:xfrm>
          <a:prstGeom prst="roundRect">
            <a:avLst>
              <a:gd name="adj" fmla="val 1366"/>
            </a:avLst>
          </a:prstGeom>
          <a:solidFill>
            <a:srgbClr val="FAF9F5"/>
          </a:solidFill>
          <a:ln w="3048">
            <a:solidFill>
              <a:srgbClr val="76777B"/>
            </a:solidFill>
            <a:prstDash val="solid"/>
          </a:ln>
          <a:effectLst>
            <a:outerShdw sx="100000" sy="100000" kx="0" ky="0" algn="bl" rotWithShape="0" blurRad="14288" dist="4763" dir="5400000">
              <a:srgbClr val="07080A">
                <a:alpha val="4000"/>
              </a:srgbClr>
            </a:outerShdw>
          </a:effectLst>
        </p:spPr>
      </p:sp>
      <p:sp>
        <p:nvSpPr>
          <p:cNvPr id="26" name="TextBox 61"/>
          <p:cNvSpPr/>
          <p:nvPr/>
        </p:nvSpPr>
        <p:spPr>
          <a:xfrm>
            <a:off x="653796" y="2826925"/>
            <a:ext cx="2273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ZN-102 · PERFORMANCE</a:t>
            </a:r>
            <a:endParaRPr lang="en-US" sz="450" dirty="0"/>
          </a:p>
        </p:txBody>
      </p:sp>
      <p:sp>
        <p:nvSpPr>
          <p:cNvPr id="27" name="TextBox 63"/>
          <p:cNvSpPr/>
          <p:nvPr/>
        </p:nvSpPr>
        <p:spPr>
          <a:xfrm>
            <a:off x="653796" y="2969800"/>
            <a:ext cx="227380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708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Benchmark response latency for partial card swaps under 50 concurrent devs</a:t>
            </a:r>
            <a:endParaRPr lang="en-US" sz="600" dirty="0"/>
          </a:p>
        </p:txBody>
      </p:sp>
      <p:sp>
        <p:nvSpPr>
          <p:cNvPr id="28" name="Shape 65"/>
          <p:cNvSpPr/>
          <p:nvPr/>
        </p:nvSpPr>
        <p:spPr>
          <a:xfrm>
            <a:off x="653796" y="3259360"/>
            <a:ext cx="2273808" cy="155448"/>
          </a:xfrm>
          <a:prstGeom prst="rect">
            <a:avLst/>
          </a:prstGeom>
          <a:noFill/>
          <a:ln/>
        </p:spPr>
      </p:sp>
      <p:pic>
        <p:nvPicPr>
          <p:cNvPr id="29" name="Picture 65" descr="__type_image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796" y="3259360"/>
            <a:ext cx="2273808" cy="155448"/>
          </a:xfrm>
          <a:prstGeom prst="rect">
            <a:avLst/>
          </a:prstGeom>
        </p:spPr>
      </p:pic>
      <p:sp>
        <p:nvSpPr>
          <p:cNvPr id="30" name="TextBox 67"/>
          <p:cNvSpPr/>
          <p:nvPr/>
        </p:nvSpPr>
        <p:spPr>
          <a:xfrm>
            <a:off x="653796" y="3305794"/>
            <a:ext cx="242316" cy="103727"/>
          </a:xfrm>
          <a:prstGeom prst="roundRect">
            <a:avLst>
              <a:gd name="adj" fmla="val 10331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28575" tIns="9525" rIns="28575" bIns="9525" rtlCol="0" anchor="t">
            <a:spAutoFit/>
          </a:bodyPr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413" spc="8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P2 Med</a:t>
            </a:r>
            <a:endParaRPr lang="en-US" sz="413" dirty="0"/>
          </a:p>
        </p:txBody>
      </p:sp>
      <p:sp>
        <p:nvSpPr>
          <p:cNvPr id="31" name="TextBox 69"/>
          <p:cNvSpPr/>
          <p:nvPr/>
        </p:nvSpPr>
        <p:spPr>
          <a:xfrm>
            <a:off x="2813304" y="3300508"/>
            <a:ext cx="114300" cy="114300"/>
          </a:xfrm>
          <a:prstGeom prst="roundRect">
            <a:avLst>
              <a:gd name="adj" fmla="val 9375"/>
            </a:avLst>
          </a:prstGeom>
          <a:solidFill>
            <a:srgbClr val="E0E2E9"/>
          </a:solidFill>
          <a:ln w="3048">
            <a:solidFill>
              <a:srgbClr val="76777B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375" b="1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TN</a:t>
            </a:r>
            <a:endParaRPr lang="en-US" sz="375" dirty="0"/>
          </a:p>
        </p:txBody>
      </p:sp>
      <p:sp>
        <p:nvSpPr>
          <p:cNvPr id="32" name="Shape 76"/>
          <p:cNvSpPr/>
          <p:nvPr/>
        </p:nvSpPr>
        <p:spPr>
          <a:xfrm>
            <a:off x="3238500" y="1635157"/>
            <a:ext cx="2667000" cy="2486787"/>
          </a:xfrm>
          <a:prstGeom prst="roundRect">
            <a:avLst>
              <a:gd name="adj" fmla="val 431"/>
            </a:avLst>
          </a:prstGeom>
          <a:solidFill>
            <a:srgbClr val="FAF9F5">
              <a:alpha val="65000"/>
            </a:srgbClr>
          </a:solidFill>
          <a:ln w="3048">
            <a:solidFill>
              <a:srgbClr val="76777B"/>
            </a:solidFill>
            <a:prstDash val="dash"/>
          </a:ln>
        </p:spPr>
      </p:sp>
      <p:sp>
        <p:nvSpPr>
          <p:cNvPr id="33" name="Shape 78"/>
          <p:cNvSpPr/>
          <p:nvPr/>
        </p:nvSpPr>
        <p:spPr>
          <a:xfrm>
            <a:off x="3336798" y="1733455"/>
            <a:ext cx="2470404" cy="164973"/>
          </a:xfrm>
          <a:prstGeom prst="rect">
            <a:avLst/>
          </a:prstGeom>
          <a:noFill/>
          <a:ln/>
        </p:spPr>
      </p:sp>
      <p:pic>
        <p:nvPicPr>
          <p:cNvPr id="34" name="Picture 78" descr="__type_image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336798" y="1733455"/>
            <a:ext cx="2470404" cy="164973"/>
          </a:xfrm>
          <a:prstGeom prst="rect">
            <a:avLst/>
          </a:prstGeom>
        </p:spPr>
      </p:pic>
      <p:sp>
        <p:nvSpPr>
          <p:cNvPr id="35" name="Shape 82"/>
          <p:cNvSpPr/>
          <p:nvPr/>
        </p:nvSpPr>
        <p:spPr>
          <a:xfrm>
            <a:off x="3336798" y="1766792"/>
            <a:ext cx="38100" cy="38100"/>
          </a:xfrm>
          <a:prstGeom prst="roundRect">
            <a:avLst>
              <a:gd name="adj" fmla="val 12500"/>
            </a:avLst>
          </a:prstGeom>
          <a:solidFill>
            <a:srgbClr val="100600"/>
          </a:solidFill>
          <a:ln/>
        </p:spPr>
      </p:sp>
      <p:sp>
        <p:nvSpPr>
          <p:cNvPr id="36" name="TextBox 84"/>
          <p:cNvSpPr/>
          <p:nvPr/>
        </p:nvSpPr>
        <p:spPr>
          <a:xfrm>
            <a:off x="3412998" y="1735836"/>
            <a:ext cx="432530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25" b="1" spc="21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 PROGRESS</a:t>
            </a:r>
            <a:endParaRPr lang="en-US" sz="525" dirty="0"/>
          </a:p>
        </p:txBody>
      </p:sp>
      <p:sp>
        <p:nvSpPr>
          <p:cNvPr id="37" name="TextBox 87"/>
          <p:cNvSpPr/>
          <p:nvPr/>
        </p:nvSpPr>
        <p:spPr>
          <a:xfrm>
            <a:off x="5668137" y="1733455"/>
            <a:ext cx="139065" cy="104775"/>
          </a:xfrm>
          <a:prstGeom prst="roundRect">
            <a:avLst>
              <a:gd name="adj" fmla="val 10227"/>
            </a:avLst>
          </a:prstGeom>
          <a:solidFill>
            <a:srgbClr val="E0E2E9"/>
          </a:solidFill>
          <a:ln/>
        </p:spPr>
        <p:txBody>
          <a:bodyPr wrap="square" lIns="38100" tIns="9525" rIns="38100" bIns="9525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450" dirty="0"/>
          </a:p>
        </p:txBody>
      </p:sp>
      <p:sp>
        <p:nvSpPr>
          <p:cNvPr id="38" name="Shape 90"/>
          <p:cNvSpPr/>
          <p:nvPr/>
        </p:nvSpPr>
        <p:spPr>
          <a:xfrm>
            <a:off x="3336798" y="1974628"/>
            <a:ext cx="2470404" cy="784479"/>
          </a:xfrm>
          <a:prstGeom prst="roundRect">
            <a:avLst>
              <a:gd name="adj" fmla="val 1366"/>
            </a:avLst>
          </a:prstGeom>
          <a:solidFill>
            <a:srgbClr val="FAF9F5"/>
          </a:solidFill>
          <a:ln w="3048">
            <a:solidFill>
              <a:srgbClr val="76777B"/>
            </a:solidFill>
            <a:prstDash val="solid"/>
          </a:ln>
          <a:effectLst>
            <a:outerShdw sx="100000" sy="100000" kx="0" ky="0" algn="bl" rotWithShape="0" blurRad="14288" dist="4763" dir="5400000">
              <a:srgbClr val="07080A">
                <a:alpha val="4000"/>
              </a:srgbClr>
            </a:outerShdw>
          </a:effectLst>
        </p:spPr>
      </p:sp>
      <p:sp>
        <p:nvSpPr>
          <p:cNvPr id="39" name="TextBox 92"/>
          <p:cNvSpPr/>
          <p:nvPr/>
        </p:nvSpPr>
        <p:spPr>
          <a:xfrm>
            <a:off x="3435096" y="2072926"/>
            <a:ext cx="2273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ZN-098 · HYPERMEDIA</a:t>
            </a:r>
            <a:endParaRPr lang="en-US" sz="450" dirty="0"/>
          </a:p>
        </p:txBody>
      </p:sp>
      <p:sp>
        <p:nvSpPr>
          <p:cNvPr id="40" name="TextBox 94"/>
          <p:cNvSpPr/>
          <p:nvPr/>
        </p:nvSpPr>
        <p:spPr>
          <a:xfrm>
            <a:off x="3435096" y="2215801"/>
            <a:ext cx="227380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708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Migrate drag-and-drop event listeners to native hx-vals payload dispatch</a:t>
            </a:r>
            <a:endParaRPr lang="en-US" sz="600" dirty="0"/>
          </a:p>
        </p:txBody>
      </p:sp>
      <p:sp>
        <p:nvSpPr>
          <p:cNvPr id="41" name="Shape 96"/>
          <p:cNvSpPr/>
          <p:nvPr/>
        </p:nvSpPr>
        <p:spPr>
          <a:xfrm>
            <a:off x="3435096" y="2505361"/>
            <a:ext cx="2273808" cy="155448"/>
          </a:xfrm>
          <a:prstGeom prst="rect">
            <a:avLst/>
          </a:prstGeom>
          <a:noFill/>
          <a:ln/>
        </p:spPr>
      </p:sp>
      <p:pic>
        <p:nvPicPr>
          <p:cNvPr id="42" name="Picture 96" descr="__type_image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435096" y="2505361"/>
            <a:ext cx="2273808" cy="155448"/>
          </a:xfrm>
          <a:prstGeom prst="rect">
            <a:avLst/>
          </a:prstGeom>
        </p:spPr>
      </p:pic>
      <p:sp>
        <p:nvSpPr>
          <p:cNvPr id="43" name="TextBox 98"/>
          <p:cNvSpPr/>
          <p:nvPr/>
        </p:nvSpPr>
        <p:spPr>
          <a:xfrm>
            <a:off x="3435096" y="2551795"/>
            <a:ext cx="242316" cy="103727"/>
          </a:xfrm>
          <a:prstGeom prst="roundRect">
            <a:avLst>
              <a:gd name="adj" fmla="val 10331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28575" tIns="9525" rIns="28575" bIns="9525" rtlCol="0" anchor="t">
            <a:spAutoFit/>
          </a:bodyPr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413" spc="8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Active</a:t>
            </a:r>
            <a:endParaRPr lang="en-US" sz="413" dirty="0"/>
          </a:p>
        </p:txBody>
      </p:sp>
      <p:sp>
        <p:nvSpPr>
          <p:cNvPr id="44" name="TextBox 100"/>
          <p:cNvSpPr/>
          <p:nvPr/>
        </p:nvSpPr>
        <p:spPr>
          <a:xfrm>
            <a:off x="5594604" y="2546509"/>
            <a:ext cx="114300" cy="114300"/>
          </a:xfrm>
          <a:prstGeom prst="roundRect">
            <a:avLst>
              <a:gd name="adj" fmla="val 9375"/>
            </a:avLst>
          </a:prstGeom>
          <a:solidFill>
            <a:srgbClr val="E0E2E9"/>
          </a:solidFill>
          <a:ln w="3048">
            <a:solidFill>
              <a:srgbClr val="76777B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375" b="1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DL</a:t>
            </a:r>
            <a:endParaRPr lang="en-US" sz="375" dirty="0"/>
          </a:p>
        </p:txBody>
      </p:sp>
      <p:sp>
        <p:nvSpPr>
          <p:cNvPr id="45" name="Shape 104"/>
          <p:cNvSpPr/>
          <p:nvPr/>
        </p:nvSpPr>
        <p:spPr>
          <a:xfrm>
            <a:off x="3336798" y="2835307"/>
            <a:ext cx="2470404" cy="784479"/>
          </a:xfrm>
          <a:prstGeom prst="roundRect">
            <a:avLst>
              <a:gd name="adj" fmla="val 1366"/>
            </a:avLst>
          </a:prstGeom>
          <a:solidFill>
            <a:srgbClr val="FAF9F5"/>
          </a:solidFill>
          <a:ln w="3048">
            <a:solidFill>
              <a:srgbClr val="76777B"/>
            </a:solidFill>
            <a:prstDash val="solid"/>
          </a:ln>
          <a:effectLst>
            <a:outerShdw sx="100000" sy="100000" kx="0" ky="0" algn="bl" rotWithShape="0" blurRad="14288" dist="4763" dir="5400000">
              <a:srgbClr val="07080A">
                <a:alpha val="4000"/>
              </a:srgbClr>
            </a:outerShdw>
          </a:effectLst>
        </p:spPr>
      </p:sp>
      <p:sp>
        <p:nvSpPr>
          <p:cNvPr id="46" name="TextBox 106"/>
          <p:cNvSpPr/>
          <p:nvPr/>
        </p:nvSpPr>
        <p:spPr>
          <a:xfrm>
            <a:off x="3435096" y="2933605"/>
            <a:ext cx="2273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ZN-099 · TOKENS</a:t>
            </a:r>
            <a:endParaRPr lang="en-US" sz="450" dirty="0"/>
          </a:p>
        </p:txBody>
      </p:sp>
      <p:sp>
        <p:nvSpPr>
          <p:cNvPr id="47" name="TextBox 108"/>
          <p:cNvSpPr/>
          <p:nvPr/>
        </p:nvSpPr>
        <p:spPr>
          <a:xfrm>
            <a:off x="3435096" y="3076480"/>
            <a:ext cx="227380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7080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 0.125rem radius constraint across all nested swimlane cards</a:t>
            </a:r>
            <a:endParaRPr lang="en-US" sz="600" dirty="0"/>
          </a:p>
        </p:txBody>
      </p:sp>
      <p:sp>
        <p:nvSpPr>
          <p:cNvPr id="48" name="Shape 110"/>
          <p:cNvSpPr/>
          <p:nvPr/>
        </p:nvSpPr>
        <p:spPr>
          <a:xfrm>
            <a:off x="3435096" y="3366040"/>
            <a:ext cx="2273808" cy="155448"/>
          </a:xfrm>
          <a:prstGeom prst="rect">
            <a:avLst/>
          </a:prstGeom>
          <a:noFill/>
          <a:ln/>
        </p:spPr>
      </p:sp>
      <p:pic>
        <p:nvPicPr>
          <p:cNvPr id="49" name="Picture 110" descr="__type_image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435096" y="3366040"/>
            <a:ext cx="2273808" cy="155448"/>
          </a:xfrm>
          <a:prstGeom prst="rect">
            <a:avLst/>
          </a:prstGeom>
        </p:spPr>
      </p:pic>
      <p:sp>
        <p:nvSpPr>
          <p:cNvPr id="50" name="TextBox 112"/>
          <p:cNvSpPr/>
          <p:nvPr/>
        </p:nvSpPr>
        <p:spPr>
          <a:xfrm>
            <a:off x="3435096" y="3412474"/>
            <a:ext cx="242316" cy="103727"/>
          </a:xfrm>
          <a:prstGeom prst="roundRect">
            <a:avLst>
              <a:gd name="adj" fmla="val 10331"/>
            </a:avLst>
          </a:prstGeom>
          <a:solidFill>
            <a:srgbClr val="E0E2E9"/>
          </a:solidFill>
          <a:ln w="3048">
            <a:prstDash val="solid"/>
          </a:ln>
        </p:spPr>
        <p:txBody>
          <a:bodyPr wrap="square" lIns="28575" tIns="9525" rIns="28575" bIns="9525" rtlCol="0" anchor="t">
            <a:spAutoFit/>
          </a:bodyPr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413" spc="8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Active</a:t>
            </a:r>
            <a:endParaRPr lang="en-US" sz="413" dirty="0"/>
          </a:p>
        </p:txBody>
      </p:sp>
      <p:sp>
        <p:nvSpPr>
          <p:cNvPr id="51" name="TextBox 114"/>
          <p:cNvSpPr/>
          <p:nvPr/>
        </p:nvSpPr>
        <p:spPr>
          <a:xfrm>
            <a:off x="5594604" y="3407188"/>
            <a:ext cx="114300" cy="114300"/>
          </a:xfrm>
          <a:prstGeom prst="roundRect">
            <a:avLst>
              <a:gd name="adj" fmla="val 9375"/>
            </a:avLst>
          </a:prstGeom>
          <a:solidFill>
            <a:srgbClr val="E0E2E9"/>
          </a:solidFill>
          <a:ln w="3048">
            <a:solidFill>
              <a:srgbClr val="76777B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375" b="1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SR</a:t>
            </a:r>
            <a:endParaRPr lang="en-US" sz="375" dirty="0"/>
          </a:p>
        </p:txBody>
      </p:sp>
      <p:sp>
        <p:nvSpPr>
          <p:cNvPr id="52" name="Shape 121"/>
          <p:cNvSpPr/>
          <p:nvPr/>
        </p:nvSpPr>
        <p:spPr>
          <a:xfrm>
            <a:off x="6019800" y="1635157"/>
            <a:ext cx="2667000" cy="2486787"/>
          </a:xfrm>
          <a:prstGeom prst="roundRect">
            <a:avLst>
              <a:gd name="adj" fmla="val 431"/>
            </a:avLst>
          </a:prstGeom>
          <a:solidFill>
            <a:srgbClr val="FAF9F5">
              <a:alpha val="65000"/>
            </a:srgbClr>
          </a:solidFill>
          <a:ln w="3048">
            <a:solidFill>
              <a:srgbClr val="76777B"/>
            </a:solidFill>
            <a:prstDash val="dash"/>
          </a:ln>
        </p:spPr>
      </p:sp>
      <p:sp>
        <p:nvSpPr>
          <p:cNvPr id="53" name="Shape 123"/>
          <p:cNvSpPr/>
          <p:nvPr/>
        </p:nvSpPr>
        <p:spPr>
          <a:xfrm>
            <a:off x="6118098" y="1733455"/>
            <a:ext cx="2470404" cy="164973"/>
          </a:xfrm>
          <a:prstGeom prst="rect">
            <a:avLst/>
          </a:prstGeom>
          <a:noFill/>
          <a:ln/>
        </p:spPr>
      </p:sp>
      <p:pic>
        <p:nvPicPr>
          <p:cNvPr id="54" name="Picture 123" descr="__type_image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118098" y="1733455"/>
            <a:ext cx="2470404" cy="164973"/>
          </a:xfrm>
          <a:prstGeom prst="rect">
            <a:avLst/>
          </a:prstGeom>
        </p:spPr>
      </p:pic>
      <p:sp>
        <p:nvSpPr>
          <p:cNvPr id="55" name="Shape 127"/>
          <p:cNvSpPr/>
          <p:nvPr/>
        </p:nvSpPr>
        <p:spPr>
          <a:xfrm>
            <a:off x="6118098" y="1766792"/>
            <a:ext cx="38100" cy="38100"/>
          </a:xfrm>
          <a:prstGeom prst="roundRect">
            <a:avLst>
              <a:gd name="adj" fmla="val 12500"/>
            </a:avLst>
          </a:prstGeom>
          <a:solidFill>
            <a:srgbClr val="76777B"/>
          </a:solidFill>
          <a:ln/>
        </p:spPr>
      </p:sp>
      <p:sp>
        <p:nvSpPr>
          <p:cNvPr id="56" name="TextBox 129"/>
          <p:cNvSpPr/>
          <p:nvPr/>
        </p:nvSpPr>
        <p:spPr>
          <a:xfrm>
            <a:off x="6194298" y="1735836"/>
            <a:ext cx="157305" cy="100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525" b="1" spc="21" kern="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DONE</a:t>
            </a:r>
            <a:endParaRPr lang="en-US" sz="525" dirty="0"/>
          </a:p>
        </p:txBody>
      </p:sp>
      <p:sp>
        <p:nvSpPr>
          <p:cNvPr id="57" name="TextBox 132"/>
          <p:cNvSpPr/>
          <p:nvPr/>
        </p:nvSpPr>
        <p:spPr>
          <a:xfrm>
            <a:off x="8449437" y="1733455"/>
            <a:ext cx="139065" cy="104775"/>
          </a:xfrm>
          <a:prstGeom prst="roundRect">
            <a:avLst>
              <a:gd name="adj" fmla="val 10227"/>
            </a:avLst>
          </a:prstGeom>
          <a:solidFill>
            <a:srgbClr val="E0E2E9"/>
          </a:solidFill>
          <a:ln/>
        </p:spPr>
        <p:txBody>
          <a:bodyPr wrap="square" lIns="38100" tIns="9525" rIns="38100" bIns="9525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dirty="0">
                <a:solidFill>
                  <a:srgbClr val="07080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450" dirty="0"/>
          </a:p>
        </p:txBody>
      </p:sp>
      <p:sp>
        <p:nvSpPr>
          <p:cNvPr id="58" name="Shape 135"/>
          <p:cNvSpPr/>
          <p:nvPr/>
        </p:nvSpPr>
        <p:spPr>
          <a:xfrm>
            <a:off x="6118098" y="1974628"/>
            <a:ext cx="2470404" cy="784479"/>
          </a:xfrm>
          <a:prstGeom prst="roundRect">
            <a:avLst>
              <a:gd name="adj" fmla="val 1366"/>
            </a:avLst>
          </a:prstGeom>
          <a:solidFill>
            <a:srgbClr val="FAF9F5">
              <a:alpha val="85000"/>
            </a:srgbClr>
          </a:solidFill>
          <a:ln w="3048">
            <a:solidFill>
              <a:srgbClr val="76777B"/>
            </a:solidFill>
            <a:prstDash val="solid"/>
          </a:ln>
          <a:effectLst>
            <a:outerShdw sx="100000" sy="100000" kx="0" ky="0" algn="bl" rotWithShape="0" blurRad="14288" dist="4763" dir="5400000">
              <a:srgbClr val="07080A">
                <a:alpha val="4000"/>
              </a:srgbClr>
            </a:outerShdw>
          </a:effectLst>
        </p:spPr>
      </p:sp>
      <p:sp>
        <p:nvSpPr>
          <p:cNvPr id="59" name="TextBox 137"/>
          <p:cNvSpPr/>
          <p:nvPr/>
        </p:nvSpPr>
        <p:spPr>
          <a:xfrm>
            <a:off x="6216396" y="2072926"/>
            <a:ext cx="2273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5B5E64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ZN-092 · CORE</a:t>
            </a:r>
            <a:endParaRPr lang="en-US" sz="450" dirty="0"/>
          </a:p>
        </p:txBody>
      </p:sp>
      <p:sp>
        <p:nvSpPr>
          <p:cNvPr id="60" name="TextBox 139"/>
          <p:cNvSpPr/>
          <p:nvPr/>
        </p:nvSpPr>
        <p:spPr>
          <a:xfrm>
            <a:off x="6216396" y="2215801"/>
            <a:ext cx="227380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7080A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Configure FastAPI ASGI lifespan handlers for zero-downtime card sync</a:t>
            </a:r>
            <a:endParaRPr lang="en-US" sz="600" dirty="0"/>
          </a:p>
        </p:txBody>
      </p:sp>
      <p:sp>
        <p:nvSpPr>
          <p:cNvPr id="61" name="Shape 141"/>
          <p:cNvSpPr/>
          <p:nvPr/>
        </p:nvSpPr>
        <p:spPr>
          <a:xfrm>
            <a:off x="6216396" y="2505361"/>
            <a:ext cx="2273808" cy="155448"/>
          </a:xfrm>
          <a:prstGeom prst="rect">
            <a:avLst/>
          </a:prstGeom>
          <a:noFill/>
          <a:ln/>
        </p:spPr>
      </p:sp>
      <p:pic>
        <p:nvPicPr>
          <p:cNvPr id="62" name="Picture 141" descr="__type_image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216396" y="2505361"/>
            <a:ext cx="2273808" cy="155448"/>
          </a:xfrm>
          <a:prstGeom prst="rect">
            <a:avLst/>
          </a:prstGeom>
        </p:spPr>
      </p:pic>
      <p:sp>
        <p:nvSpPr>
          <p:cNvPr id="63" name="TextBox 143"/>
          <p:cNvSpPr/>
          <p:nvPr/>
        </p:nvSpPr>
        <p:spPr>
          <a:xfrm>
            <a:off x="6216396" y="2551795"/>
            <a:ext cx="301990" cy="103727"/>
          </a:xfrm>
          <a:prstGeom prst="roundRect">
            <a:avLst>
              <a:gd name="adj" fmla="val 10331"/>
            </a:avLst>
          </a:prstGeom>
          <a:solidFill>
            <a:srgbClr val="FAF9F5">
              <a:alpha val="85000"/>
            </a:srgbClr>
          </a:solidFill>
          <a:ln w="3048">
            <a:solidFill>
              <a:srgbClr val="76777B"/>
            </a:solidFill>
            <a:prstDash val="solid"/>
          </a:ln>
        </p:spPr>
        <p:txBody>
          <a:bodyPr wrap="square" lIns="28575" tIns="9525" rIns="28575" bIns="9525" rtlCol="0" anchor="t">
            <a:spAutoFit/>
          </a:bodyPr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413" spc="8" kern="0" dirty="0">
                <a:solidFill>
                  <a:srgbClr val="07080A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Complete</a:t>
            </a:r>
            <a:endParaRPr lang="en-US" sz="413" dirty="0"/>
          </a:p>
        </p:txBody>
      </p:sp>
      <p:sp>
        <p:nvSpPr>
          <p:cNvPr id="64" name="TextBox 145"/>
          <p:cNvSpPr/>
          <p:nvPr/>
        </p:nvSpPr>
        <p:spPr>
          <a:xfrm>
            <a:off x="8375904" y="2546509"/>
            <a:ext cx="114300" cy="114300"/>
          </a:xfrm>
          <a:prstGeom prst="roundRect">
            <a:avLst>
              <a:gd name="adj" fmla="val 9375"/>
            </a:avLst>
          </a:prstGeom>
          <a:solidFill>
            <a:srgbClr val="E0E2E9">
              <a:alpha val="85000"/>
            </a:srgbClr>
          </a:solidFill>
          <a:ln w="3048">
            <a:solidFill>
              <a:srgbClr val="76777B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375" b="1" dirty="0">
                <a:solidFill>
                  <a:srgbClr val="07080A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TN</a:t>
            </a:r>
            <a:endParaRPr lang="en-US" sz="375" dirty="0"/>
          </a:p>
        </p:txBody>
      </p:sp>
      <p:sp>
        <p:nvSpPr>
          <p:cNvPr id="65" name="Shape 149"/>
          <p:cNvSpPr/>
          <p:nvPr/>
        </p:nvSpPr>
        <p:spPr>
          <a:xfrm>
            <a:off x="6118098" y="2835307"/>
            <a:ext cx="2470404" cy="784479"/>
          </a:xfrm>
          <a:prstGeom prst="roundRect">
            <a:avLst>
              <a:gd name="adj" fmla="val 1366"/>
            </a:avLst>
          </a:prstGeom>
          <a:solidFill>
            <a:srgbClr val="FAF9F5">
              <a:alpha val="85000"/>
            </a:srgbClr>
          </a:solidFill>
          <a:ln w="3048">
            <a:solidFill>
              <a:srgbClr val="76777B"/>
            </a:solidFill>
            <a:prstDash val="solid"/>
          </a:ln>
          <a:effectLst>
            <a:outerShdw sx="100000" sy="100000" kx="0" ky="0" algn="bl" rotWithShape="0" blurRad="14288" dist="4763" dir="5400000">
              <a:srgbClr val="07080A">
                <a:alpha val="4000"/>
              </a:srgbClr>
            </a:outerShdw>
          </a:effectLst>
        </p:spPr>
      </p:sp>
      <p:sp>
        <p:nvSpPr>
          <p:cNvPr id="66" name="TextBox 151"/>
          <p:cNvSpPr/>
          <p:nvPr/>
        </p:nvSpPr>
        <p:spPr>
          <a:xfrm>
            <a:off x="6216396" y="2933605"/>
            <a:ext cx="227380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9" kern="0" dirty="0">
                <a:solidFill>
                  <a:srgbClr val="5B5E64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ZN-093 · ROUTING</a:t>
            </a:r>
            <a:endParaRPr lang="en-US" sz="450" dirty="0"/>
          </a:p>
        </p:txBody>
      </p:sp>
      <p:sp>
        <p:nvSpPr>
          <p:cNvPr id="67" name="TextBox 153"/>
          <p:cNvSpPr/>
          <p:nvPr/>
        </p:nvSpPr>
        <p:spPr>
          <a:xfrm>
            <a:off x="6216396" y="3076480"/>
            <a:ext cx="2273808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840"/>
              </a:lnSpc>
              <a:buNone/>
            </a:pPr>
            <a:r>
              <a:rPr lang="en-US" sz="600" dirty="0">
                <a:solidFill>
                  <a:srgbClr val="07080A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Replace SPA router with HTML partial response endpoints (/cards/{id})</a:t>
            </a:r>
            <a:endParaRPr lang="en-US" sz="600" dirty="0"/>
          </a:p>
        </p:txBody>
      </p:sp>
      <p:sp>
        <p:nvSpPr>
          <p:cNvPr id="68" name="Shape 155"/>
          <p:cNvSpPr/>
          <p:nvPr/>
        </p:nvSpPr>
        <p:spPr>
          <a:xfrm>
            <a:off x="6216396" y="3366040"/>
            <a:ext cx="2273808" cy="155448"/>
          </a:xfrm>
          <a:prstGeom prst="rect">
            <a:avLst/>
          </a:prstGeom>
          <a:noFill/>
          <a:ln/>
        </p:spPr>
      </p:sp>
      <p:pic>
        <p:nvPicPr>
          <p:cNvPr id="69" name="Picture 155" descr="__type_image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216396" y="3366040"/>
            <a:ext cx="2273808" cy="155448"/>
          </a:xfrm>
          <a:prstGeom prst="rect">
            <a:avLst/>
          </a:prstGeom>
        </p:spPr>
      </p:pic>
      <p:sp>
        <p:nvSpPr>
          <p:cNvPr id="70" name="TextBox 157"/>
          <p:cNvSpPr/>
          <p:nvPr/>
        </p:nvSpPr>
        <p:spPr>
          <a:xfrm>
            <a:off x="6216396" y="3412474"/>
            <a:ext cx="301990" cy="103727"/>
          </a:xfrm>
          <a:prstGeom prst="roundRect">
            <a:avLst>
              <a:gd name="adj" fmla="val 10331"/>
            </a:avLst>
          </a:prstGeom>
          <a:solidFill>
            <a:srgbClr val="FAF9F5">
              <a:alpha val="85000"/>
            </a:srgbClr>
          </a:solidFill>
          <a:ln w="3048">
            <a:solidFill>
              <a:srgbClr val="76777B"/>
            </a:solidFill>
            <a:prstDash val="solid"/>
          </a:ln>
        </p:spPr>
        <p:txBody>
          <a:bodyPr wrap="square" lIns="28575" tIns="9525" rIns="28575" bIns="9525" rtlCol="0" anchor="t">
            <a:spAutoFit/>
          </a:bodyPr>
          <a:lstStyle/>
          <a:p>
            <a:pPr algn="l" indent="0" marL="0">
              <a:lnSpc>
                <a:spcPts val="619"/>
              </a:lnSpc>
              <a:buNone/>
            </a:pPr>
            <a:r>
              <a:rPr lang="en-US" sz="413" spc="8" kern="0" dirty="0">
                <a:solidFill>
                  <a:srgbClr val="07080A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Complete</a:t>
            </a:r>
            <a:endParaRPr lang="en-US" sz="413" dirty="0"/>
          </a:p>
        </p:txBody>
      </p:sp>
      <p:sp>
        <p:nvSpPr>
          <p:cNvPr id="71" name="TextBox 159"/>
          <p:cNvSpPr/>
          <p:nvPr/>
        </p:nvSpPr>
        <p:spPr>
          <a:xfrm>
            <a:off x="8375904" y="3407188"/>
            <a:ext cx="114300" cy="114300"/>
          </a:xfrm>
          <a:prstGeom prst="roundRect">
            <a:avLst>
              <a:gd name="adj" fmla="val 9375"/>
            </a:avLst>
          </a:prstGeom>
          <a:solidFill>
            <a:srgbClr val="E0E2E9">
              <a:alpha val="85000"/>
            </a:srgbClr>
          </a:solidFill>
          <a:ln w="3048">
            <a:solidFill>
              <a:srgbClr val="76777B"/>
            </a:solidFill>
            <a:prstDash val="solid"/>
          </a:ln>
        </p:spPr>
        <p:txBody>
          <a:bodyPr wrap="square" lIns="0" tIns="0" rIns="0" bIns="0" rtlCol="0" anchor="ctr">
            <a:spAutoFit/>
          </a:bodyPr>
          <a:lstStyle/>
          <a:p>
            <a:pPr algn="l" indent="0" marL="0">
              <a:lnSpc>
                <a:spcPts val="563"/>
              </a:lnSpc>
              <a:buNone/>
            </a:pPr>
            <a:r>
              <a:rPr lang="en-US" sz="375" b="1" dirty="0">
                <a:solidFill>
                  <a:srgbClr val="07080A">
                    <a:alpha val="85000"/>
                  </a:srgbClr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AK</a:t>
            </a:r>
            <a:endParaRPr lang="en-US" sz="375" dirty="0"/>
          </a:p>
        </p:txBody>
      </p:sp>
      <p:sp>
        <p:nvSpPr>
          <p:cNvPr id="72" name="Shape 165"/>
          <p:cNvSpPr/>
          <p:nvPr/>
        </p:nvSpPr>
        <p:spPr>
          <a:xfrm>
            <a:off x="457200" y="4121944"/>
            <a:ext cx="8229600" cy="184023"/>
          </a:xfrm>
          <a:prstGeom prst="rect">
            <a:avLst/>
          </a:prstGeom>
          <a:noFill/>
          <a:ln/>
        </p:spPr>
      </p:sp>
      <p:pic>
        <p:nvPicPr>
          <p:cNvPr id="73" name="Picture 165" descr="__type_image">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457200" y="4121944"/>
            <a:ext cx="8229600" cy="184023"/>
          </a:xfrm>
          <a:prstGeom prst="rect">
            <a:avLst/>
          </a:prstGeom>
        </p:spPr>
      </p:pic>
      <p:sp>
        <p:nvSpPr>
          <p:cNvPr id="74" name="TextBox 167"/>
          <p:cNvSpPr/>
          <p:nvPr/>
        </p:nvSpPr>
        <p:spPr>
          <a:xfrm>
            <a:off x="457200" y="4220242"/>
            <a:ext cx="167282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ZEN-KANBAN-02 // WORKSPACE STRUCTURAL RECREATION</a:t>
            </a:r>
            <a:endParaRPr lang="en-US" sz="450" dirty="0"/>
          </a:p>
        </p:txBody>
      </p:sp>
      <p:sp>
        <p:nvSpPr>
          <p:cNvPr id="75" name="TextBox 169"/>
          <p:cNvSpPr/>
          <p:nvPr/>
        </p:nvSpPr>
        <p:spPr>
          <a:xfrm>
            <a:off x="8442817" y="4220242"/>
            <a:ext cx="2439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/ 03</a:t>
            </a:r>
            <a:endParaRPr lang="en-US" sz="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A"/>
          </a:solidFill>
          <a:ln/>
        </p:spPr>
      </p:sp>
      <p:sp>
        <p:nvSpPr>
          <p:cNvPr id="3" name="Shap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080A"/>
          </a:solidFill>
          <a:ln/>
        </p:spPr>
      </p:sp>
      <p:sp>
        <p:nvSpPr>
          <p:cNvPr id="4" name="Shape 4"/>
          <p:cNvSpPr/>
          <p:nvPr/>
        </p:nvSpPr>
        <p:spPr>
          <a:xfrm>
            <a:off x="457200" y="342900"/>
            <a:ext cx="8229600" cy="210217"/>
          </a:xfrm>
          <a:prstGeom prst="rect">
            <a:avLst/>
          </a:prstGeom>
          <a:noFill/>
          <a:ln/>
        </p:spPr>
      </p:sp>
      <p:pic>
        <p:nvPicPr>
          <p:cNvPr id="5" name="Picture 4" descr="__type_imag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342900"/>
            <a:ext cx="8229600" cy="210217"/>
          </a:xfrm>
          <a:prstGeom prst="rect">
            <a:avLst/>
          </a:prstGeom>
        </p:spPr>
      </p:pic>
      <p:sp>
        <p:nvSpPr>
          <p:cNvPr id="6" name="Shape 8"/>
          <p:cNvSpPr/>
          <p:nvPr/>
        </p:nvSpPr>
        <p:spPr>
          <a:xfrm>
            <a:off x="457200" y="375047"/>
            <a:ext cx="28575" cy="28575"/>
          </a:xfrm>
          <a:prstGeom prst="roundRect">
            <a:avLst>
              <a:gd name="adj" fmla="val 37500"/>
            </a:avLst>
          </a:prstGeom>
          <a:solidFill>
            <a:srgbClr val="FAF9F5"/>
          </a:solidFill>
          <a:ln/>
        </p:spPr>
      </p:sp>
      <p:sp>
        <p:nvSpPr>
          <p:cNvPr id="7" name="TextBox 10"/>
          <p:cNvSpPr/>
          <p:nvPr/>
        </p:nvSpPr>
        <p:spPr>
          <a:xfrm>
            <a:off x="542925" y="342900"/>
            <a:ext cx="1559576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488" spc="39" kern="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ZEN PRECISION SAAS · HYPERMEDIA PROTOCOL</a:t>
            </a:r>
            <a:endParaRPr lang="en-US" sz="488" dirty="0"/>
          </a:p>
        </p:txBody>
      </p:sp>
      <p:sp>
        <p:nvSpPr>
          <p:cNvPr id="8" name="TextBox 13"/>
          <p:cNvSpPr/>
          <p:nvPr/>
        </p:nvSpPr>
        <p:spPr>
          <a:xfrm>
            <a:off x="7931753" y="342900"/>
            <a:ext cx="755047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488" spc="29" kern="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MECHANICS // SWAP 03</a:t>
            </a:r>
            <a:endParaRPr lang="en-US" sz="488" dirty="0"/>
          </a:p>
        </p:txBody>
      </p:sp>
      <p:sp>
        <p:nvSpPr>
          <p:cNvPr id="9" name="TextBox 20"/>
          <p:cNvSpPr/>
          <p:nvPr/>
        </p:nvSpPr>
        <p:spPr>
          <a:xfrm>
            <a:off x="457200" y="781717"/>
            <a:ext cx="8229600" cy="928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731"/>
              </a:lnSpc>
              <a:buNone/>
            </a:pPr>
            <a:r>
              <a:rPr lang="en-US" sz="488" spc="39" kern="0" dirty="0">
                <a:solidFill>
                  <a:srgbClr val="5B5E6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IMMEDIATE ZERO-FLICKER REACTIVITY</a:t>
            </a:r>
            <a:endParaRPr lang="en-US" sz="488" dirty="0"/>
          </a:p>
        </p:txBody>
      </p:sp>
      <p:sp>
        <p:nvSpPr>
          <p:cNvPr id="10" name="TextBox 22"/>
          <p:cNvSpPr/>
          <p:nvPr/>
        </p:nvSpPr>
        <p:spPr>
          <a:xfrm>
            <a:off x="457200" y="950785"/>
            <a:ext cx="8229600" cy="2081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39"/>
              </a:lnSpc>
              <a:buNone/>
            </a:pPr>
            <a:r>
              <a:rPr lang="en-US" sz="1425" b="1" spc="-21" kern="0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Local State Swaps via HTMX</a:t>
            </a:r>
            <a:endParaRPr lang="en-US" sz="1425" dirty="0"/>
          </a:p>
        </p:txBody>
      </p:sp>
      <p:sp>
        <p:nvSpPr>
          <p:cNvPr id="11" name="TextBox 24"/>
          <p:cNvSpPr/>
          <p:nvPr/>
        </p:nvSpPr>
        <p:spPr>
          <a:xfrm>
            <a:off x="457200" y="1235107"/>
            <a:ext cx="297803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dirty="0">
                <a:solidFill>
                  <a:srgbClr val="E0E2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Eliminating full-page reloads and bulky virtual-DOM reconciliation through granular HTTP fragment replacement.</a:t>
            </a:r>
            <a:endParaRPr lang="en-US" sz="750" dirty="0"/>
          </a:p>
        </p:txBody>
      </p:sp>
      <p:sp>
        <p:nvSpPr>
          <p:cNvPr id="12" name="Shape 29"/>
          <p:cNvSpPr/>
          <p:nvPr/>
        </p:nvSpPr>
        <p:spPr>
          <a:xfrm>
            <a:off x="457200" y="2209038"/>
            <a:ext cx="1985963" cy="1396175"/>
          </a:xfrm>
          <a:prstGeom prst="roundRect">
            <a:avLst>
              <a:gd name="adj" fmla="val 767"/>
            </a:avLst>
          </a:prstGeom>
          <a:solidFill>
            <a:srgbClr val="100600"/>
          </a:solidFill>
          <a:ln w="3048">
            <a:solidFill>
              <a:srgbClr val="5B5E64"/>
            </a:solidFill>
            <a:prstDash val="solid"/>
          </a:ln>
        </p:spPr>
      </p:sp>
      <p:sp>
        <p:nvSpPr>
          <p:cNvPr id="13" name="TextBox 31"/>
          <p:cNvSpPr/>
          <p:nvPr/>
        </p:nvSpPr>
        <p:spPr>
          <a:xfrm>
            <a:off x="574548" y="2326386"/>
            <a:ext cx="17512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01 // TRIGGER</a:t>
            </a:r>
            <a:endParaRPr lang="en-US" sz="450" dirty="0"/>
          </a:p>
        </p:txBody>
      </p:sp>
      <p:sp>
        <p:nvSpPr>
          <p:cNvPr id="14" name="TextBox 33"/>
          <p:cNvSpPr/>
          <p:nvPr/>
        </p:nvSpPr>
        <p:spPr>
          <a:xfrm>
            <a:off x="574548" y="2469261"/>
            <a:ext cx="17512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User Interaction</a:t>
            </a:r>
            <a:endParaRPr lang="en-US" sz="750" dirty="0"/>
          </a:p>
        </p:txBody>
      </p:sp>
      <p:sp>
        <p:nvSpPr>
          <p:cNvPr id="15" name="TextBox 35"/>
          <p:cNvSpPr/>
          <p:nvPr/>
        </p:nvSpPr>
        <p:spPr>
          <a:xfrm>
            <a:off x="574548" y="2669286"/>
            <a:ext cx="1751267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E0E2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user drags a task card or toggles priority. Declarative attributes intercept the client DOM event.</a:t>
            </a:r>
            <a:endParaRPr lang="en-US" sz="600" dirty="0"/>
          </a:p>
        </p:txBody>
      </p:sp>
      <p:sp>
        <p:nvSpPr>
          <p:cNvPr id="16" name="TextBox 37"/>
          <p:cNvSpPr/>
          <p:nvPr/>
        </p:nvSpPr>
        <p:spPr>
          <a:xfrm>
            <a:off x="574548" y="3118866"/>
            <a:ext cx="1751267" cy="368998"/>
          </a:xfrm>
          <a:prstGeom prst="roundRect">
            <a:avLst>
              <a:gd name="adj" fmla="val 2904"/>
            </a:avLst>
          </a:prstGeom>
          <a:solidFill>
            <a:srgbClr val="07080A"/>
          </a:solidFill>
          <a:ln w="3048">
            <a:solidFill>
              <a:srgbClr val="5B5E64"/>
            </a:solidFill>
            <a:prstDash val="solid"/>
          </a:ln>
        </p:spPr>
        <p:txBody>
          <a:bodyPr wrap="square" lIns="57150" tIns="57150" rIns="57150" bIns="57150" rtlCol="0" anchor="t">
            <a:spAutoFit/>
          </a:bodyPr>
          <a:lstStyle/>
          <a:p>
            <a:pPr algn="l" indent="0" marL="0">
              <a:lnSpc>
                <a:spcPts val="653"/>
              </a:lnSpc>
              <a:buNone/>
            </a:pPr>
            <a:r>
              <a:rPr lang="en-US" sz="450" b="1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hx-post</a:t>
            </a: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="/cards/move"</a:t>
            </a:r>
            <a:endParaRPr lang="en-US" sz="450" dirty="0"/>
          </a:p>
          <a:p>
            <a:pPr algn="l" indent="0" marL="0">
              <a:lnSpc>
                <a:spcPts val="653"/>
              </a:lnSpc>
              <a:buNone/>
            </a:pPr>
            <a:r>
              <a:rPr lang="en-US" sz="450" b="1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hx-trigger</a:t>
            </a: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="drop"</a:t>
            </a:r>
            <a:endParaRPr lang="en-US" sz="450" dirty="0"/>
          </a:p>
          <a:p>
            <a:pPr algn="l" indent="0" marL="0">
              <a:lnSpc>
                <a:spcPts val="653"/>
              </a:lnSpc>
              <a:buNone/>
            </a:pPr>
            <a:r>
              <a:rPr lang="en-US" sz="450" b="1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hx-vals</a:t>
            </a: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='{"col": "done"}'</a:t>
            </a:r>
            <a:endParaRPr lang="en-US" sz="450" dirty="0"/>
          </a:p>
        </p:txBody>
      </p:sp>
      <p:sp>
        <p:nvSpPr>
          <p:cNvPr id="17" name="Shape 40"/>
          <p:cNvSpPr/>
          <p:nvPr/>
        </p:nvSpPr>
        <p:spPr>
          <a:xfrm>
            <a:off x="2538413" y="2209038"/>
            <a:ext cx="1985963" cy="1396175"/>
          </a:xfrm>
          <a:prstGeom prst="roundRect">
            <a:avLst>
              <a:gd name="adj" fmla="val 767"/>
            </a:avLst>
          </a:prstGeom>
          <a:solidFill>
            <a:srgbClr val="100600"/>
          </a:solidFill>
          <a:ln w="3048">
            <a:solidFill>
              <a:srgbClr val="5B5E64"/>
            </a:solidFill>
            <a:prstDash val="solid"/>
          </a:ln>
        </p:spPr>
      </p:sp>
      <p:sp>
        <p:nvSpPr>
          <p:cNvPr id="18" name="TextBox 42"/>
          <p:cNvSpPr/>
          <p:nvPr/>
        </p:nvSpPr>
        <p:spPr>
          <a:xfrm>
            <a:off x="2655761" y="2326386"/>
            <a:ext cx="17512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02 // TRANSPORT</a:t>
            </a:r>
            <a:endParaRPr lang="en-US" sz="450" dirty="0"/>
          </a:p>
        </p:txBody>
      </p:sp>
      <p:sp>
        <p:nvSpPr>
          <p:cNvPr id="19" name="TextBox 44"/>
          <p:cNvSpPr/>
          <p:nvPr/>
        </p:nvSpPr>
        <p:spPr>
          <a:xfrm>
            <a:off x="2655761" y="2469261"/>
            <a:ext cx="17512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FastAPI Route</a:t>
            </a:r>
            <a:endParaRPr lang="en-US" sz="750" dirty="0"/>
          </a:p>
        </p:txBody>
      </p:sp>
      <p:sp>
        <p:nvSpPr>
          <p:cNvPr id="20" name="TextBox 46"/>
          <p:cNvSpPr/>
          <p:nvPr/>
        </p:nvSpPr>
        <p:spPr>
          <a:xfrm>
            <a:off x="2655761" y="2669286"/>
            <a:ext cx="1751267" cy="236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E0E2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Async handler validates the movement state and renders only the target card Jinja2 partial.</a:t>
            </a:r>
            <a:endParaRPr lang="en-US" sz="600" dirty="0"/>
          </a:p>
        </p:txBody>
      </p:sp>
      <p:sp>
        <p:nvSpPr>
          <p:cNvPr id="21" name="TextBox 48"/>
          <p:cNvSpPr/>
          <p:nvPr/>
        </p:nvSpPr>
        <p:spPr>
          <a:xfrm>
            <a:off x="2655761" y="3000756"/>
            <a:ext cx="1751267" cy="368998"/>
          </a:xfrm>
          <a:prstGeom prst="roundRect">
            <a:avLst>
              <a:gd name="adj" fmla="val 2904"/>
            </a:avLst>
          </a:prstGeom>
          <a:solidFill>
            <a:srgbClr val="07080A"/>
          </a:solidFill>
          <a:ln w="3048">
            <a:solidFill>
              <a:srgbClr val="5B5E64"/>
            </a:solidFill>
            <a:prstDash val="solid"/>
          </a:ln>
        </p:spPr>
        <p:txBody>
          <a:bodyPr wrap="square" lIns="57150" tIns="57150" rIns="57150" bIns="57150" rtlCol="0" anchor="t">
            <a:spAutoFit/>
          </a:bodyPr>
          <a:lstStyle/>
          <a:p>
            <a:pPr algn="l" indent="0" marL="0">
              <a:lnSpc>
                <a:spcPts val="653"/>
              </a:lnSpc>
              <a:buNone/>
            </a:pP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@app.post("/cards/move")</a:t>
            </a:r>
            <a:endParaRPr lang="en-US" sz="450" dirty="0"/>
          </a:p>
          <a:p>
            <a:pPr algn="l" indent="0" marL="0">
              <a:lnSpc>
                <a:spcPts val="653"/>
              </a:lnSpc>
              <a:buNone/>
            </a:pP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async def move(req):</a:t>
            </a:r>
            <a:endParaRPr lang="en-US" sz="450" dirty="0"/>
          </a:p>
          <a:p>
            <a:pPr algn="l" indent="0" marL="0">
              <a:lnSpc>
                <a:spcPts val="653"/>
              </a:lnSpc>
              <a:buNone/>
            </a:pP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return render("card.html")</a:t>
            </a:r>
            <a:endParaRPr lang="en-US" sz="450" dirty="0"/>
          </a:p>
        </p:txBody>
      </p:sp>
      <p:sp>
        <p:nvSpPr>
          <p:cNvPr id="22" name="Shape 51"/>
          <p:cNvSpPr/>
          <p:nvPr/>
        </p:nvSpPr>
        <p:spPr>
          <a:xfrm>
            <a:off x="4619625" y="2209038"/>
            <a:ext cx="1985963" cy="1396175"/>
          </a:xfrm>
          <a:prstGeom prst="roundRect">
            <a:avLst>
              <a:gd name="adj" fmla="val 767"/>
            </a:avLst>
          </a:prstGeom>
          <a:solidFill>
            <a:srgbClr val="100600"/>
          </a:solidFill>
          <a:ln w="3048">
            <a:solidFill>
              <a:srgbClr val="5B5E64"/>
            </a:solidFill>
            <a:prstDash val="solid"/>
          </a:ln>
        </p:spPr>
      </p:sp>
      <p:sp>
        <p:nvSpPr>
          <p:cNvPr id="23" name="TextBox 53"/>
          <p:cNvSpPr/>
          <p:nvPr/>
        </p:nvSpPr>
        <p:spPr>
          <a:xfrm>
            <a:off x="4736973" y="2326386"/>
            <a:ext cx="17512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03 // MORPH</a:t>
            </a:r>
            <a:endParaRPr lang="en-US" sz="450" dirty="0"/>
          </a:p>
        </p:txBody>
      </p:sp>
      <p:sp>
        <p:nvSpPr>
          <p:cNvPr id="24" name="TextBox 55"/>
          <p:cNvSpPr/>
          <p:nvPr/>
        </p:nvSpPr>
        <p:spPr>
          <a:xfrm>
            <a:off x="4736973" y="2469261"/>
            <a:ext cx="17512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Surgical OuterHTML</a:t>
            </a:r>
            <a:endParaRPr lang="en-US" sz="750" dirty="0"/>
          </a:p>
        </p:txBody>
      </p:sp>
      <p:sp>
        <p:nvSpPr>
          <p:cNvPr id="25" name="TextBox 57"/>
          <p:cNvSpPr/>
          <p:nvPr/>
        </p:nvSpPr>
        <p:spPr>
          <a:xfrm>
            <a:off x="4736973" y="2669286"/>
            <a:ext cx="1751267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E0E2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HTMX inspects the target selector and swaps the received HTML fragment in-place with zero script eval.</a:t>
            </a:r>
            <a:endParaRPr lang="en-US" sz="600" dirty="0"/>
          </a:p>
        </p:txBody>
      </p:sp>
      <p:sp>
        <p:nvSpPr>
          <p:cNvPr id="26" name="TextBox 59"/>
          <p:cNvSpPr/>
          <p:nvPr/>
        </p:nvSpPr>
        <p:spPr>
          <a:xfrm>
            <a:off x="4736973" y="3118866"/>
            <a:ext cx="1751267" cy="368998"/>
          </a:xfrm>
          <a:prstGeom prst="roundRect">
            <a:avLst>
              <a:gd name="adj" fmla="val 2904"/>
            </a:avLst>
          </a:prstGeom>
          <a:solidFill>
            <a:srgbClr val="07080A"/>
          </a:solidFill>
          <a:ln w="3048">
            <a:solidFill>
              <a:srgbClr val="5B5E64"/>
            </a:solidFill>
            <a:prstDash val="solid"/>
          </a:ln>
        </p:spPr>
        <p:txBody>
          <a:bodyPr wrap="square" lIns="57150" tIns="57150" rIns="57150" bIns="57150" rtlCol="0" anchor="t">
            <a:spAutoFit/>
          </a:bodyPr>
          <a:lstStyle/>
          <a:p>
            <a:pPr algn="l" indent="0" marL="0">
              <a:lnSpc>
                <a:spcPts val="653"/>
              </a:lnSpc>
              <a:buNone/>
            </a:pPr>
            <a:r>
              <a:rPr lang="en-US" sz="450" b="1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hx-target</a:t>
            </a: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="#card-ZN-101"</a:t>
            </a:r>
            <a:endParaRPr lang="en-US" sz="450" dirty="0"/>
          </a:p>
          <a:p>
            <a:pPr algn="l" indent="0" marL="0">
              <a:lnSpc>
                <a:spcPts val="653"/>
              </a:lnSpc>
              <a:buNone/>
            </a:pPr>
            <a:r>
              <a:rPr lang="en-US" sz="450" b="1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hx-swap</a:t>
            </a: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="outerHTML"</a:t>
            </a:r>
            <a:endParaRPr lang="en-US" sz="450" dirty="0"/>
          </a:p>
          <a:p>
            <a:pPr algn="l" indent="0" marL="0">
              <a:lnSpc>
                <a:spcPts val="653"/>
              </a:lnSpc>
              <a:buNone/>
            </a:pPr>
            <a:r>
              <a:rPr lang="en-US" sz="450" b="1" dirty="0">
                <a:solidFill>
                  <a:srgbClr val="FAF9F5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hx-indicator</a:t>
            </a: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=".spinner"</a:t>
            </a:r>
            <a:endParaRPr lang="en-US" sz="450" dirty="0"/>
          </a:p>
        </p:txBody>
      </p:sp>
      <p:sp>
        <p:nvSpPr>
          <p:cNvPr id="27" name="Shape 62"/>
          <p:cNvSpPr/>
          <p:nvPr/>
        </p:nvSpPr>
        <p:spPr>
          <a:xfrm>
            <a:off x="6700838" y="2209038"/>
            <a:ext cx="1985963" cy="1396175"/>
          </a:xfrm>
          <a:prstGeom prst="roundRect">
            <a:avLst>
              <a:gd name="adj" fmla="val 767"/>
            </a:avLst>
          </a:prstGeom>
          <a:solidFill>
            <a:srgbClr val="100600"/>
          </a:solidFill>
          <a:ln w="3048">
            <a:solidFill>
              <a:srgbClr val="5B5E64"/>
            </a:solidFill>
            <a:prstDash val="solid"/>
          </a:ln>
        </p:spPr>
      </p:sp>
      <p:sp>
        <p:nvSpPr>
          <p:cNvPr id="28" name="TextBox 64"/>
          <p:cNvSpPr/>
          <p:nvPr/>
        </p:nvSpPr>
        <p:spPr>
          <a:xfrm>
            <a:off x="6818186" y="2326386"/>
            <a:ext cx="1751267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STAGE 04 // SYNC</a:t>
            </a:r>
            <a:endParaRPr lang="en-US" sz="450" dirty="0"/>
          </a:p>
        </p:txBody>
      </p:sp>
      <p:sp>
        <p:nvSpPr>
          <p:cNvPr id="29" name="TextBox 66"/>
          <p:cNvSpPr/>
          <p:nvPr/>
        </p:nvSpPr>
        <p:spPr>
          <a:xfrm>
            <a:off x="6818186" y="2469261"/>
            <a:ext cx="17512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25"/>
              </a:lnSpc>
              <a:buNone/>
            </a:pPr>
            <a:r>
              <a:rPr lang="en-US" sz="750" b="1" dirty="0">
                <a:solidFill>
                  <a:srgbClr val="FAF9F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Zero Stale State</a:t>
            </a:r>
            <a:endParaRPr lang="en-US" sz="750" dirty="0"/>
          </a:p>
        </p:txBody>
      </p:sp>
      <p:sp>
        <p:nvSpPr>
          <p:cNvPr id="30" name="TextBox 68"/>
          <p:cNvSpPr/>
          <p:nvPr/>
        </p:nvSpPr>
        <p:spPr>
          <a:xfrm>
            <a:off x="6818186" y="2669286"/>
            <a:ext cx="1751267" cy="354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930"/>
              </a:lnSpc>
              <a:buNone/>
            </a:pPr>
            <a:r>
              <a:rPr lang="en-US" sz="600" dirty="0">
                <a:solidFill>
                  <a:srgbClr val="E0E2E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URL and history remain undisturbed. Server remains the single source of truth without client hydration mismatch.</a:t>
            </a:r>
            <a:endParaRPr lang="en-US" sz="600" dirty="0"/>
          </a:p>
        </p:txBody>
      </p:sp>
      <p:sp>
        <p:nvSpPr>
          <p:cNvPr id="31" name="TextBox 70"/>
          <p:cNvSpPr/>
          <p:nvPr/>
        </p:nvSpPr>
        <p:spPr>
          <a:xfrm>
            <a:off x="6818186" y="3118866"/>
            <a:ext cx="1751267" cy="368998"/>
          </a:xfrm>
          <a:prstGeom prst="roundRect">
            <a:avLst>
              <a:gd name="adj" fmla="val 2904"/>
            </a:avLst>
          </a:prstGeom>
          <a:solidFill>
            <a:srgbClr val="07080A"/>
          </a:solidFill>
          <a:ln w="3048">
            <a:solidFill>
              <a:srgbClr val="5B5E64"/>
            </a:solidFill>
            <a:prstDash val="solid"/>
          </a:ln>
        </p:spPr>
        <p:txBody>
          <a:bodyPr wrap="square" lIns="57150" tIns="57150" rIns="57150" bIns="57150" rtlCol="0" anchor="t">
            <a:spAutoFit/>
          </a:bodyPr>
          <a:lstStyle/>
          <a:p>
            <a:pPr algn="l" indent="0" marL="0">
              <a:lnSpc>
                <a:spcPts val="653"/>
              </a:lnSpc>
              <a:buNone/>
            </a:pP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HTTP/1.1 200 OK</a:t>
            </a:r>
            <a:endParaRPr lang="en-US" sz="450" dirty="0"/>
          </a:p>
          <a:p>
            <a:pPr algn="l" indent="0" marL="0">
              <a:lnSpc>
                <a:spcPts val="653"/>
              </a:lnSpc>
              <a:buNone/>
            </a:pP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HX-Trigger: columnCountChanged</a:t>
            </a:r>
            <a:endParaRPr lang="en-US" sz="450" dirty="0"/>
          </a:p>
          <a:p>
            <a:pPr algn="l" indent="0" marL="0">
              <a:lnSpc>
                <a:spcPts val="653"/>
              </a:lnSpc>
              <a:buNone/>
            </a:pPr>
            <a:r>
              <a:rPr lang="en-US" sz="45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Latency: &lt; 8.4ms</a:t>
            </a:r>
            <a:endParaRPr lang="en-US" sz="450" dirty="0"/>
          </a:p>
        </p:txBody>
      </p:sp>
      <p:sp>
        <p:nvSpPr>
          <p:cNvPr id="32" name="Shape 74"/>
          <p:cNvSpPr/>
          <p:nvPr/>
        </p:nvSpPr>
        <p:spPr>
          <a:xfrm>
            <a:off x="457200" y="4121944"/>
            <a:ext cx="8229600" cy="184023"/>
          </a:xfrm>
          <a:prstGeom prst="rect">
            <a:avLst/>
          </a:prstGeom>
          <a:noFill/>
          <a:ln/>
        </p:spPr>
      </p:sp>
      <p:pic>
        <p:nvPicPr>
          <p:cNvPr id="33" name="Picture 74" descr="__type_image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4121944"/>
            <a:ext cx="8229600" cy="184023"/>
          </a:xfrm>
          <a:prstGeom prst="rect">
            <a:avLst/>
          </a:prstGeom>
        </p:spPr>
      </p:pic>
      <p:sp>
        <p:nvSpPr>
          <p:cNvPr id="34" name="TextBox 76"/>
          <p:cNvSpPr/>
          <p:nvPr/>
        </p:nvSpPr>
        <p:spPr>
          <a:xfrm>
            <a:off x="457200" y="4220242"/>
            <a:ext cx="1498568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ZEN-HTMX-03 // HYPERMEDIA STATE TRANSITIONS</a:t>
            </a:r>
            <a:endParaRPr lang="en-US" sz="450" dirty="0"/>
          </a:p>
        </p:txBody>
      </p:sp>
      <p:sp>
        <p:nvSpPr>
          <p:cNvPr id="35" name="TextBox 78"/>
          <p:cNvSpPr/>
          <p:nvPr/>
        </p:nvSpPr>
        <p:spPr>
          <a:xfrm>
            <a:off x="8442817" y="4220242"/>
            <a:ext cx="243983" cy="857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675"/>
              </a:lnSpc>
              <a:buNone/>
            </a:pPr>
            <a:r>
              <a:rPr lang="en-US" sz="450" spc="27" kern="0" dirty="0">
                <a:solidFill>
                  <a:srgbClr val="E0E2E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 / 03</a:t>
            </a:r>
            <a:endParaRPr lang="en-US" sz="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2026-09-20T17:38:42Z</dcterms:created>
  <dcterms:modified xsi:type="dcterms:W3CDTF">2026-09-20T17:38:42Z</dcterms:modified>
</cp:coreProperties>
</file>