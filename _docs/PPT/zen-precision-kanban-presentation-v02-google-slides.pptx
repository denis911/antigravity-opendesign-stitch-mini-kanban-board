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embeddedFontLst>
    <p:embeddedFont>
      <p:font typeface="Inter"/>
      <p:bold r:id="rId14"/>
      <p:boldItalic r:id="rId15"/>
    </p:embeddedFont>
    <p:embeddedFont>
      <p:font typeface="JetBrains Mono Medium"/>
      <p:regular r:id="rId16"/>
      <p:bold r:id="rId17"/>
      <p:italic r:id="rId18"/>
      <p:boldItalic r:id="rId19"/>
    </p:embeddedFont>
    <p:embeddedFont>
      <p:font typeface="JetBrains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o3TilzA0zwCji1qu1SCSZTabg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11" Type="http://schemas.openxmlformats.org/officeDocument/2006/relationships/slide" Target="slides/slide7.xml"/><Relationship Id="rId22" Type="http://schemas.openxmlformats.org/officeDocument/2006/relationships/font" Target="fonts/JetBrainsMono-italic.fntdata"/><Relationship Id="rId10" Type="http://schemas.openxmlformats.org/officeDocument/2006/relationships/slide" Target="slides/slide6.xml"/><Relationship Id="rId21" Type="http://schemas.openxmlformats.org/officeDocument/2006/relationships/font" Target="fonts/JetBrainsMono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bold.fntdata"/><Relationship Id="rId17" Type="http://schemas.openxmlformats.org/officeDocument/2006/relationships/font" Target="fonts/JetBrainsMonoMedium-bold.fntdata"/><Relationship Id="rId16" Type="http://schemas.openxmlformats.org/officeDocument/2006/relationships/font" Target="fonts/JetBrainsMonoMedium-regular.fntdata"/><Relationship Id="rId5" Type="http://schemas.openxmlformats.org/officeDocument/2006/relationships/slide" Target="slides/slide1.xml"/><Relationship Id="rId19" Type="http://schemas.openxmlformats.org/officeDocument/2006/relationships/font" Target="fonts/JetBrainsMonoMedium-boldItalic.fntdata"/><Relationship Id="rId6" Type="http://schemas.openxmlformats.org/officeDocument/2006/relationships/slide" Target="slides/slide2.xml"/><Relationship Id="rId18" Type="http://schemas.openxmlformats.org/officeDocument/2006/relationships/font" Target="fonts/JetBrainsMono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h3f5cc344ba0b6b8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h3f5cc344ba0b6b8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h3f5cc344ba0b6b8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457200" y="342900"/>
            <a:ext cx="8229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457200" y="375047"/>
            <a:ext cx="28500" cy="28500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457200" y="342900"/>
            <a:ext cx="8229600" cy="142800"/>
            <a:chOff x="0" y="0"/>
            <a:chExt cx="8229600" cy="142800"/>
          </a:xfrm>
        </p:grpSpPr>
        <p:sp>
          <p:nvSpPr>
            <p:cNvPr id="22" name="Google Shape;22;p4"/>
            <p:cNvSpPr txBox="1"/>
            <p:nvPr/>
          </p:nvSpPr>
          <p:spPr>
            <a:xfrm>
              <a:off x="0" y="0"/>
              <a:ext cx="47625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ZEN PRECISION SAAS — DESIGN SYSTEM CONTRACT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" name="Google Shape;23;p4"/>
            <p:cNvSpPr txBox="1"/>
            <p:nvPr/>
          </p:nvSpPr>
          <p:spPr>
            <a:xfrm>
              <a:off x="6324600" y="0"/>
              <a:ext cx="1905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FOUNDATIONS // TOKENS 04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24" name="Google Shape;24;p4"/>
          <p:cNvSpPr txBox="1"/>
          <p:nvPr/>
        </p:nvSpPr>
        <p:spPr>
          <a:xfrm>
            <a:off x="457200" y="71437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WABI-SABI REDUCTION &amp; HIGH-DENSITY UTILITY</a:t>
            </a:r>
            <a:endParaRPr sz="600">
              <a:solidFill>
                <a:srgbClr val="5B5E64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Design System Foundations</a:t>
            </a:r>
            <a:endParaRPr b="1" sz="195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Center-aligned on intentional whitespace, warm natural paper surfaces, and razor-sharp typographic discipline. Shared 1:1 across web DOM and PPT layouts.</a:t>
            </a:r>
            <a:endParaRPr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>
            <a:off x="457200" y="1857375"/>
            <a:ext cx="2610000" cy="2143200"/>
            <a:chOff x="0" y="0"/>
            <a:chExt cx="2610000" cy="2143200"/>
          </a:xfrm>
        </p:grpSpPr>
        <p:sp>
          <p:nvSpPr>
            <p:cNvPr id="26" name="Google Shape;26;p4"/>
            <p:cNvSpPr/>
            <p:nvPr/>
          </p:nvSpPr>
          <p:spPr>
            <a:xfrm>
              <a:off x="0" y="0"/>
              <a:ext cx="2610000" cy="2143200"/>
            </a:xfrm>
            <a:prstGeom prst="roundRect">
              <a:avLst>
                <a:gd fmla="val 1333" name="adj"/>
              </a:avLst>
            </a:prstGeom>
            <a:solidFill>
              <a:srgbClr val="FAF9F5"/>
            </a:solidFill>
            <a:ln cap="flat" cmpd="sng" w="9525">
              <a:solidFill>
                <a:srgbClr val="7677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 txBox="1"/>
            <p:nvPr/>
          </p:nvSpPr>
          <p:spPr>
            <a:xfrm>
              <a:off x="152400" y="152400"/>
              <a:ext cx="2305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SURFACE CANVASES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rPr>
                <a:t>Washi &amp; Stone Tones</a:t>
              </a:r>
              <a:endParaRPr b="1" sz="975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638">
                  <a:solidFill>
                    <a:srgbClr val="5B5E64"/>
                  </a:solidFill>
                  <a:latin typeface="Inter"/>
                  <a:ea typeface="Inter"/>
                  <a:cs typeface="Inter"/>
                  <a:sym typeface="Inter"/>
                </a:rPr>
                <a:t>Sand sub-surface (#f3f2ec) for viewport background and pure washi (#faf9f5) for cards. Tactile contact edges with hairline 1px (#76777b).</a:t>
              </a:r>
              <a:endParaRPr sz="638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" name="Google Shape;28;p4"/>
            <p:cNvGrpSpPr/>
            <p:nvPr/>
          </p:nvGrpSpPr>
          <p:grpSpPr>
            <a:xfrm>
              <a:off x="152400" y="971550"/>
              <a:ext cx="2305200" cy="1028700"/>
              <a:chOff x="0" y="0"/>
              <a:chExt cx="2305200" cy="1028700"/>
            </a:xfrm>
          </p:grpSpPr>
          <p:sp>
            <p:nvSpPr>
              <p:cNvPr id="29" name="Google Shape;29;p4"/>
              <p:cNvSpPr/>
              <p:nvPr/>
            </p:nvSpPr>
            <p:spPr>
              <a:xfrm>
                <a:off x="0" y="0"/>
                <a:ext cx="23052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3F2EC"/>
              </a:solidFill>
              <a:ln cap="flat" cmpd="sng" w="9525">
                <a:solidFill>
                  <a:srgbClr val="76777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 txBox="1"/>
              <p:nvPr/>
            </p:nvSpPr>
            <p:spPr>
              <a:xfrm>
                <a:off x="95250" y="0"/>
                <a:ext cx="2114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#f3f2ec</a:t>
                </a:r>
                <a:r>
                  <a:rPr lang="en-US" sz="600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Canvas Surface</a:t>
                </a:r>
                <a:endParaRPr sz="600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0" y="361950"/>
                <a:ext cx="23052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AF9F5"/>
              </a:solidFill>
              <a:ln cap="flat" cmpd="sng" w="9525">
                <a:solidFill>
                  <a:srgbClr val="76777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 txBox="1"/>
              <p:nvPr/>
            </p:nvSpPr>
            <p:spPr>
              <a:xfrm>
                <a:off x="95250" y="361950"/>
                <a:ext cx="2114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#faf9f5</a:t>
                </a:r>
                <a:r>
                  <a:rPr lang="en-US" sz="600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Card Surface</a:t>
                </a:r>
                <a:endParaRPr sz="600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0" y="723900"/>
                <a:ext cx="23052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E0E2E9"/>
              </a:solidFill>
              <a:ln cap="flat" cmpd="sng" w="9525">
                <a:solidFill>
                  <a:srgbClr val="76777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 txBox="1"/>
              <p:nvPr/>
            </p:nvSpPr>
            <p:spPr>
              <a:xfrm>
                <a:off x="95250" y="723900"/>
                <a:ext cx="21147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#e0e2e9</a:t>
                </a:r>
                <a:r>
                  <a:rPr lang="en-US" sz="600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Container Layer</a:t>
                </a:r>
                <a:endParaRPr sz="600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grpSp>
        <p:nvGrpSpPr>
          <p:cNvPr id="35" name="Google Shape;35;p4"/>
          <p:cNvGrpSpPr/>
          <p:nvPr/>
        </p:nvGrpSpPr>
        <p:grpSpPr>
          <a:xfrm>
            <a:off x="3267075" y="1857375"/>
            <a:ext cx="2610000" cy="2143200"/>
            <a:chOff x="0" y="0"/>
            <a:chExt cx="2610000" cy="2143200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2610000" cy="2143200"/>
            </a:xfrm>
            <a:prstGeom prst="roundRect">
              <a:avLst>
                <a:gd fmla="val 1333" name="adj"/>
              </a:avLst>
            </a:prstGeom>
            <a:solidFill>
              <a:srgbClr val="FAF9F5"/>
            </a:solidFill>
            <a:ln cap="flat" cmpd="sng" w="9525">
              <a:solidFill>
                <a:srgbClr val="7677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 txBox="1"/>
            <p:nvPr/>
          </p:nvSpPr>
          <p:spPr>
            <a:xfrm>
              <a:off x="152400" y="152400"/>
              <a:ext cx="2305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TYPOGRAPHIC SCALE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rPr>
                <a:t>Inter &amp; JetBrains Mono</a:t>
              </a:r>
              <a:endParaRPr b="1" sz="975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638">
                  <a:solidFill>
                    <a:srgbClr val="5B5E64"/>
                  </a:solidFill>
                  <a:latin typeface="Inter"/>
                  <a:ea typeface="Inter"/>
                  <a:cs typeface="Inter"/>
                  <a:sym typeface="Inter"/>
                </a:rPr>
                <a:t>Dual-font architecture: crisp geometric sans-serif for UI labels and proportional headers, paired with monospace glyphs for metadata pills.</a:t>
              </a:r>
              <a:endParaRPr sz="638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" name="Google Shape;38;p4"/>
            <p:cNvGrpSpPr/>
            <p:nvPr/>
          </p:nvGrpSpPr>
          <p:grpSpPr>
            <a:xfrm>
              <a:off x="152400" y="971550"/>
              <a:ext cx="2305200" cy="1028700"/>
              <a:chOff x="0" y="0"/>
              <a:chExt cx="2305200" cy="1028700"/>
            </a:xfrm>
          </p:grpSpPr>
          <p:sp>
            <p:nvSpPr>
              <p:cNvPr id="39" name="Google Shape;39;p4"/>
              <p:cNvSpPr/>
              <p:nvPr/>
            </p:nvSpPr>
            <p:spPr>
              <a:xfrm>
                <a:off x="0" y="0"/>
                <a:ext cx="2305200" cy="647700"/>
              </a:xfrm>
              <a:prstGeom prst="roundRect">
                <a:avLst>
                  <a:gd fmla="val 2941" name="adj"/>
                </a:avLst>
              </a:prstGeom>
              <a:solidFill>
                <a:srgbClr val="F3F2EC"/>
              </a:solidFill>
              <a:ln cap="flat" cmpd="sng" w="9525">
                <a:solidFill>
                  <a:srgbClr val="E0E2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 txBox="1"/>
              <p:nvPr/>
            </p:nvSpPr>
            <p:spPr>
              <a:xfrm>
                <a:off x="114300" y="76200"/>
                <a:ext cx="20766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07080A"/>
                    </a:solidFill>
                    <a:latin typeface="Inter"/>
                    <a:ea typeface="Inter"/>
                    <a:cs typeface="Inter"/>
                    <a:sym typeface="Inter"/>
                  </a:rPr>
                  <a:t>Aa </a:t>
                </a:r>
                <a:r>
                  <a:rPr b="0" lang="en-US" sz="750">
                    <a:solidFill>
                      <a:srgbClr val="5B5E64"/>
                    </a:solidFill>
                    <a:latin typeface="Inter"/>
                    <a:ea typeface="Inter"/>
                    <a:cs typeface="Inter"/>
                    <a:sym typeface="Inter"/>
                  </a:rPr>
                  <a:t>Inter UI / Headers</a:t>
                </a:r>
                <a:endParaRPr b="1" sz="1200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825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0123 </a:t>
                </a:r>
                <a:r>
                  <a:rPr lang="en-US" sz="675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JetBrains Mono</a:t>
                </a:r>
                <a:endParaRPr sz="825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grpSp>
            <p:nvGrpSpPr>
              <p:cNvPr id="41" name="Google Shape;41;p4"/>
              <p:cNvGrpSpPr/>
              <p:nvPr/>
            </p:nvGrpSpPr>
            <p:grpSpPr>
              <a:xfrm>
                <a:off x="0" y="723900"/>
                <a:ext cx="2305200" cy="304800"/>
                <a:chOff x="0" y="0"/>
                <a:chExt cx="2305200" cy="304800"/>
              </a:xfrm>
            </p:grpSpPr>
            <p:sp>
              <p:nvSpPr>
                <p:cNvPr id="42" name="Google Shape;42;p4"/>
                <p:cNvSpPr/>
                <p:nvPr/>
              </p:nvSpPr>
              <p:spPr>
                <a:xfrm>
                  <a:off x="0" y="0"/>
                  <a:ext cx="705000" cy="304800"/>
                </a:xfrm>
                <a:prstGeom prst="roundRect">
                  <a:avLst>
                    <a:gd fmla="val 6250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" name="Google Shape;43;p4"/>
                <p:cNvSpPr txBox="1"/>
                <p:nvPr/>
              </p:nvSpPr>
              <p:spPr>
                <a:xfrm>
                  <a:off x="0" y="0"/>
                  <a:ext cx="7050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563">
                      <a:solidFill>
                        <a:srgbClr val="07080A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Inter UI</a:t>
                  </a:r>
                  <a:endParaRPr sz="563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44" name="Google Shape;44;p4"/>
                <p:cNvSpPr/>
                <p:nvPr/>
              </p:nvSpPr>
              <p:spPr>
                <a:xfrm>
                  <a:off x="762000" y="0"/>
                  <a:ext cx="781200" cy="304800"/>
                </a:xfrm>
                <a:prstGeom prst="roundRect">
                  <a:avLst>
                    <a:gd fmla="val 6250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" name="Google Shape;45;p4"/>
                <p:cNvSpPr txBox="1"/>
                <p:nvPr/>
              </p:nvSpPr>
              <p:spPr>
                <a:xfrm>
                  <a:off x="762000" y="0"/>
                  <a:ext cx="7812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563">
                      <a:solidFill>
                        <a:srgbClr val="07080A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JetBrains Mono</a:t>
                  </a:r>
                  <a:endParaRPr sz="563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  <p:sp>
              <p:nvSpPr>
                <p:cNvPr id="46" name="Google Shape;46;p4"/>
                <p:cNvSpPr/>
                <p:nvPr/>
              </p:nvSpPr>
              <p:spPr>
                <a:xfrm>
                  <a:off x="1600200" y="0"/>
                  <a:ext cx="705000" cy="304800"/>
                </a:xfrm>
                <a:prstGeom prst="roundRect">
                  <a:avLst>
                    <a:gd fmla="val 6250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4"/>
                <p:cNvSpPr txBox="1"/>
                <p:nvPr/>
              </p:nvSpPr>
              <p:spPr>
                <a:xfrm>
                  <a:off x="1600200" y="0"/>
                  <a:ext cx="7050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563">
                      <a:solidFill>
                        <a:srgbClr val="07080A"/>
                      </a:solidFill>
                      <a:latin typeface="JetBrains Mono"/>
                      <a:ea typeface="JetBrains Mono"/>
                      <a:cs typeface="JetBrains Mono"/>
                      <a:sym typeface="JetBrains Mono"/>
                    </a:rPr>
                    <a:t>Hairline Rules</a:t>
                  </a:r>
                  <a:endParaRPr sz="563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endParaRPr>
                </a:p>
              </p:txBody>
            </p:sp>
          </p:grpSp>
        </p:grpSp>
      </p:grpSp>
      <p:grpSp>
        <p:nvGrpSpPr>
          <p:cNvPr id="48" name="Google Shape;48;p4"/>
          <p:cNvGrpSpPr/>
          <p:nvPr/>
        </p:nvGrpSpPr>
        <p:grpSpPr>
          <a:xfrm>
            <a:off x="6076950" y="1857375"/>
            <a:ext cx="2610000" cy="2143200"/>
            <a:chOff x="0" y="0"/>
            <a:chExt cx="2610000" cy="2143200"/>
          </a:xfrm>
        </p:grpSpPr>
        <p:sp>
          <p:nvSpPr>
            <p:cNvPr id="49" name="Google Shape;49;p4"/>
            <p:cNvSpPr/>
            <p:nvPr/>
          </p:nvSpPr>
          <p:spPr>
            <a:xfrm>
              <a:off x="0" y="0"/>
              <a:ext cx="2610000" cy="2143200"/>
            </a:xfrm>
            <a:prstGeom prst="roundRect">
              <a:avLst>
                <a:gd fmla="val 1333" name="adj"/>
              </a:avLst>
            </a:prstGeom>
            <a:solidFill>
              <a:srgbClr val="FAF9F5"/>
            </a:solidFill>
            <a:ln cap="flat" cmpd="sng" w="9525">
              <a:solidFill>
                <a:srgbClr val="7677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 txBox="1"/>
            <p:nvPr/>
          </p:nvSpPr>
          <p:spPr>
            <a:xfrm>
              <a:off x="152400" y="152400"/>
              <a:ext cx="23052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COLOR TOKENS &amp; STATES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75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rPr>
                <a:t>Sumi Ink &amp; Mineral Pigments</a:t>
              </a:r>
              <a:endParaRPr b="1" sz="975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638">
                  <a:solidFill>
                    <a:srgbClr val="5B5E64"/>
                  </a:solidFill>
                  <a:latin typeface="Inter"/>
                  <a:ea typeface="Inter"/>
                  <a:cs typeface="Inter"/>
                  <a:sym typeface="Inter"/>
                </a:rPr>
                <a:t>Wabi-sabi reduction merged with Linear/Raycast keyboard speed. High contrast sumi ink on natural unbleached sand surfaces.</a:t>
              </a:r>
              <a:endParaRPr sz="638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52400" y="971550"/>
              <a:ext cx="2305200" cy="1028700"/>
              <a:chOff x="0" y="0"/>
              <a:chExt cx="2305200" cy="1028700"/>
            </a:xfrm>
          </p:grpSpPr>
          <p:sp>
            <p:nvSpPr>
              <p:cNvPr id="52" name="Google Shape;52;p4"/>
              <p:cNvSpPr/>
              <p:nvPr/>
            </p:nvSpPr>
            <p:spPr>
              <a:xfrm>
                <a:off x="0" y="0"/>
                <a:ext cx="23052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3F2EC"/>
              </a:solidFill>
              <a:ln cap="flat" cmpd="sng" w="9525">
                <a:solidFill>
                  <a:srgbClr val="E0E2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104775" y="104775"/>
                <a:ext cx="95400" cy="95400"/>
              </a:xfrm>
              <a:prstGeom prst="ellipse">
                <a:avLst/>
              </a:prstGeom>
              <a:solidFill>
                <a:srgbClr val="C84B3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 txBox="1"/>
              <p:nvPr/>
            </p:nvSpPr>
            <p:spPr>
              <a:xfrm>
                <a:off x="266700" y="0"/>
                <a:ext cx="1943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Cinnabar P1</a:t>
                </a:r>
                <a:r>
                  <a:rPr lang="en-US" sz="600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Primary Accent</a:t>
                </a:r>
                <a:endParaRPr sz="600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0" y="361950"/>
                <a:ext cx="23052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3F2EC"/>
              </a:solidFill>
              <a:ln cap="flat" cmpd="sng" w="9525">
                <a:solidFill>
                  <a:srgbClr val="E0E2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104775" y="466725"/>
                <a:ext cx="95400" cy="954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4"/>
              <p:cNvSpPr txBox="1"/>
              <p:nvPr/>
            </p:nvSpPr>
            <p:spPr>
              <a:xfrm>
                <a:off x="266700" y="361950"/>
                <a:ext cx="1943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Amber Active</a:t>
                </a:r>
                <a:r>
                  <a:rPr lang="en-US" sz="600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Focus / State</a:t>
                </a:r>
                <a:endParaRPr sz="600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0" y="723900"/>
                <a:ext cx="2305200" cy="304800"/>
              </a:xfrm>
              <a:prstGeom prst="roundRect">
                <a:avLst>
                  <a:gd fmla="val 6250" name="adj"/>
                </a:avLst>
              </a:prstGeom>
              <a:solidFill>
                <a:srgbClr val="F3F2EC"/>
              </a:solidFill>
              <a:ln cap="flat" cmpd="sng" w="9525">
                <a:solidFill>
                  <a:srgbClr val="E0E2E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104775" y="828675"/>
                <a:ext cx="95400" cy="95400"/>
              </a:xfrm>
              <a:prstGeom prst="ellipse">
                <a:avLst/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 txBox="1"/>
              <p:nvPr/>
            </p:nvSpPr>
            <p:spPr>
              <a:xfrm>
                <a:off x="266700" y="723900"/>
                <a:ext cx="19431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600">
                    <a:solidFill>
                      <a:srgbClr val="07080A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Lichen Done</a:t>
                </a:r>
                <a:r>
                  <a:rPr lang="en-US" sz="600">
                    <a:solidFill>
                      <a:srgbClr val="5B5E64"/>
                    </a:solidFill>
                    <a:latin typeface="JetBrains Mono"/>
                    <a:ea typeface="JetBrains Mono"/>
                    <a:cs typeface="JetBrains Mono"/>
                    <a:sym typeface="JetBrains Mono"/>
                  </a:rPr>
                  <a:t>Complete / Valid</a:t>
                </a:r>
                <a:endParaRPr sz="600">
                  <a:solidFill>
                    <a:srgbClr val="07080A"/>
                  </a:solidFill>
                  <a:latin typeface="JetBrains Mono"/>
                  <a:ea typeface="JetBrains Mono"/>
                  <a:cs typeface="JetBrains Mono"/>
                  <a:sym typeface="JetBrains Mono"/>
                </a:endParaRPr>
              </a:p>
            </p:txBody>
          </p:sp>
        </p:grpSp>
      </p:grpSp>
      <p:grpSp>
        <p:nvGrpSpPr>
          <p:cNvPr id="61" name="Google Shape;61;p4"/>
          <p:cNvGrpSpPr/>
          <p:nvPr/>
        </p:nvGrpSpPr>
        <p:grpSpPr>
          <a:xfrm>
            <a:off x="457200" y="4205288"/>
            <a:ext cx="8229600" cy="223763"/>
            <a:chOff x="0" y="-4762"/>
            <a:chExt cx="8229600" cy="223763"/>
          </a:xfrm>
        </p:grpSpPr>
        <p:pic>
          <p:nvPicPr>
            <p:cNvPr id="62" name="Google Shape;6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-4762"/>
              <a:ext cx="82296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4"/>
            <p:cNvSpPr txBox="1"/>
            <p:nvPr/>
          </p:nvSpPr>
          <p:spPr>
            <a:xfrm>
              <a:off x="0" y="76200"/>
              <a:ext cx="47625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ZEN-DESIGN-04 // GRAPHICS DESIGN SYSTEM INTEGRATION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64" name="Google Shape;64;p4"/>
            <p:cNvSpPr txBox="1"/>
            <p:nvPr/>
          </p:nvSpPr>
          <p:spPr>
            <a:xfrm>
              <a:off x="7277100" y="76200"/>
              <a:ext cx="9525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>
                  <a:solidFill>
                    <a:srgbClr val="5B5E6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04 / 08</a:t>
              </a:r>
              <a:endParaRPr sz="600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65" name="Google Shape;65;p4"/>
          <p:cNvSpPr/>
          <p:nvPr/>
        </p:nvSpPr>
        <p:spPr>
          <a:xfrm>
            <a:off x="457200" y="4121944"/>
            <a:ext cx="8229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66" name="Google Shape;6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57200" y="342900"/>
            <a:ext cx="8229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/>
          <p:nvPr/>
        </p:nvSpPr>
        <p:spPr>
          <a:xfrm>
            <a:off x="457200" y="375047"/>
            <a:ext cx="28500" cy="28500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42925" y="342900"/>
            <a:ext cx="16764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PERSISTENCE &amp; DATA ENGINE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8082772" y="342900"/>
            <a:ext cx="6039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ENGINE // SQLITE 05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781717"/>
            <a:ext cx="82296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DETERMINISTIC RANKING &amp; REBALANCING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933450"/>
            <a:ext cx="4953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28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Float Ranking &amp; SQLite Persistence</a:t>
            </a:r>
            <a:endParaRPr b="1" sz="2128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1600200"/>
            <a:ext cx="5334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Decoupled repository abstraction backing SQLModel ORM with transactional SQLite WAL mode. O(1) card reordering powered by fractional midpoint interpolation.</a:t>
            </a:r>
            <a:endParaRPr b="0" sz="9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2247900"/>
            <a:ext cx="2552700" cy="1752600"/>
          </a:xfrm>
          <a:prstGeom prst="roundRect">
            <a:avLst>
              <a:gd fmla="val 2173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09600" y="2400300"/>
            <a:ext cx="2247900" cy="1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01 // RANKING ALGORITHM</a:t>
            </a:r>
            <a:endParaRPr b="0" sz="60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09600" y="2590800"/>
            <a:ext cx="2247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Float Midpoint Engine</a:t>
            </a:r>
            <a:endParaRPr b="1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09600" y="2857500"/>
            <a:ext cx="2247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Calculates new rank as (prev + next) / 2 on drop. Automated rebalancing spreads sequence evenly across integers whenever rank difference drops below 1e-6.</a:t>
            </a:r>
            <a:endParaRPr b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09600" y="3619500"/>
            <a:ext cx="6858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Float Midpoint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352550" y="3619500"/>
            <a:ext cx="7239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Auto-Rebalance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133600" y="3619500"/>
            <a:ext cx="7239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O(1) Insertion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295650" y="2247900"/>
            <a:ext cx="2552700" cy="1752600"/>
          </a:xfrm>
          <a:prstGeom prst="roundRect">
            <a:avLst>
              <a:gd fmla="val 2173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448050" y="2400300"/>
            <a:ext cx="2247900" cy="1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02 // DATA REPOSITORY</a:t>
            </a:r>
            <a:endParaRPr b="0" sz="60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448050" y="2590800"/>
            <a:ext cx="2247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SQLiteBoardRepository</a:t>
            </a:r>
            <a:endParaRPr b="1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448050" y="2857500"/>
            <a:ext cx="2247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Abstract BoardRepository protocol with dual implementations: in-memory mock for micro-benchmarks and SQLModel SQLite engine for durable disk persistence.</a:t>
            </a:r>
            <a:endParaRPr b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448050" y="3619500"/>
            <a:ext cx="6858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SQLModel ORM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191000" y="3619500"/>
            <a:ext cx="6858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SQLite WAL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933950" y="3619500"/>
            <a:ext cx="7620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Foreign Keys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134100" y="2247900"/>
            <a:ext cx="2552700" cy="1752600"/>
          </a:xfrm>
          <a:prstGeom prst="roundRect">
            <a:avLst>
              <a:gd fmla="val 2173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286500" y="2400300"/>
            <a:ext cx="2247900" cy="1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03 // DATA SEEDING &amp; LIFESPAN</a:t>
            </a:r>
            <a:endParaRPr b="0" sz="60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86500" y="2590800"/>
            <a:ext cx="2247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Auto-Seeded State</a:t>
            </a:r>
            <a:endParaRPr b="1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286500" y="2857500"/>
            <a:ext cx="2247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Wabi-sabi reduction merged with Linear/Raycast keyboard speed. High contrast sumi ink on natural unbleached sand surfaces, devoid of ambient visual noise.</a:t>
            </a:r>
            <a:endParaRPr b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286500" y="3619500"/>
            <a:ext cx="6858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Lifespan Hook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029450" y="3619500"/>
            <a:ext cx="6858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Auto-Seed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772400" y="3619500"/>
            <a:ext cx="762000" cy="171600"/>
          </a:xfrm>
          <a:prstGeom prst="roundRect">
            <a:avLst>
              <a:gd fmla="val 16666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Async Engine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4121944"/>
            <a:ext cx="8229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104" name="Google Shape;10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457200" y="4220242"/>
            <a:ext cx="1394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ZEN-DATA-05 // SQLITE ENGINE &amp; FRACTIONAL RANKING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442817" y="4220242"/>
            <a:ext cx="243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57200" y="342900"/>
            <a:ext cx="8229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457200" y="375047"/>
            <a:ext cx="28500" cy="28500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42925" y="342900"/>
            <a:ext cx="16764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RESPONSIVE ADAPTATION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082772" y="342900"/>
            <a:ext cx="6039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ADAPTATION // VIEWPORT 06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781717"/>
            <a:ext cx="82296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MULTI-SURFACE RESPONSIVE CONTRACT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914400"/>
            <a:ext cx="4953000" cy="3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Desktop, Tablet &amp; Mobile Matrix</a:t>
            </a:r>
            <a:endParaRPr b="1" i="0" sz="2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31445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Tailwind CSS responsive architecture supporting viewports from 360px mobile compact up to 1920px widescreen displays without horizontal canvas breaks.</a:t>
            </a:r>
            <a:endParaRPr b="0" i="0" sz="80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2" name="Google Shape;122;p6"/>
          <p:cNvGrpSpPr/>
          <p:nvPr/>
        </p:nvGrpSpPr>
        <p:grpSpPr>
          <a:xfrm>
            <a:off x="457200" y="1809750"/>
            <a:ext cx="2610000" cy="2143200"/>
            <a:chOff x="0" y="0"/>
            <a:chExt cx="2610000" cy="2143200"/>
          </a:xfrm>
        </p:grpSpPr>
        <p:sp>
          <p:nvSpPr>
            <p:cNvPr id="123" name="Google Shape;123;p6"/>
            <p:cNvSpPr/>
            <p:nvPr/>
          </p:nvSpPr>
          <p:spPr>
            <a:xfrm>
              <a:off x="0" y="0"/>
              <a:ext cx="2610000" cy="2143200"/>
            </a:xfrm>
            <a:prstGeom prst="roundRect">
              <a:avLst>
                <a:gd fmla="val 1333" name="adj"/>
              </a:avLst>
            </a:prstGeom>
            <a:solidFill>
              <a:srgbClr val="FAF9F5"/>
            </a:solidFill>
            <a:ln cap="flat" cmpd="sng" w="9525">
              <a:solidFill>
                <a:srgbClr val="7677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6"/>
            <p:cNvGrpSpPr/>
            <p:nvPr/>
          </p:nvGrpSpPr>
          <p:grpSpPr>
            <a:xfrm>
              <a:off x="152400" y="133350"/>
              <a:ext cx="2305200" cy="1828950"/>
              <a:chOff x="0" y="0"/>
              <a:chExt cx="2305200" cy="1828950"/>
            </a:xfrm>
          </p:grpSpPr>
          <p:sp>
            <p:nvSpPr>
              <p:cNvPr id="125" name="Google Shape;125;p6"/>
              <p:cNvSpPr txBox="1"/>
              <p:nvPr/>
            </p:nvSpPr>
            <p:spPr>
              <a:xfrm>
                <a:off x="0" y="0"/>
                <a:ext cx="23052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550">
                    <a:solidFill>
                      <a:srgbClr val="5B5E64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DESKTOP VIEWPORT</a:t>
                </a:r>
                <a:endParaRPr b="0" sz="550">
                  <a:solidFill>
                    <a:srgbClr val="5B5E64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  <p:sp>
            <p:nvSpPr>
              <p:cNvPr id="126" name="Google Shape;126;p6"/>
              <p:cNvSpPr txBox="1"/>
              <p:nvPr/>
            </p:nvSpPr>
            <p:spPr>
              <a:xfrm>
                <a:off x="0" y="114300"/>
                <a:ext cx="2305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7080A"/>
                    </a:solidFill>
                    <a:latin typeface="Inter"/>
                    <a:ea typeface="Inter"/>
                    <a:cs typeface="Inter"/>
                    <a:sym typeface="Inter"/>
                  </a:rPr>
                  <a:t>lg: &amp; xl: Displays</a:t>
                </a:r>
                <a:endParaRPr b="1" sz="1100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27" name="Google Shape;127;p6"/>
              <p:cNvGrpSpPr/>
              <p:nvPr/>
            </p:nvGrpSpPr>
            <p:grpSpPr>
              <a:xfrm>
                <a:off x="0" y="361950"/>
                <a:ext cx="2305200" cy="457200"/>
                <a:chOff x="0" y="0"/>
                <a:chExt cx="2305200" cy="457200"/>
              </a:xfrm>
            </p:grpSpPr>
            <p:sp>
              <p:nvSpPr>
                <p:cNvPr id="128" name="Google Shape;128;p6"/>
                <p:cNvSpPr/>
                <p:nvPr/>
              </p:nvSpPr>
              <p:spPr>
                <a:xfrm>
                  <a:off x="0" y="0"/>
                  <a:ext cx="2305200" cy="457200"/>
                </a:xfrm>
                <a:prstGeom prst="roundRect">
                  <a:avLst>
                    <a:gd fmla="val 4166" name="adj"/>
                  </a:avLst>
                </a:prstGeom>
                <a:solidFill>
                  <a:srgbClr val="F3F2EC"/>
                </a:solidFill>
                <a:ln cap="flat" cmpd="sng" w="9525">
                  <a:solidFill>
                    <a:srgbClr val="E0E2E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p6"/>
                <p:cNvSpPr/>
                <p:nvPr/>
              </p:nvSpPr>
              <p:spPr>
                <a:xfrm>
                  <a:off x="76200" y="57150"/>
                  <a:ext cx="2152800" cy="57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76777B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" name="Google Shape;130;p6"/>
                <p:cNvSpPr/>
                <p:nvPr/>
              </p:nvSpPr>
              <p:spPr>
                <a:xfrm>
                  <a:off x="76200" y="152400"/>
                  <a:ext cx="666900" cy="247800"/>
                </a:xfrm>
                <a:prstGeom prst="roundRect">
                  <a:avLst>
                    <a:gd fmla="val 3846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6"/>
                <p:cNvSpPr/>
                <p:nvPr/>
              </p:nvSpPr>
              <p:spPr>
                <a:xfrm>
                  <a:off x="800100" y="152400"/>
                  <a:ext cx="666900" cy="247800"/>
                </a:xfrm>
                <a:prstGeom prst="roundRect">
                  <a:avLst>
                    <a:gd fmla="val 3846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6"/>
                <p:cNvSpPr/>
                <p:nvPr/>
              </p:nvSpPr>
              <p:spPr>
                <a:xfrm>
                  <a:off x="1524000" y="152400"/>
                  <a:ext cx="705000" cy="247800"/>
                </a:xfrm>
                <a:prstGeom prst="roundRect">
                  <a:avLst>
                    <a:gd fmla="val 3846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3" name="Google Shape;133;p6"/>
              <p:cNvSpPr txBox="1"/>
              <p:nvPr/>
            </p:nvSpPr>
            <p:spPr>
              <a:xfrm>
                <a:off x="0" y="895350"/>
                <a:ext cx="2305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650">
                    <a:solidFill>
                      <a:srgbClr val="5B5E64"/>
                    </a:solidFill>
                    <a:latin typeface="Inter"/>
                    <a:ea typeface="Inter"/>
                    <a:cs typeface="Inter"/>
                    <a:sym typeface="Inter"/>
                  </a:rPr>
                  <a:t>Multi-column side-by-side flex layout with equal column widths. Persistent top search bar, fast keyboard command palette (CMD+K), and desktop status bar.</a:t>
                </a:r>
                <a:endParaRPr b="0" sz="650">
                  <a:solidFill>
                    <a:srgbClr val="5B5E6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34" name="Google Shape;134;p6"/>
              <p:cNvGrpSpPr/>
              <p:nvPr/>
            </p:nvGrpSpPr>
            <p:grpSpPr>
              <a:xfrm>
                <a:off x="0" y="1657350"/>
                <a:ext cx="2209800" cy="171600"/>
                <a:chOff x="0" y="0"/>
                <a:chExt cx="2209800" cy="171600"/>
              </a:xfrm>
            </p:grpSpPr>
            <p:sp>
              <p:nvSpPr>
                <p:cNvPr id="135" name="Google Shape;135;p6"/>
                <p:cNvSpPr/>
                <p:nvPr/>
              </p:nvSpPr>
              <p:spPr>
                <a:xfrm>
                  <a:off x="0" y="0"/>
                  <a:ext cx="7431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6"/>
                <p:cNvSpPr txBox="1"/>
                <p:nvPr/>
              </p:nvSpPr>
              <p:spPr>
                <a:xfrm>
                  <a:off x="0" y="0"/>
                  <a:ext cx="7431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1440px / 1920px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  <p:sp>
              <p:nvSpPr>
                <p:cNvPr id="137" name="Google Shape;137;p6"/>
                <p:cNvSpPr/>
                <p:nvPr/>
              </p:nvSpPr>
              <p:spPr>
                <a:xfrm>
                  <a:off x="790575" y="0"/>
                  <a:ext cx="6858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p6"/>
                <p:cNvSpPr txBox="1"/>
                <p:nvPr/>
              </p:nvSpPr>
              <p:spPr>
                <a:xfrm>
                  <a:off x="790575" y="0"/>
                  <a:ext cx="6858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Side-by-Side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  <p:sp>
              <p:nvSpPr>
                <p:cNvPr id="139" name="Google Shape;139;p6"/>
                <p:cNvSpPr/>
                <p:nvPr/>
              </p:nvSpPr>
              <p:spPr>
                <a:xfrm>
                  <a:off x="1524000" y="0"/>
                  <a:ext cx="6858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" name="Google Shape;140;p6"/>
                <p:cNvSpPr txBox="1"/>
                <p:nvPr/>
              </p:nvSpPr>
              <p:spPr>
                <a:xfrm>
                  <a:off x="1524000" y="0"/>
                  <a:ext cx="6858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Zero Clutter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</p:grpSp>
        </p:grpSp>
      </p:grpSp>
      <p:grpSp>
        <p:nvGrpSpPr>
          <p:cNvPr id="141" name="Google Shape;141;p6"/>
          <p:cNvGrpSpPr/>
          <p:nvPr/>
        </p:nvGrpSpPr>
        <p:grpSpPr>
          <a:xfrm>
            <a:off x="3267075" y="1809750"/>
            <a:ext cx="2610000" cy="2143200"/>
            <a:chOff x="0" y="0"/>
            <a:chExt cx="2610000" cy="2143200"/>
          </a:xfrm>
        </p:grpSpPr>
        <p:sp>
          <p:nvSpPr>
            <p:cNvPr id="142" name="Google Shape;142;p6"/>
            <p:cNvSpPr/>
            <p:nvPr/>
          </p:nvSpPr>
          <p:spPr>
            <a:xfrm>
              <a:off x="0" y="0"/>
              <a:ext cx="2610000" cy="2143200"/>
            </a:xfrm>
            <a:prstGeom prst="roundRect">
              <a:avLst>
                <a:gd fmla="val 1333" name="adj"/>
              </a:avLst>
            </a:prstGeom>
            <a:solidFill>
              <a:srgbClr val="FAF9F5"/>
            </a:solidFill>
            <a:ln cap="flat" cmpd="sng" w="9525">
              <a:solidFill>
                <a:srgbClr val="7677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" name="Google Shape;143;p6"/>
            <p:cNvGrpSpPr/>
            <p:nvPr/>
          </p:nvGrpSpPr>
          <p:grpSpPr>
            <a:xfrm>
              <a:off x="152400" y="133350"/>
              <a:ext cx="2343300" cy="1828950"/>
              <a:chOff x="0" y="0"/>
              <a:chExt cx="2343300" cy="1828950"/>
            </a:xfrm>
          </p:grpSpPr>
          <p:sp>
            <p:nvSpPr>
              <p:cNvPr id="144" name="Google Shape;144;p6"/>
              <p:cNvSpPr txBox="1"/>
              <p:nvPr/>
            </p:nvSpPr>
            <p:spPr>
              <a:xfrm>
                <a:off x="0" y="0"/>
                <a:ext cx="23052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550">
                    <a:solidFill>
                      <a:srgbClr val="5B5E64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TABLET VIEWPORT</a:t>
                </a:r>
                <a:endParaRPr b="0" sz="550">
                  <a:solidFill>
                    <a:srgbClr val="5B5E64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  <p:sp>
            <p:nvSpPr>
              <p:cNvPr id="145" name="Google Shape;145;p6"/>
              <p:cNvSpPr txBox="1"/>
              <p:nvPr/>
            </p:nvSpPr>
            <p:spPr>
              <a:xfrm>
                <a:off x="0" y="114300"/>
                <a:ext cx="2305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7080A"/>
                    </a:solidFill>
                    <a:latin typeface="Inter"/>
                    <a:ea typeface="Inter"/>
                    <a:cs typeface="Inter"/>
                    <a:sym typeface="Inter"/>
                  </a:rPr>
                  <a:t>md: &amp; sm: Displays</a:t>
                </a:r>
                <a:endParaRPr b="1" sz="1100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46" name="Google Shape;146;p6"/>
              <p:cNvGrpSpPr/>
              <p:nvPr/>
            </p:nvGrpSpPr>
            <p:grpSpPr>
              <a:xfrm>
                <a:off x="0" y="361950"/>
                <a:ext cx="2343300" cy="457200"/>
                <a:chOff x="0" y="0"/>
                <a:chExt cx="2343300" cy="457200"/>
              </a:xfrm>
            </p:grpSpPr>
            <p:sp>
              <p:nvSpPr>
                <p:cNvPr id="147" name="Google Shape;147;p6"/>
                <p:cNvSpPr/>
                <p:nvPr/>
              </p:nvSpPr>
              <p:spPr>
                <a:xfrm>
                  <a:off x="0" y="0"/>
                  <a:ext cx="2305200" cy="457200"/>
                </a:xfrm>
                <a:prstGeom prst="roundRect">
                  <a:avLst>
                    <a:gd fmla="val 4166" name="adj"/>
                  </a:avLst>
                </a:prstGeom>
                <a:solidFill>
                  <a:srgbClr val="F3F2EC"/>
                </a:solidFill>
                <a:ln cap="flat" cmpd="sng" w="9525">
                  <a:solidFill>
                    <a:srgbClr val="E0E2E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6"/>
                <p:cNvSpPr/>
                <p:nvPr/>
              </p:nvSpPr>
              <p:spPr>
                <a:xfrm>
                  <a:off x="76200" y="57150"/>
                  <a:ext cx="2152800" cy="57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76777B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9" name="Google Shape;149;p6"/>
                <p:cNvSpPr/>
                <p:nvPr/>
              </p:nvSpPr>
              <p:spPr>
                <a:xfrm>
                  <a:off x="76200" y="152400"/>
                  <a:ext cx="1000200" cy="247800"/>
                </a:xfrm>
                <a:prstGeom prst="roundRect">
                  <a:avLst>
                    <a:gd fmla="val 3846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" name="Google Shape;150;p6"/>
                <p:cNvSpPr/>
                <p:nvPr/>
              </p:nvSpPr>
              <p:spPr>
                <a:xfrm>
                  <a:off x="1123950" y="152400"/>
                  <a:ext cx="1000200" cy="247800"/>
                </a:xfrm>
                <a:prstGeom prst="roundRect">
                  <a:avLst>
                    <a:gd fmla="val 3846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" name="Google Shape;151;p6"/>
                <p:cNvSpPr/>
                <p:nvPr/>
              </p:nvSpPr>
              <p:spPr>
                <a:xfrm>
                  <a:off x="2171700" y="152400"/>
                  <a:ext cx="171600" cy="247800"/>
                </a:xfrm>
                <a:prstGeom prst="roundRect">
                  <a:avLst>
                    <a:gd fmla="val 5555" name="adj"/>
                  </a:avLst>
                </a:prstGeom>
                <a:solidFill>
                  <a:srgbClr val="E0E2E9">
                    <a:alpha val="5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2" name="Google Shape;152;p6"/>
              <p:cNvSpPr txBox="1"/>
              <p:nvPr/>
            </p:nvSpPr>
            <p:spPr>
              <a:xfrm>
                <a:off x="0" y="895350"/>
                <a:ext cx="2305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650">
                    <a:solidFill>
                      <a:srgbClr val="5B5E64"/>
                    </a:solidFill>
                    <a:latin typeface="Inter"/>
                    <a:ea typeface="Inter"/>
                    <a:cs typeface="Inter"/>
                    <a:sym typeface="Inter"/>
                  </a:rPr>
                  <a:t>Fluid horizontal scrolling track with scroll snapping. Preserves column integrity, full drag-and-drop sortability, and inline card creation buttons.</a:t>
                </a:r>
                <a:endParaRPr b="0" sz="650">
                  <a:solidFill>
                    <a:srgbClr val="5B5E6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53" name="Google Shape;153;p6"/>
              <p:cNvGrpSpPr/>
              <p:nvPr/>
            </p:nvGrpSpPr>
            <p:grpSpPr>
              <a:xfrm>
                <a:off x="0" y="1657350"/>
                <a:ext cx="2209800" cy="171600"/>
                <a:chOff x="0" y="0"/>
                <a:chExt cx="2209800" cy="171600"/>
              </a:xfrm>
            </p:grpSpPr>
            <p:sp>
              <p:nvSpPr>
                <p:cNvPr id="154" name="Google Shape;154;p6"/>
                <p:cNvSpPr/>
                <p:nvPr/>
              </p:nvSpPr>
              <p:spPr>
                <a:xfrm>
                  <a:off x="0" y="0"/>
                  <a:ext cx="7431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5" name="Google Shape;155;p6"/>
                <p:cNvSpPr txBox="1"/>
                <p:nvPr/>
              </p:nvSpPr>
              <p:spPr>
                <a:xfrm>
                  <a:off x="0" y="0"/>
                  <a:ext cx="7431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820px / 1024px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  <p:sp>
              <p:nvSpPr>
                <p:cNvPr id="156" name="Google Shape;156;p6"/>
                <p:cNvSpPr/>
                <p:nvPr/>
              </p:nvSpPr>
              <p:spPr>
                <a:xfrm>
                  <a:off x="790575" y="0"/>
                  <a:ext cx="8001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6"/>
                <p:cNvSpPr txBox="1"/>
                <p:nvPr/>
              </p:nvSpPr>
              <p:spPr>
                <a:xfrm>
                  <a:off x="790575" y="0"/>
                  <a:ext cx="8001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Scroll Snapping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  <p:sp>
              <p:nvSpPr>
                <p:cNvPr id="158" name="Google Shape;158;p6"/>
                <p:cNvSpPr/>
                <p:nvPr/>
              </p:nvSpPr>
              <p:spPr>
                <a:xfrm>
                  <a:off x="1638300" y="0"/>
                  <a:ext cx="5715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6"/>
                <p:cNvSpPr txBox="1"/>
                <p:nvPr/>
              </p:nvSpPr>
              <p:spPr>
                <a:xfrm>
                  <a:off x="1638300" y="0"/>
                  <a:ext cx="5715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SortableJS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</p:grpSp>
        </p:grpSp>
      </p:grpSp>
      <p:grpSp>
        <p:nvGrpSpPr>
          <p:cNvPr id="160" name="Google Shape;160;p6"/>
          <p:cNvGrpSpPr/>
          <p:nvPr/>
        </p:nvGrpSpPr>
        <p:grpSpPr>
          <a:xfrm>
            <a:off x="6076950" y="1809750"/>
            <a:ext cx="2610000" cy="2143200"/>
            <a:chOff x="0" y="0"/>
            <a:chExt cx="2610000" cy="2143200"/>
          </a:xfrm>
        </p:grpSpPr>
        <p:sp>
          <p:nvSpPr>
            <p:cNvPr id="161" name="Google Shape;161;p6"/>
            <p:cNvSpPr/>
            <p:nvPr/>
          </p:nvSpPr>
          <p:spPr>
            <a:xfrm>
              <a:off x="0" y="0"/>
              <a:ext cx="2610000" cy="2143200"/>
            </a:xfrm>
            <a:prstGeom prst="roundRect">
              <a:avLst>
                <a:gd fmla="val 1333" name="adj"/>
              </a:avLst>
            </a:prstGeom>
            <a:solidFill>
              <a:srgbClr val="FAF9F5"/>
            </a:solidFill>
            <a:ln cap="flat" cmpd="sng" w="9525">
              <a:solidFill>
                <a:srgbClr val="7677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6"/>
            <p:cNvGrpSpPr/>
            <p:nvPr/>
          </p:nvGrpSpPr>
          <p:grpSpPr>
            <a:xfrm>
              <a:off x="152400" y="133350"/>
              <a:ext cx="2305200" cy="1828950"/>
              <a:chOff x="0" y="0"/>
              <a:chExt cx="2305200" cy="1828950"/>
            </a:xfrm>
          </p:grpSpPr>
          <p:sp>
            <p:nvSpPr>
              <p:cNvPr id="163" name="Google Shape;163;p6"/>
              <p:cNvSpPr txBox="1"/>
              <p:nvPr/>
            </p:nvSpPr>
            <p:spPr>
              <a:xfrm>
                <a:off x="0" y="0"/>
                <a:ext cx="23052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550">
                    <a:solidFill>
                      <a:srgbClr val="5B5E64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rPr>
                  <a:t>MOBILE COMPACT</a:t>
                </a:r>
                <a:endParaRPr b="0" sz="550">
                  <a:solidFill>
                    <a:srgbClr val="5B5E64"/>
                  </a:solidFill>
                  <a:latin typeface="JetBrains Mono Medium"/>
                  <a:ea typeface="JetBrains Mono Medium"/>
                  <a:cs typeface="JetBrains Mono Medium"/>
                  <a:sym typeface="JetBrains Mono Medium"/>
                </a:endParaRPr>
              </a:p>
            </p:txBody>
          </p:sp>
          <p:sp>
            <p:nvSpPr>
              <p:cNvPr id="164" name="Google Shape;164;p6"/>
              <p:cNvSpPr txBox="1"/>
              <p:nvPr/>
            </p:nvSpPr>
            <p:spPr>
              <a:xfrm>
                <a:off x="0" y="114300"/>
                <a:ext cx="23052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7080A"/>
                    </a:solidFill>
                    <a:latin typeface="Inter"/>
                    <a:ea typeface="Inter"/>
                    <a:cs typeface="Inter"/>
                    <a:sym typeface="Inter"/>
                  </a:rPr>
                  <a:t>360px — 430px Handhelds</a:t>
                </a:r>
                <a:endParaRPr b="1" sz="1100">
                  <a:solidFill>
                    <a:srgbClr val="07080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65" name="Google Shape;165;p6"/>
              <p:cNvGrpSpPr/>
              <p:nvPr/>
            </p:nvGrpSpPr>
            <p:grpSpPr>
              <a:xfrm>
                <a:off x="0" y="361950"/>
                <a:ext cx="2305200" cy="457200"/>
                <a:chOff x="0" y="0"/>
                <a:chExt cx="2305200" cy="457200"/>
              </a:xfrm>
            </p:grpSpPr>
            <p:sp>
              <p:nvSpPr>
                <p:cNvPr id="166" name="Google Shape;166;p6"/>
                <p:cNvSpPr/>
                <p:nvPr/>
              </p:nvSpPr>
              <p:spPr>
                <a:xfrm>
                  <a:off x="0" y="0"/>
                  <a:ext cx="2305200" cy="457200"/>
                </a:xfrm>
                <a:prstGeom prst="roundRect">
                  <a:avLst>
                    <a:gd fmla="val 4166" name="adj"/>
                  </a:avLst>
                </a:prstGeom>
                <a:solidFill>
                  <a:srgbClr val="F3F2EC"/>
                </a:solidFill>
                <a:ln cap="flat" cmpd="sng" w="9525">
                  <a:solidFill>
                    <a:srgbClr val="E0E2E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" name="Google Shape;167;p6"/>
                <p:cNvSpPr/>
                <p:nvPr/>
              </p:nvSpPr>
              <p:spPr>
                <a:xfrm>
                  <a:off x="723900" y="38100"/>
                  <a:ext cx="857400" cy="381000"/>
                </a:xfrm>
                <a:prstGeom prst="roundRect">
                  <a:avLst>
                    <a:gd fmla="val 7500" name="adj"/>
                  </a:avLst>
                </a:prstGeom>
                <a:solidFill>
                  <a:srgbClr val="FAF9F5"/>
                </a:solidFill>
                <a:ln cap="flat" cmpd="sng" w="7150">
                  <a:solidFill>
                    <a:srgbClr val="76777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" name="Google Shape;168;p6"/>
                <p:cNvSpPr/>
                <p:nvPr/>
              </p:nvSpPr>
              <p:spPr>
                <a:xfrm>
                  <a:off x="800100" y="76200"/>
                  <a:ext cx="705000" cy="381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76777B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" name="Google Shape;169;p6"/>
                <p:cNvSpPr/>
                <p:nvPr/>
              </p:nvSpPr>
              <p:spPr>
                <a:xfrm>
                  <a:off x="800100" y="142875"/>
                  <a:ext cx="705000" cy="190500"/>
                </a:xfrm>
                <a:prstGeom prst="roundRect">
                  <a:avLst>
                    <a:gd fmla="val 5000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" name="Google Shape;170;p6"/>
                <p:cNvSpPr/>
                <p:nvPr/>
              </p:nvSpPr>
              <p:spPr>
                <a:xfrm>
                  <a:off x="800100" y="352425"/>
                  <a:ext cx="705000" cy="38100"/>
                </a:xfrm>
                <a:prstGeom prst="roundRect">
                  <a:avLst>
                    <a:gd fmla="val 25000" name="adj"/>
                  </a:avLst>
                </a:prstGeom>
                <a:solidFill>
                  <a:srgbClr val="76777B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1" name="Google Shape;171;p6"/>
              <p:cNvSpPr txBox="1"/>
              <p:nvPr/>
            </p:nvSpPr>
            <p:spPr>
              <a:xfrm>
                <a:off x="0" y="895350"/>
                <a:ext cx="2305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650">
                    <a:solidFill>
                      <a:srgbClr val="5B5E64"/>
                    </a:solidFill>
                    <a:latin typeface="Inter"/>
                    <a:ea typeface="Inter"/>
                    <a:cs typeface="Inter"/>
                    <a:sym typeface="Inter"/>
                  </a:rPr>
                  <a:t>Wabi-sabi reduction merged with Linear/Raycast keyboard speed. High contrast sumi ink on natural unbleached sand surfaces, devoid of ambient visual noise.</a:t>
                </a:r>
                <a:endParaRPr b="0" sz="650">
                  <a:solidFill>
                    <a:srgbClr val="5B5E64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172" name="Google Shape;172;p6"/>
              <p:cNvGrpSpPr/>
              <p:nvPr/>
            </p:nvGrpSpPr>
            <p:grpSpPr>
              <a:xfrm>
                <a:off x="0" y="1657350"/>
                <a:ext cx="2229000" cy="171600"/>
                <a:chOff x="0" y="0"/>
                <a:chExt cx="2229000" cy="171600"/>
              </a:xfrm>
            </p:grpSpPr>
            <p:sp>
              <p:nvSpPr>
                <p:cNvPr id="173" name="Google Shape;173;p6"/>
                <p:cNvSpPr/>
                <p:nvPr/>
              </p:nvSpPr>
              <p:spPr>
                <a:xfrm>
                  <a:off x="0" y="0"/>
                  <a:ext cx="7050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6"/>
                <p:cNvSpPr txBox="1"/>
                <p:nvPr/>
              </p:nvSpPr>
              <p:spPr>
                <a:xfrm>
                  <a:off x="0" y="0"/>
                  <a:ext cx="7050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390x844 Base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  <p:sp>
              <p:nvSpPr>
                <p:cNvPr id="175" name="Google Shape;175;p6"/>
                <p:cNvSpPr/>
                <p:nvPr/>
              </p:nvSpPr>
              <p:spPr>
                <a:xfrm>
                  <a:off x="752475" y="0"/>
                  <a:ext cx="7620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" name="Google Shape;176;p6"/>
                <p:cNvSpPr txBox="1"/>
                <p:nvPr/>
              </p:nvSpPr>
              <p:spPr>
                <a:xfrm>
                  <a:off x="752475" y="0"/>
                  <a:ext cx="7620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Touch Snapping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  <p:sp>
              <p:nvSpPr>
                <p:cNvPr id="177" name="Google Shape;177;p6"/>
                <p:cNvSpPr/>
                <p:nvPr/>
              </p:nvSpPr>
              <p:spPr>
                <a:xfrm>
                  <a:off x="1562100" y="0"/>
                  <a:ext cx="666900" cy="171600"/>
                </a:xfrm>
                <a:prstGeom prst="roundRect">
                  <a:avLst>
                    <a:gd fmla="val 11111" name="adj"/>
                  </a:avLst>
                </a:prstGeom>
                <a:solidFill>
                  <a:srgbClr val="E0E2E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" name="Google Shape;178;p6"/>
                <p:cNvSpPr txBox="1"/>
                <p:nvPr/>
              </p:nvSpPr>
              <p:spPr>
                <a:xfrm>
                  <a:off x="1562100" y="0"/>
                  <a:ext cx="666900" cy="171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-US" sz="520">
                      <a:solidFill>
                        <a:srgbClr val="07080A"/>
                      </a:solidFill>
                      <a:latin typeface="JetBrains Mono Medium"/>
                      <a:ea typeface="JetBrains Mono Medium"/>
                      <a:cs typeface="JetBrains Mono Medium"/>
                      <a:sym typeface="JetBrains Mono Medium"/>
                    </a:rPr>
                    <a:t>Tab Switcher</a:t>
                  </a:r>
                  <a:endParaRPr b="0" sz="520">
                    <a:solidFill>
                      <a:srgbClr val="07080A"/>
                    </a:solidFill>
                    <a:latin typeface="JetBrains Mono Medium"/>
                    <a:ea typeface="JetBrains Mono Medium"/>
                    <a:cs typeface="JetBrains Mono Medium"/>
                    <a:sym typeface="JetBrains Mono Medium"/>
                  </a:endParaRPr>
                </a:p>
              </p:txBody>
            </p:sp>
          </p:grpSp>
        </p:grpSp>
      </p:grpSp>
      <p:sp>
        <p:nvSpPr>
          <p:cNvPr id="179" name="Google Shape;179;p6"/>
          <p:cNvSpPr/>
          <p:nvPr/>
        </p:nvSpPr>
        <p:spPr>
          <a:xfrm>
            <a:off x="457200" y="4121944"/>
            <a:ext cx="8229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180" name="Google Shape;1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457200" y="4220242"/>
            <a:ext cx="1394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ZEN-RESPONSIVE-06 // ADAPTIVE MULTI-DEVICE CONTRACT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442817" y="4220242"/>
            <a:ext cx="243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57200" y="342900"/>
            <a:ext cx="8229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457200" y="375047"/>
            <a:ext cx="28500" cy="28500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42925" y="342900"/>
            <a:ext cx="16764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PACKAGING &amp; DEPLOYMENT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082772" y="342900"/>
            <a:ext cx="6039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OPERATIONS // DOCKER 07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57200" y="781717"/>
            <a:ext cx="82296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DETERMINISTIC TOOLCHAIN &amp; CONTAINERIZATION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57200" y="914400"/>
            <a:ext cx="57150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uv Environment &amp; Docker Compose</a:t>
            </a:r>
            <a:endParaRPr b="1" sz="22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" y="1333500"/>
            <a:ext cx="609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Modern Python engineering with zero virtualenv drift. Multi-stage Docker container utilizing astral uv for sub-second builds and volume-backed database persistence.</a:t>
            </a:r>
            <a:endParaRPr b="0" sz="8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57200" y="2209800"/>
            <a:ext cx="2552700" cy="1752600"/>
          </a:xfrm>
          <a:prstGeom prst="roundRect">
            <a:avLst>
              <a:gd fmla="val 2173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09600" y="2362200"/>
            <a:ext cx="2247900" cy="1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PACKAGE MANAGER</a:t>
            </a:r>
            <a:endParaRPr b="0" sz="60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09600" y="2533650"/>
            <a:ext cx="2247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Astral uv Tooling</a:t>
            </a:r>
            <a:endParaRPr b="1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09600" y="2800350"/>
            <a:ext cx="2247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Replaces pip, pip-tools, and poetry with lightning-fast Rust-based package resolution. Fully locked via uv.lock for deterministic builds across all platforms.</a:t>
            </a:r>
            <a:endParaRPr b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09600" y="3581400"/>
            <a:ext cx="5334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uv sync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200150" y="3581400"/>
            <a:ext cx="5334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uv.lock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790700" y="3581400"/>
            <a:ext cx="7812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pyproject.toml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3295650" y="2209800"/>
            <a:ext cx="2552700" cy="1752600"/>
          </a:xfrm>
          <a:prstGeom prst="roundRect">
            <a:avLst>
              <a:gd fmla="val 2173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448050" y="2362200"/>
            <a:ext cx="2247900" cy="1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MULTI-STAGE DOCKER</a:t>
            </a:r>
            <a:endParaRPr b="0" sz="60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448050" y="2533650"/>
            <a:ext cx="2247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Lean Container Images</a:t>
            </a:r>
            <a:endParaRPr b="1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3448050" y="2800350"/>
            <a:ext cx="2247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Multi-stage Dockerfile leveraging distroless/python-slim base. Runs under non-privileged app user with built-in HTTP curl healthchecks on /health.</a:t>
            </a:r>
            <a:endParaRPr b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3448050" y="3581400"/>
            <a:ext cx="723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Non-Root User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229100" y="3581400"/>
            <a:ext cx="666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Multi-Stage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953000" y="3581400"/>
            <a:ext cx="6858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Healthcheck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134100" y="2209800"/>
            <a:ext cx="2552700" cy="1752600"/>
          </a:xfrm>
          <a:prstGeom prst="roundRect">
            <a:avLst>
              <a:gd fmla="val 2173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286500" y="2362200"/>
            <a:ext cx="2247900" cy="1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0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DEVELOPER SCRIPTS</a:t>
            </a:r>
            <a:endParaRPr b="0" sz="60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286500" y="2533650"/>
            <a:ext cx="2247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manage.py &amp; Makefile</a:t>
            </a:r>
            <a:endParaRPr b="1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286500" y="2800350"/>
            <a:ext cx="22479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Wabi-sabi reduction merged with Linear/Raycast keyboard speed. High contrast sumi ink on natural unbleached sand surfaces, devoid of ambient visual noise.</a:t>
            </a:r>
            <a:endParaRPr b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286500" y="3581400"/>
            <a:ext cx="6477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manage.py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991350" y="3581400"/>
            <a:ext cx="6096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make dev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658100" y="3581400"/>
            <a:ext cx="723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compose up</a:t>
            </a:r>
            <a:endParaRPr b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7200" y="4121944"/>
            <a:ext cx="8229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/>
          <p:nvPr/>
        </p:nvSpPr>
        <p:spPr>
          <a:xfrm>
            <a:off x="457200" y="4220242"/>
            <a:ext cx="1394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ZEN-DEVOPS-07 // PACKAGING &amp; CONTAINER PIPELINE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442817" y="4220242"/>
            <a:ext cx="243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57200" y="342900"/>
            <a:ext cx="8229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457200" y="375047"/>
            <a:ext cx="28500" cy="28500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42925" y="342900"/>
            <a:ext cx="16764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PROJECT ROADMAP &amp; VERIFICATION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082772" y="342900"/>
            <a:ext cx="6039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VERIFICATION // QA 08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57200" y="781717"/>
            <a:ext cx="8229600" cy="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SPEC-DRIVEN PHASES &amp; 100% TEST COVERAGE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57200" y="914400"/>
            <a:ext cx="57150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Execution Roadmap &amp; Quality Gate</a:t>
            </a:r>
            <a:endParaRPr b="1" i="0" sz="22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37" name="Google Shape;237;p8"/>
          <p:cNvGrpSpPr/>
          <p:nvPr/>
        </p:nvGrpSpPr>
        <p:grpSpPr>
          <a:xfrm>
            <a:off x="1638300" y="1847850"/>
            <a:ext cx="5867400" cy="190500"/>
            <a:chOff x="1181100" y="19050"/>
            <a:chExt cx="5867400" cy="190500"/>
          </a:xfrm>
        </p:grpSpPr>
        <p:pic>
          <p:nvPicPr>
            <p:cNvPr id="238" name="Google Shape;23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6350" y="109538"/>
              <a:ext cx="5676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8"/>
            <p:cNvSpPr/>
            <p:nvPr/>
          </p:nvSpPr>
          <p:spPr>
            <a:xfrm>
              <a:off x="1181100" y="19050"/>
              <a:ext cx="190500" cy="190500"/>
            </a:xfrm>
            <a:prstGeom prst="ellipse">
              <a:avLst/>
            </a:prstGeom>
            <a:solidFill>
              <a:srgbClr val="0708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1181100" y="57150"/>
              <a:ext cx="1905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01</a:t>
              </a:r>
              <a:endParaRPr b="1" sz="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4019550" y="19050"/>
              <a:ext cx="190500" cy="190500"/>
            </a:xfrm>
            <a:prstGeom prst="ellipse">
              <a:avLst/>
            </a:prstGeom>
            <a:solidFill>
              <a:srgbClr val="07080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4019550" y="57150"/>
              <a:ext cx="1905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02</a:t>
              </a:r>
              <a:endParaRPr b="1" sz="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6858000" y="19050"/>
              <a:ext cx="190500" cy="1905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6858000" y="57150"/>
              <a:ext cx="1905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00">
                  <a:solidFill>
                    <a:srgbClr val="FFFFFF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✓</a:t>
              </a:r>
              <a:endParaRPr b="1" sz="6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245" name="Google Shape;245;p8"/>
          <p:cNvSpPr/>
          <p:nvPr/>
        </p:nvSpPr>
        <p:spPr>
          <a:xfrm>
            <a:off x="457200" y="1333500"/>
            <a:ext cx="647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Disciplined spec-driven lifecycle across 4 completed phases with 14 GitHub issues, 43 automated integration tests, and 100% test pass rate.</a:t>
            </a:r>
            <a:endParaRPr b="0" i="0" sz="8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57200" y="2133600"/>
            <a:ext cx="2552700" cy="1809600"/>
          </a:xfrm>
          <a:prstGeom prst="roundRect">
            <a:avLst>
              <a:gd fmla="val 2105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09600" y="2286000"/>
            <a:ext cx="2247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PHASE 1 &amp; 2 SCOPE</a:t>
            </a:r>
            <a:endParaRPr b="0" i="0" sz="55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09600" y="2438400"/>
            <a:ext cx="2247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Frontend &amp; SQLite Persistence</a:t>
            </a:r>
            <a:endParaRPr b="1" i="0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609600" y="2705100"/>
            <a:ext cx="2247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Issues #1–#6:</a:t>
            </a: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 UI scaffold, SortableJS, edit modal &amp; dummy backend.</a:t>
            </a:r>
            <a:endParaRPr b="0" i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Issues #7–#10:</a:t>
            </a: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 SQLModel entities, Float ranking engine &amp; route wiring.</a:t>
            </a:r>
            <a:endParaRPr b="0" i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09600" y="3581400"/>
            <a:ext cx="666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Phase 1 Done</a:t>
            </a:r>
            <a:endParaRPr b="0" i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333500" y="3581400"/>
            <a:ext cx="666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Phase 2 Done</a:t>
            </a:r>
            <a:endParaRPr b="0" i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2057400" y="3581400"/>
            <a:ext cx="8001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Issues #1-#10</a:t>
            </a:r>
            <a:endParaRPr b="0" i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295650" y="2133600"/>
            <a:ext cx="2552700" cy="1809600"/>
          </a:xfrm>
          <a:prstGeom prst="roundRect">
            <a:avLst>
              <a:gd fmla="val 2105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3448050" y="2286000"/>
            <a:ext cx="2247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5B5E64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PHASE 3 &amp; 4 SCOPE</a:t>
            </a:r>
            <a:endParaRPr b="0" i="0" sz="550">
              <a:solidFill>
                <a:srgbClr val="5B5E64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3448050" y="2438400"/>
            <a:ext cx="2247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Deploy &amp; Zen Design Refresh</a:t>
            </a:r>
            <a:endParaRPr b="1" i="0" sz="1100">
              <a:solidFill>
                <a:srgbClr val="07080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448050" y="2705100"/>
            <a:ext cx="2247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Issues #11–#12:</a:t>
            </a: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 Multi-stage Docker, healthcheck &amp; compose setup.</a:t>
            </a:r>
            <a:endParaRPr b="0" i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Issues #13–#14:</a:t>
            </a:r>
            <a:r>
              <a:rPr b="0" i="0" lang="en-US" sz="750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 Zen Precision SaaS design system &amp; board layout.</a:t>
            </a:r>
            <a:endParaRPr b="0" i="0" sz="750">
              <a:solidFill>
                <a:srgbClr val="5B5E6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448050" y="3581400"/>
            <a:ext cx="666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Phase 3 Done</a:t>
            </a:r>
            <a:endParaRPr b="0" i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171950" y="3581400"/>
            <a:ext cx="6669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Phase 4 Done</a:t>
            </a:r>
            <a:endParaRPr b="0" i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895850" y="3581400"/>
            <a:ext cx="800100" cy="190500"/>
          </a:xfrm>
          <a:prstGeom prst="roundRect">
            <a:avLst>
              <a:gd fmla="val 15000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07080A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Issues #11-#14</a:t>
            </a:r>
            <a:endParaRPr b="0" i="0" sz="550">
              <a:solidFill>
                <a:srgbClr val="07080A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6134100" y="2133600"/>
            <a:ext cx="2552700" cy="1809600"/>
          </a:xfrm>
          <a:prstGeom prst="roundRect">
            <a:avLst>
              <a:gd fmla="val 2105" name="adj"/>
            </a:avLst>
          </a:prstGeom>
          <a:solidFill>
            <a:srgbClr val="07080A"/>
          </a:solidFill>
          <a:ln cap="flat" cmpd="sng" w="143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286500" y="2286000"/>
            <a:ext cx="2247900" cy="1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VERIFICATION QUALITY GATE</a:t>
            </a:r>
            <a:endParaRPr b="1" i="0" sz="550">
              <a:solidFill>
                <a:srgbClr val="10B98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286500" y="2438400"/>
            <a:ext cx="2247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43 Automated Tests (100%)</a:t>
            </a:r>
            <a:endParaRPr b="1" i="0" sz="11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6286500" y="2705100"/>
            <a:ext cx="2247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Wabi-sabi reduction merged with Linear/Raycast keyboard speed. High contrast sumi ink on natural unbleached sand surfaces, devoid of ambient visual noise.</a:t>
            </a:r>
            <a:endParaRPr b="0" i="0" sz="7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286500" y="3581400"/>
            <a:ext cx="685800" cy="190500"/>
          </a:xfrm>
          <a:prstGeom prst="roundRect">
            <a:avLst>
              <a:gd fmla="val 15000" name="adj"/>
            </a:avLst>
          </a:prstGeom>
          <a:solidFill>
            <a:srgbClr val="064E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43 Passed</a:t>
            </a:r>
            <a:endParaRPr b="1" i="0" sz="550">
              <a:solidFill>
                <a:srgbClr val="34D39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7029450" y="3581400"/>
            <a:ext cx="800100" cy="190500"/>
          </a:xfrm>
          <a:prstGeom prst="roundRect">
            <a:avLst>
              <a:gd fmla="val 15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F8FAFC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1.95s Runtime</a:t>
            </a:r>
            <a:endParaRPr b="0" i="0" sz="550">
              <a:solidFill>
                <a:srgbClr val="F8FAFC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886700" y="3581400"/>
            <a:ext cx="647700" cy="190500"/>
          </a:xfrm>
          <a:prstGeom prst="roundRect">
            <a:avLst>
              <a:gd fmla="val 15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0">
                <a:solidFill>
                  <a:srgbClr val="F8FAFC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Zero Regress</a:t>
            </a:r>
            <a:endParaRPr b="0" i="0" sz="550">
              <a:solidFill>
                <a:srgbClr val="F8FAFC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57200" y="4121944"/>
            <a:ext cx="8229600" cy="1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268" name="Google Shape;26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/>
          <p:nvPr/>
        </p:nvSpPr>
        <p:spPr>
          <a:xfrm>
            <a:off x="457200" y="4220242"/>
            <a:ext cx="1394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ZEN-ROADMAP-08 // SPEC-DRIVEN VERIFICATION COMPLETE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8442817" y="4220242"/>
            <a:ext cx="243900" cy="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"/>
          <p:cNvSpPr/>
          <p:nvPr/>
        </p:nvSpPr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284" name="Google Shape;2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"/>
          <p:cNvSpPr/>
          <p:nvPr/>
        </p:nvSpPr>
        <p:spPr>
          <a:xfrm>
            <a:off x="457200" y="375047"/>
            <a:ext cx="28575" cy="28575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"/>
          <p:cNvSpPr/>
          <p:nvPr/>
        </p:nvSpPr>
        <p:spPr>
          <a:xfrm>
            <a:off x="542925" y="342900"/>
            <a:ext cx="1676543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FASTKANBAN ARCHITECTURE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8082772" y="342900"/>
            <a:ext cx="604028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STACK // SPEC 01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"/>
          <p:cNvSpPr/>
          <p:nvPr/>
        </p:nvSpPr>
        <p:spPr>
          <a:xfrm>
            <a:off x="457200" y="781717"/>
            <a:ext cx="8229600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HYPERMEDIA-DRIVEN MINIMAL ORCHESTRATION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"/>
          <p:cNvSpPr/>
          <p:nvPr/>
        </p:nvSpPr>
        <p:spPr>
          <a:xfrm>
            <a:off x="457200" y="950785"/>
            <a:ext cx="3374898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FastAPI &amp; HTMX 2.x Architecture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"/>
          <p:cNvSpPr/>
          <p:nvPr/>
        </p:nvSpPr>
        <p:spPr>
          <a:xfrm>
            <a:off x="457200" y="1632775"/>
            <a:ext cx="297803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Synthesizing Pythonic asynchronous execution with hypermedia-driven DOM morphing. Elimination of SPA build churn in favor of serene, declarative operational density.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"/>
          <p:cNvSpPr/>
          <p:nvPr/>
        </p:nvSpPr>
        <p:spPr>
          <a:xfrm>
            <a:off x="457200" y="2546461"/>
            <a:ext cx="2654284" cy="1280922"/>
          </a:xfrm>
          <a:prstGeom prst="roundRect">
            <a:avLst>
              <a:gd fmla="val 837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"/>
          <p:cNvSpPr/>
          <p:nvPr/>
        </p:nvSpPr>
        <p:spPr>
          <a:xfrm>
            <a:off x="612648" y="2701909"/>
            <a:ext cx="234338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CORE RUNTIME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"/>
          <p:cNvSpPr/>
          <p:nvPr/>
        </p:nvSpPr>
        <p:spPr>
          <a:xfrm>
            <a:off x="612648" y="2844784"/>
            <a:ext cx="23433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FastAPI 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"/>
          <p:cNvSpPr/>
          <p:nvPr/>
        </p:nvSpPr>
        <p:spPr>
          <a:xfrm>
            <a:off x="612648" y="3073384"/>
            <a:ext cx="234338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Asynchronous ASGI server pipeline powered by Starlette &amp; SQLModel. Delivers validated type boundaries and near-instant JSON/HTML responses under 15ms.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"/>
          <p:cNvSpPr/>
          <p:nvPr/>
        </p:nvSpPr>
        <p:spPr>
          <a:xfrm>
            <a:off x="612648" y="3542014"/>
            <a:ext cx="492157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Python 3.12+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"/>
          <p:cNvSpPr/>
          <p:nvPr/>
        </p:nvSpPr>
        <p:spPr>
          <a:xfrm>
            <a:off x="1142905" y="3542014"/>
            <a:ext cx="492157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Uvicorn ASGI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"/>
          <p:cNvSpPr/>
          <p:nvPr/>
        </p:nvSpPr>
        <p:spPr>
          <a:xfrm>
            <a:off x="1673162" y="3542014"/>
            <a:ext cx="427006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Jinja2 SSR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"/>
          <p:cNvSpPr/>
          <p:nvPr/>
        </p:nvSpPr>
        <p:spPr>
          <a:xfrm>
            <a:off x="3244834" y="2546461"/>
            <a:ext cx="2654284" cy="1280922"/>
          </a:xfrm>
          <a:prstGeom prst="roundRect">
            <a:avLst>
              <a:gd fmla="val 837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"/>
          <p:cNvSpPr/>
          <p:nvPr/>
        </p:nvSpPr>
        <p:spPr>
          <a:xfrm>
            <a:off x="3400282" y="2701909"/>
            <a:ext cx="234338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TRANSPORT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3400282" y="2844784"/>
            <a:ext cx="23433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HTMX 2.0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"/>
          <p:cNvSpPr/>
          <p:nvPr/>
        </p:nvSpPr>
        <p:spPr>
          <a:xfrm>
            <a:off x="3400282" y="3073384"/>
            <a:ext cx="234338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Declarative HTML extensions replacing client state stores. Direct DOM element replacement using standard HTTP verbs without micro-bundle bloat.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"/>
          <p:cNvSpPr/>
          <p:nvPr/>
        </p:nvSpPr>
        <p:spPr>
          <a:xfrm>
            <a:off x="3400282" y="3542014"/>
            <a:ext cx="329327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hx-post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"/>
          <p:cNvSpPr/>
          <p:nvPr/>
        </p:nvSpPr>
        <p:spPr>
          <a:xfrm>
            <a:off x="3767709" y="3542014"/>
            <a:ext cx="394430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hx-target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"/>
          <p:cNvSpPr/>
          <p:nvPr/>
        </p:nvSpPr>
        <p:spPr>
          <a:xfrm>
            <a:off x="4200239" y="3542014"/>
            <a:ext cx="394430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outerHTML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"/>
          <p:cNvSpPr/>
          <p:nvPr/>
        </p:nvSpPr>
        <p:spPr>
          <a:xfrm>
            <a:off x="6032468" y="2546461"/>
            <a:ext cx="2654284" cy="1280922"/>
          </a:xfrm>
          <a:prstGeom prst="roundRect">
            <a:avLst>
              <a:gd fmla="val 837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"/>
          <p:cNvSpPr/>
          <p:nvPr/>
        </p:nvSpPr>
        <p:spPr>
          <a:xfrm>
            <a:off x="6187916" y="2701909"/>
            <a:ext cx="234338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 PARADIGM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"/>
          <p:cNvSpPr/>
          <p:nvPr/>
        </p:nvSpPr>
        <p:spPr>
          <a:xfrm>
            <a:off x="6187916" y="2844784"/>
            <a:ext cx="234338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Zen Precision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"/>
          <p:cNvSpPr/>
          <p:nvPr/>
        </p:nvSpPr>
        <p:spPr>
          <a:xfrm>
            <a:off x="6187916" y="3073384"/>
            <a:ext cx="234338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Wabi-sabi reduction merged with Linear/Raycast keyboard speed. High contrast sumi ink on natural unbleached sand surfaces, devoid of ambient visual noise.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"/>
          <p:cNvSpPr/>
          <p:nvPr/>
        </p:nvSpPr>
        <p:spPr>
          <a:xfrm>
            <a:off x="6187916" y="3542014"/>
            <a:ext cx="492157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#f3f2ec Sand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"/>
          <p:cNvSpPr/>
          <p:nvPr/>
        </p:nvSpPr>
        <p:spPr>
          <a:xfrm>
            <a:off x="6718173" y="3542014"/>
            <a:ext cx="492157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Hairline 1px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"/>
          <p:cNvSpPr/>
          <p:nvPr/>
        </p:nvSpPr>
        <p:spPr>
          <a:xfrm>
            <a:off x="7248430" y="3542014"/>
            <a:ext cx="589836" cy="129921"/>
          </a:xfrm>
          <a:prstGeom prst="roundRect">
            <a:avLst>
              <a:gd fmla="val 8248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19050" lIns="47625" spcFirstLastPara="1" rIns="47625" wrap="square" tIns="1905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0.125rem Radius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"/>
          <p:cNvSpPr/>
          <p:nvPr/>
        </p:nvSpPr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13" name="Google Shape;3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"/>
          <p:cNvSpPr/>
          <p:nvPr/>
        </p:nvSpPr>
        <p:spPr>
          <a:xfrm>
            <a:off x="457200" y="4220242"/>
            <a:ext cx="1394031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ZEN-STACK-01 // CORE SYSTEM ARCHITECTURE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"/>
          <p:cNvSpPr/>
          <p:nvPr/>
        </p:nvSpPr>
        <p:spPr>
          <a:xfrm>
            <a:off x="8442817" y="4220242"/>
            <a:ext cx="243983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"/>
          <p:cNvSpPr/>
          <p:nvPr/>
        </p:nvSpPr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24" name="Google Shape;3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"/>
          <p:cNvSpPr/>
          <p:nvPr/>
        </p:nvSpPr>
        <p:spPr>
          <a:xfrm>
            <a:off x="457200" y="375047"/>
            <a:ext cx="28575" cy="28575"/>
          </a:xfrm>
          <a:prstGeom prst="roundRect">
            <a:avLst>
              <a:gd fmla="val 37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"/>
          <p:cNvSpPr/>
          <p:nvPr/>
        </p:nvSpPr>
        <p:spPr>
          <a:xfrm>
            <a:off x="542925" y="342900"/>
            <a:ext cx="1364647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WORKSPACE TOPOLOGY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"/>
          <p:cNvSpPr/>
          <p:nvPr/>
        </p:nvSpPr>
        <p:spPr>
          <a:xfrm>
            <a:off x="7894034" y="342900"/>
            <a:ext cx="792766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TOPOLOGY // KANBAN 02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"/>
          <p:cNvSpPr/>
          <p:nvPr/>
        </p:nvSpPr>
        <p:spPr>
          <a:xfrm>
            <a:off x="457200" y="781717"/>
            <a:ext cx="8229600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3-COLUMN STRUCTURAL TASK MAPPING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"/>
          <p:cNvSpPr/>
          <p:nvPr/>
        </p:nvSpPr>
        <p:spPr>
          <a:xfrm>
            <a:off x="457200" y="950785"/>
            <a:ext cx="8229600" cy="208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17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Precision Task Board Composition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"/>
          <p:cNvSpPr/>
          <p:nvPr/>
        </p:nvSpPr>
        <p:spPr>
          <a:xfrm>
            <a:off x="457200" y="1235107"/>
            <a:ext cx="29780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5B5E64"/>
                </a:solidFill>
                <a:latin typeface="Inter"/>
                <a:ea typeface="Inter"/>
                <a:cs typeface="Inter"/>
                <a:sym typeface="Inter"/>
              </a:rPr>
              <a:t>Pure white surface cards (#faf9f5) arranged over dashed guide columns. Contact edges utilize hairline rules (#76777b) with zero ambient blur.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"/>
          <p:cNvSpPr/>
          <p:nvPr/>
        </p:nvSpPr>
        <p:spPr>
          <a:xfrm>
            <a:off x="457200" y="1635157"/>
            <a:ext cx="2667000" cy="2486787"/>
          </a:xfrm>
          <a:prstGeom prst="roundRect">
            <a:avLst>
              <a:gd fmla="val 431" name="adj"/>
            </a:avLst>
          </a:prstGeom>
          <a:solidFill>
            <a:srgbClr val="FAF9F5">
              <a:alpha val="65098"/>
            </a:srgbClr>
          </a:solidFill>
          <a:ln cap="flat" cmpd="sng" w="9525">
            <a:solidFill>
              <a:srgbClr val="76777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"/>
          <p:cNvSpPr/>
          <p:nvPr/>
        </p:nvSpPr>
        <p:spPr>
          <a:xfrm>
            <a:off x="555498" y="1733455"/>
            <a:ext cx="2470404" cy="164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33" name="Google Shape;33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498" y="1733455"/>
            <a:ext cx="2470404" cy="16497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"/>
          <p:cNvSpPr/>
          <p:nvPr/>
        </p:nvSpPr>
        <p:spPr>
          <a:xfrm>
            <a:off x="555498" y="1766792"/>
            <a:ext cx="38100" cy="38100"/>
          </a:xfrm>
          <a:prstGeom prst="roundRect">
            <a:avLst>
              <a:gd fmla="val 12500" name="adj"/>
            </a:avLst>
          </a:prstGeom>
          <a:noFill/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"/>
          <p:cNvSpPr/>
          <p:nvPr/>
        </p:nvSpPr>
        <p:spPr>
          <a:xfrm>
            <a:off x="631698" y="1735836"/>
            <a:ext cx="196596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95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525"/>
              <a:buFont typeface="JetBrains Mono"/>
              <a:buNone/>
            </a:pPr>
            <a:r>
              <a:rPr b="1" i="0" lang="en-US" sz="52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 DO</a:t>
            </a:r>
            <a:endParaRPr b="0" i="0" sz="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"/>
          <p:cNvSpPr/>
          <p:nvPr/>
        </p:nvSpPr>
        <p:spPr>
          <a:xfrm>
            <a:off x="2886837" y="1733455"/>
            <a:ext cx="139065" cy="104775"/>
          </a:xfrm>
          <a:prstGeom prst="roundRect">
            <a:avLst>
              <a:gd fmla="val 10227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38100" spcFirstLastPara="1" rIns="38100" wrap="square" tIns="95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"/>
          <p:cNvSpPr/>
          <p:nvPr/>
        </p:nvSpPr>
        <p:spPr>
          <a:xfrm>
            <a:off x="555498" y="1974628"/>
            <a:ext cx="2470404" cy="677799"/>
          </a:xfrm>
          <a:prstGeom prst="roundRect">
            <a:avLst>
              <a:gd fmla="val 1581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rotWithShape="0" algn="bl" dir="5400000" dist="4763">
              <a:srgbClr val="07080A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"/>
          <p:cNvSpPr/>
          <p:nvPr/>
        </p:nvSpPr>
        <p:spPr>
          <a:xfrm>
            <a:off x="653796" y="2072926"/>
            <a:ext cx="227380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ZN-101 — BACKEND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"/>
          <p:cNvSpPr/>
          <p:nvPr/>
        </p:nvSpPr>
        <p:spPr>
          <a:xfrm>
            <a:off x="653796" y="2215801"/>
            <a:ext cx="2273808" cy="10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Implement hx-trigger SSE endpoint for live sprint status updates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"/>
          <p:cNvSpPr/>
          <p:nvPr/>
        </p:nvSpPr>
        <p:spPr>
          <a:xfrm>
            <a:off x="653796" y="2398681"/>
            <a:ext cx="22738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41" name="Google Shape;34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796" y="2398681"/>
            <a:ext cx="227380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"/>
          <p:cNvSpPr/>
          <p:nvPr/>
        </p:nvSpPr>
        <p:spPr>
          <a:xfrm>
            <a:off x="653796" y="2445115"/>
            <a:ext cx="272129" cy="103727"/>
          </a:xfrm>
          <a:prstGeom prst="roundRect">
            <a:avLst>
              <a:gd fmla="val 10331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marR="0" rtl="0" algn="l">
              <a:lnSpc>
                <a:spcPct val="149878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13"/>
              <a:buFont typeface="JetBrains Mono"/>
              <a:buNone/>
            </a:pPr>
            <a:r>
              <a:rPr b="0" i="0" lang="en-US" sz="413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P1 High</a:t>
            </a:r>
            <a:endParaRPr b="0" i="0" sz="4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"/>
          <p:cNvSpPr/>
          <p:nvPr/>
        </p:nvSpPr>
        <p:spPr>
          <a:xfrm>
            <a:off x="2813304" y="2439829"/>
            <a:ext cx="114300" cy="114300"/>
          </a:xfrm>
          <a:prstGeom prst="roundRect">
            <a:avLst>
              <a:gd fmla="val 9375" name="adj"/>
            </a:avLst>
          </a:prstGeom>
          <a:solidFill>
            <a:srgbClr val="E0E2E9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133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375"/>
              <a:buFont typeface="JetBrains Mono"/>
              <a:buNone/>
            </a:pPr>
            <a:r>
              <a:rPr b="1" i="0" lang="en-US" sz="37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AK</a:t>
            </a:r>
            <a:endParaRPr b="0" i="0" sz="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"/>
          <p:cNvSpPr/>
          <p:nvPr/>
        </p:nvSpPr>
        <p:spPr>
          <a:xfrm>
            <a:off x="555498" y="2728627"/>
            <a:ext cx="2470404" cy="784479"/>
          </a:xfrm>
          <a:prstGeom prst="roundRect">
            <a:avLst>
              <a:gd fmla="val 1366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rotWithShape="0" algn="bl" dir="5400000" dist="4763">
              <a:srgbClr val="07080A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"/>
          <p:cNvSpPr/>
          <p:nvPr/>
        </p:nvSpPr>
        <p:spPr>
          <a:xfrm>
            <a:off x="653796" y="2826925"/>
            <a:ext cx="227380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ZN-102 — PERFORMANCE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"/>
          <p:cNvSpPr/>
          <p:nvPr/>
        </p:nvSpPr>
        <p:spPr>
          <a:xfrm>
            <a:off x="653796" y="2969800"/>
            <a:ext cx="227380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Benchmark response latency for partial card swaps under 50 concurrent devs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"/>
          <p:cNvSpPr/>
          <p:nvPr/>
        </p:nvSpPr>
        <p:spPr>
          <a:xfrm>
            <a:off x="653796" y="3259360"/>
            <a:ext cx="22738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48" name="Google Shape;3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796" y="3259360"/>
            <a:ext cx="227380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"/>
          <p:cNvSpPr/>
          <p:nvPr/>
        </p:nvSpPr>
        <p:spPr>
          <a:xfrm>
            <a:off x="653796" y="3305794"/>
            <a:ext cx="242316" cy="103727"/>
          </a:xfrm>
          <a:prstGeom prst="roundRect">
            <a:avLst>
              <a:gd fmla="val 10331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marR="0" rtl="0" algn="l">
              <a:lnSpc>
                <a:spcPct val="149878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13"/>
              <a:buFont typeface="JetBrains Mono"/>
              <a:buNone/>
            </a:pPr>
            <a:r>
              <a:rPr b="0" i="0" lang="en-US" sz="413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P2 Med</a:t>
            </a:r>
            <a:endParaRPr b="0" i="0" sz="4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"/>
          <p:cNvSpPr/>
          <p:nvPr/>
        </p:nvSpPr>
        <p:spPr>
          <a:xfrm>
            <a:off x="2813304" y="3300508"/>
            <a:ext cx="114300" cy="114300"/>
          </a:xfrm>
          <a:prstGeom prst="roundRect">
            <a:avLst>
              <a:gd fmla="val 9375" name="adj"/>
            </a:avLst>
          </a:prstGeom>
          <a:solidFill>
            <a:srgbClr val="E0E2E9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133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375"/>
              <a:buFont typeface="JetBrains Mono"/>
              <a:buNone/>
            </a:pPr>
            <a:r>
              <a:rPr b="1" i="0" lang="en-US" sz="37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</a:t>
            </a:r>
            <a:endParaRPr b="0" i="0" sz="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"/>
          <p:cNvSpPr/>
          <p:nvPr/>
        </p:nvSpPr>
        <p:spPr>
          <a:xfrm>
            <a:off x="3238500" y="1635157"/>
            <a:ext cx="2667000" cy="2486787"/>
          </a:xfrm>
          <a:prstGeom prst="roundRect">
            <a:avLst>
              <a:gd fmla="val 431" name="adj"/>
            </a:avLst>
          </a:prstGeom>
          <a:solidFill>
            <a:srgbClr val="FAF9F5">
              <a:alpha val="65098"/>
            </a:srgbClr>
          </a:solidFill>
          <a:ln cap="flat" cmpd="sng" w="9525">
            <a:solidFill>
              <a:srgbClr val="76777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"/>
          <p:cNvSpPr/>
          <p:nvPr/>
        </p:nvSpPr>
        <p:spPr>
          <a:xfrm>
            <a:off x="3336798" y="1733455"/>
            <a:ext cx="2470404" cy="164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53" name="Google Shape;3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6798" y="1733455"/>
            <a:ext cx="2470404" cy="16497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"/>
          <p:cNvSpPr/>
          <p:nvPr/>
        </p:nvSpPr>
        <p:spPr>
          <a:xfrm>
            <a:off x="3336798" y="1766792"/>
            <a:ext cx="38100" cy="38100"/>
          </a:xfrm>
          <a:prstGeom prst="roundRect">
            <a:avLst>
              <a:gd fmla="val 12500" name="adj"/>
            </a:avLst>
          </a:prstGeom>
          <a:solidFill>
            <a:srgbClr val="100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"/>
          <p:cNvSpPr/>
          <p:nvPr/>
        </p:nvSpPr>
        <p:spPr>
          <a:xfrm>
            <a:off x="3412998" y="1735836"/>
            <a:ext cx="432530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95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525"/>
              <a:buFont typeface="JetBrains Mono"/>
              <a:buNone/>
            </a:pPr>
            <a:r>
              <a:rPr b="1" i="0" lang="en-US" sz="52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PROGRESS</a:t>
            </a:r>
            <a:endParaRPr b="0" i="0" sz="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"/>
          <p:cNvSpPr/>
          <p:nvPr/>
        </p:nvSpPr>
        <p:spPr>
          <a:xfrm>
            <a:off x="5668137" y="1733455"/>
            <a:ext cx="139065" cy="104775"/>
          </a:xfrm>
          <a:prstGeom prst="roundRect">
            <a:avLst>
              <a:gd fmla="val 10227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38100" spcFirstLastPara="1" rIns="38100" wrap="square" tIns="95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"/>
          <p:cNvSpPr/>
          <p:nvPr/>
        </p:nvSpPr>
        <p:spPr>
          <a:xfrm>
            <a:off x="3336798" y="1974628"/>
            <a:ext cx="2470404" cy="784479"/>
          </a:xfrm>
          <a:prstGeom prst="roundRect">
            <a:avLst>
              <a:gd fmla="val 1366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rotWithShape="0" algn="bl" dir="5400000" dist="4763">
              <a:srgbClr val="07080A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"/>
          <p:cNvSpPr/>
          <p:nvPr/>
        </p:nvSpPr>
        <p:spPr>
          <a:xfrm>
            <a:off x="3435096" y="2072926"/>
            <a:ext cx="227380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ZN-098 — HYPERMEDIA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"/>
          <p:cNvSpPr/>
          <p:nvPr/>
        </p:nvSpPr>
        <p:spPr>
          <a:xfrm>
            <a:off x="3435096" y="2215801"/>
            <a:ext cx="227380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Migrate drag-and-drop event listeners to native hx-vals payload dispatch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"/>
          <p:cNvSpPr/>
          <p:nvPr/>
        </p:nvSpPr>
        <p:spPr>
          <a:xfrm>
            <a:off x="3435096" y="2505361"/>
            <a:ext cx="22738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61" name="Google Shape;36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5096" y="2505361"/>
            <a:ext cx="227380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"/>
          <p:cNvSpPr/>
          <p:nvPr/>
        </p:nvSpPr>
        <p:spPr>
          <a:xfrm>
            <a:off x="3435096" y="2551795"/>
            <a:ext cx="242316" cy="103727"/>
          </a:xfrm>
          <a:prstGeom prst="roundRect">
            <a:avLst>
              <a:gd fmla="val 10331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marR="0" rtl="0" algn="l">
              <a:lnSpc>
                <a:spcPct val="149878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13"/>
              <a:buFont typeface="JetBrains Mono"/>
              <a:buNone/>
            </a:pPr>
            <a:r>
              <a:rPr b="0" i="0" lang="en-US" sz="413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Active</a:t>
            </a:r>
            <a:endParaRPr b="0" i="0" sz="4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"/>
          <p:cNvSpPr/>
          <p:nvPr/>
        </p:nvSpPr>
        <p:spPr>
          <a:xfrm>
            <a:off x="5594604" y="2546509"/>
            <a:ext cx="114300" cy="114300"/>
          </a:xfrm>
          <a:prstGeom prst="roundRect">
            <a:avLst>
              <a:gd fmla="val 9375" name="adj"/>
            </a:avLst>
          </a:prstGeom>
          <a:solidFill>
            <a:srgbClr val="E0E2E9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133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375"/>
              <a:buFont typeface="JetBrains Mono"/>
              <a:buNone/>
            </a:pPr>
            <a:r>
              <a:rPr b="1" i="0" lang="en-US" sz="37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DL</a:t>
            </a:r>
            <a:endParaRPr b="0" i="0" sz="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"/>
          <p:cNvSpPr/>
          <p:nvPr/>
        </p:nvSpPr>
        <p:spPr>
          <a:xfrm>
            <a:off x="3336798" y="2835307"/>
            <a:ext cx="2470404" cy="784479"/>
          </a:xfrm>
          <a:prstGeom prst="roundRect">
            <a:avLst>
              <a:gd fmla="val 1366" name="adj"/>
            </a:avLst>
          </a:prstGeom>
          <a:solidFill>
            <a:srgbClr val="FAF9F5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rotWithShape="0" algn="bl" dir="5400000" dist="4763">
              <a:srgbClr val="07080A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"/>
          <p:cNvSpPr/>
          <p:nvPr/>
        </p:nvSpPr>
        <p:spPr>
          <a:xfrm>
            <a:off x="3435096" y="2933605"/>
            <a:ext cx="227380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ZN-099 — TOKENS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"/>
          <p:cNvSpPr/>
          <p:nvPr/>
        </p:nvSpPr>
        <p:spPr>
          <a:xfrm>
            <a:off x="3435096" y="3076480"/>
            <a:ext cx="227380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Enforce 0.125rem radius constraint across all nested swimlane cards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"/>
          <p:cNvSpPr/>
          <p:nvPr/>
        </p:nvSpPr>
        <p:spPr>
          <a:xfrm>
            <a:off x="3435096" y="3366040"/>
            <a:ext cx="22738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68" name="Google Shape;36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5096" y="3366040"/>
            <a:ext cx="227380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"/>
          <p:cNvSpPr/>
          <p:nvPr/>
        </p:nvSpPr>
        <p:spPr>
          <a:xfrm>
            <a:off x="3435096" y="3412474"/>
            <a:ext cx="242316" cy="103727"/>
          </a:xfrm>
          <a:prstGeom prst="roundRect">
            <a:avLst>
              <a:gd fmla="val 10331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marR="0" rtl="0" algn="l">
              <a:lnSpc>
                <a:spcPct val="149878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13"/>
              <a:buFont typeface="JetBrains Mono"/>
              <a:buNone/>
            </a:pPr>
            <a:r>
              <a:rPr b="0" i="0" lang="en-US" sz="413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Active</a:t>
            </a:r>
            <a:endParaRPr b="0" i="0" sz="4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"/>
          <p:cNvSpPr/>
          <p:nvPr/>
        </p:nvSpPr>
        <p:spPr>
          <a:xfrm>
            <a:off x="5594604" y="3407188"/>
            <a:ext cx="114300" cy="114300"/>
          </a:xfrm>
          <a:prstGeom prst="roundRect">
            <a:avLst>
              <a:gd fmla="val 9375" name="adj"/>
            </a:avLst>
          </a:prstGeom>
          <a:solidFill>
            <a:srgbClr val="E0E2E9"/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133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375"/>
              <a:buFont typeface="JetBrains Mono"/>
              <a:buNone/>
            </a:pPr>
            <a:r>
              <a:rPr b="1" i="0" lang="en-US" sz="37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SR</a:t>
            </a:r>
            <a:endParaRPr b="0" i="0" sz="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"/>
          <p:cNvSpPr/>
          <p:nvPr/>
        </p:nvSpPr>
        <p:spPr>
          <a:xfrm>
            <a:off x="6019800" y="1635157"/>
            <a:ext cx="2667000" cy="2486787"/>
          </a:xfrm>
          <a:prstGeom prst="roundRect">
            <a:avLst>
              <a:gd fmla="val 431" name="adj"/>
            </a:avLst>
          </a:prstGeom>
          <a:solidFill>
            <a:srgbClr val="FAF9F5">
              <a:alpha val="65098"/>
            </a:srgbClr>
          </a:solidFill>
          <a:ln cap="flat" cmpd="sng" w="9525">
            <a:solidFill>
              <a:srgbClr val="76777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"/>
          <p:cNvSpPr/>
          <p:nvPr/>
        </p:nvSpPr>
        <p:spPr>
          <a:xfrm>
            <a:off x="6118098" y="1733455"/>
            <a:ext cx="2470404" cy="164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73" name="Google Shape;37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8098" y="1733455"/>
            <a:ext cx="2470404" cy="164973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"/>
          <p:cNvSpPr/>
          <p:nvPr/>
        </p:nvSpPr>
        <p:spPr>
          <a:xfrm>
            <a:off x="6118098" y="1766792"/>
            <a:ext cx="38100" cy="38100"/>
          </a:xfrm>
          <a:prstGeom prst="roundRect">
            <a:avLst>
              <a:gd fmla="val 12500" name="adj"/>
            </a:avLst>
          </a:prstGeom>
          <a:solidFill>
            <a:srgbClr val="7677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"/>
          <p:cNvSpPr/>
          <p:nvPr/>
        </p:nvSpPr>
        <p:spPr>
          <a:xfrm>
            <a:off x="6194298" y="1735836"/>
            <a:ext cx="157305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95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525"/>
              <a:buFont typeface="JetBrains Mono"/>
              <a:buNone/>
            </a:pPr>
            <a:r>
              <a:rPr b="1" i="0" lang="en-US" sz="52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DONE</a:t>
            </a:r>
            <a:endParaRPr b="0" i="0" sz="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"/>
          <p:cNvSpPr/>
          <p:nvPr/>
        </p:nvSpPr>
        <p:spPr>
          <a:xfrm>
            <a:off x="8449437" y="1733455"/>
            <a:ext cx="139065" cy="104775"/>
          </a:xfrm>
          <a:prstGeom prst="roundRect">
            <a:avLst>
              <a:gd fmla="val 10227" name="adj"/>
            </a:avLst>
          </a:prstGeom>
          <a:solidFill>
            <a:srgbClr val="E0E2E9"/>
          </a:solidFill>
          <a:ln>
            <a:noFill/>
          </a:ln>
        </p:spPr>
        <p:txBody>
          <a:bodyPr anchorCtr="0" anchor="t" bIns="9525" lIns="38100" spcFirstLastPara="1" rIns="38100" wrap="square" tIns="95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"/>
          <p:cNvSpPr/>
          <p:nvPr/>
        </p:nvSpPr>
        <p:spPr>
          <a:xfrm>
            <a:off x="6118098" y="1974628"/>
            <a:ext cx="2470404" cy="784479"/>
          </a:xfrm>
          <a:prstGeom prst="roundRect">
            <a:avLst>
              <a:gd fmla="val 1366" name="adj"/>
            </a:avLst>
          </a:prstGeom>
          <a:solidFill>
            <a:srgbClr val="FAF9F5">
              <a:alpha val="85098"/>
            </a:srgbClr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rotWithShape="0" algn="bl" dir="5400000" dist="4763">
              <a:srgbClr val="07080A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"/>
          <p:cNvSpPr/>
          <p:nvPr/>
        </p:nvSpPr>
        <p:spPr>
          <a:xfrm>
            <a:off x="6216396" y="2072926"/>
            <a:ext cx="227380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ZN-092 — CORE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"/>
          <p:cNvSpPr/>
          <p:nvPr/>
        </p:nvSpPr>
        <p:spPr>
          <a:xfrm>
            <a:off x="6216396" y="2215801"/>
            <a:ext cx="227380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Configure FastAPI ASGI lifespan handlers for zero-downtime card sync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"/>
          <p:cNvSpPr/>
          <p:nvPr/>
        </p:nvSpPr>
        <p:spPr>
          <a:xfrm>
            <a:off x="6216396" y="2505361"/>
            <a:ext cx="22738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81" name="Google Shape;38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6396" y="2505361"/>
            <a:ext cx="227380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"/>
          <p:cNvSpPr/>
          <p:nvPr/>
        </p:nvSpPr>
        <p:spPr>
          <a:xfrm>
            <a:off x="6216396" y="2551795"/>
            <a:ext cx="301990" cy="103727"/>
          </a:xfrm>
          <a:prstGeom prst="roundRect">
            <a:avLst>
              <a:gd fmla="val 10331" name="adj"/>
            </a:avLst>
          </a:prstGeom>
          <a:solidFill>
            <a:srgbClr val="FAF9F5">
              <a:alpha val="85098"/>
            </a:srgbClr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marR="0" rtl="0" algn="l">
              <a:lnSpc>
                <a:spcPct val="149878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13"/>
              <a:buFont typeface="JetBrains Mono"/>
              <a:buNone/>
            </a:pPr>
            <a:r>
              <a:rPr b="0" i="0" lang="en-US" sz="413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</a:t>
            </a:r>
            <a:endParaRPr b="0" i="0" sz="4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"/>
          <p:cNvSpPr/>
          <p:nvPr/>
        </p:nvSpPr>
        <p:spPr>
          <a:xfrm>
            <a:off x="8375904" y="2546509"/>
            <a:ext cx="114300" cy="114300"/>
          </a:xfrm>
          <a:prstGeom prst="roundRect">
            <a:avLst>
              <a:gd fmla="val 9375" name="adj"/>
            </a:avLst>
          </a:prstGeom>
          <a:solidFill>
            <a:srgbClr val="E0E2E9">
              <a:alpha val="85098"/>
            </a:srgbClr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133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375"/>
              <a:buFont typeface="JetBrains Mono"/>
              <a:buNone/>
            </a:pPr>
            <a:r>
              <a:rPr b="1" i="0" lang="en-US" sz="37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TN</a:t>
            </a:r>
            <a:endParaRPr b="0" i="0" sz="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"/>
          <p:cNvSpPr/>
          <p:nvPr/>
        </p:nvSpPr>
        <p:spPr>
          <a:xfrm>
            <a:off x="6118098" y="2835307"/>
            <a:ext cx="2470404" cy="784479"/>
          </a:xfrm>
          <a:prstGeom prst="roundRect">
            <a:avLst>
              <a:gd fmla="val 1366" name="adj"/>
            </a:avLst>
          </a:prstGeom>
          <a:solidFill>
            <a:srgbClr val="FAF9F5">
              <a:alpha val="85098"/>
            </a:srgbClr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rotWithShape="0" algn="bl" dir="5400000" dist="4763">
              <a:srgbClr val="07080A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"/>
          <p:cNvSpPr/>
          <p:nvPr/>
        </p:nvSpPr>
        <p:spPr>
          <a:xfrm>
            <a:off x="6216396" y="2933605"/>
            <a:ext cx="227380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ZN-093 — ROUTING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"/>
          <p:cNvSpPr/>
          <p:nvPr/>
        </p:nvSpPr>
        <p:spPr>
          <a:xfrm>
            <a:off x="6216396" y="3076480"/>
            <a:ext cx="2273808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07080A"/>
                </a:solidFill>
                <a:latin typeface="Inter"/>
                <a:ea typeface="Inter"/>
                <a:cs typeface="Inter"/>
                <a:sym typeface="Inter"/>
              </a:rPr>
              <a:t>Replace SPA router with HTML partial response endpoints (/cards/{id})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"/>
          <p:cNvSpPr/>
          <p:nvPr/>
        </p:nvSpPr>
        <p:spPr>
          <a:xfrm>
            <a:off x="6216396" y="3366040"/>
            <a:ext cx="22738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88" name="Google Shape;38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6396" y="3366040"/>
            <a:ext cx="227380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"/>
          <p:cNvSpPr/>
          <p:nvPr/>
        </p:nvSpPr>
        <p:spPr>
          <a:xfrm>
            <a:off x="6216396" y="3412474"/>
            <a:ext cx="301990" cy="103727"/>
          </a:xfrm>
          <a:prstGeom prst="roundRect">
            <a:avLst>
              <a:gd fmla="val 10331" name="adj"/>
            </a:avLst>
          </a:prstGeom>
          <a:solidFill>
            <a:srgbClr val="FAF9F5">
              <a:alpha val="85098"/>
            </a:srgbClr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525" lIns="28575" spcFirstLastPara="1" rIns="28575" wrap="square" tIns="9525">
            <a:spAutoFit/>
          </a:bodyPr>
          <a:lstStyle/>
          <a:p>
            <a:pPr indent="0" lvl="0" marL="0" marR="0" rtl="0" algn="l">
              <a:lnSpc>
                <a:spcPct val="149878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413"/>
              <a:buFont typeface="JetBrains Mono"/>
              <a:buNone/>
            </a:pPr>
            <a:r>
              <a:rPr b="0" i="0" lang="en-US" sz="413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</a:t>
            </a:r>
            <a:endParaRPr b="0" i="0" sz="4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"/>
          <p:cNvSpPr/>
          <p:nvPr/>
        </p:nvSpPr>
        <p:spPr>
          <a:xfrm>
            <a:off x="8375904" y="3407188"/>
            <a:ext cx="114300" cy="114300"/>
          </a:xfrm>
          <a:prstGeom prst="roundRect">
            <a:avLst>
              <a:gd fmla="val 9375" name="adj"/>
            </a:avLst>
          </a:prstGeom>
          <a:solidFill>
            <a:srgbClr val="E0E2E9">
              <a:alpha val="85098"/>
            </a:srgbClr>
          </a:solidFill>
          <a:ln cap="flat" cmpd="sng" w="9525">
            <a:solidFill>
              <a:srgbClr val="7677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133"/>
              </a:lnSpc>
              <a:spcBef>
                <a:spcPts val="0"/>
              </a:spcBef>
              <a:spcAft>
                <a:spcPts val="0"/>
              </a:spcAft>
              <a:buClr>
                <a:srgbClr val="07080A"/>
              </a:buClr>
              <a:buSzPts val="375"/>
              <a:buFont typeface="JetBrains Mono"/>
              <a:buNone/>
            </a:pPr>
            <a:r>
              <a:rPr b="1" i="0" lang="en-US" sz="375" u="none" cap="none" strike="noStrike">
                <a:solidFill>
                  <a:srgbClr val="07080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AK</a:t>
            </a:r>
            <a:endParaRPr b="0" i="0" sz="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"/>
          <p:cNvSpPr/>
          <p:nvPr/>
        </p:nvSpPr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392" name="Google Shape;39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"/>
          <p:cNvSpPr/>
          <p:nvPr/>
        </p:nvSpPr>
        <p:spPr>
          <a:xfrm>
            <a:off x="457200" y="4220242"/>
            <a:ext cx="167282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ZEN-KANBAN-02 // WORKSPACE STRUCTURAL RECREATION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"/>
          <p:cNvSpPr/>
          <p:nvPr/>
        </p:nvSpPr>
        <p:spPr>
          <a:xfrm>
            <a:off x="8442817" y="4220242"/>
            <a:ext cx="243983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"/>
          <p:cNvSpPr/>
          <p:nvPr/>
        </p:nvSpPr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403" name="Google Shape;4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42900"/>
            <a:ext cx="8229600" cy="210217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"/>
          <p:cNvSpPr/>
          <p:nvPr/>
        </p:nvSpPr>
        <p:spPr>
          <a:xfrm>
            <a:off x="457200" y="375047"/>
            <a:ext cx="28575" cy="28575"/>
          </a:xfrm>
          <a:prstGeom prst="roundRect">
            <a:avLst>
              <a:gd fmla="val 37500" name="adj"/>
            </a:avLst>
          </a:prstGeom>
          <a:solidFill>
            <a:srgbClr val="FAF9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"/>
          <p:cNvSpPr/>
          <p:nvPr/>
        </p:nvSpPr>
        <p:spPr>
          <a:xfrm>
            <a:off x="542925" y="342900"/>
            <a:ext cx="1559576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 PRECISION SAAS — HYPERMEDIA PROTOCOL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"/>
          <p:cNvSpPr/>
          <p:nvPr/>
        </p:nvSpPr>
        <p:spPr>
          <a:xfrm>
            <a:off x="7931753" y="342900"/>
            <a:ext cx="755047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MECHANICS // SWAP 03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"/>
          <p:cNvSpPr/>
          <p:nvPr/>
        </p:nvSpPr>
        <p:spPr>
          <a:xfrm>
            <a:off x="457200" y="781717"/>
            <a:ext cx="8229600" cy="92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95"/>
              </a:lnSpc>
              <a:spcBef>
                <a:spcPts val="0"/>
              </a:spcBef>
              <a:spcAft>
                <a:spcPts val="0"/>
              </a:spcAft>
              <a:buClr>
                <a:srgbClr val="5B5E64"/>
              </a:buClr>
              <a:buSzPts val="488"/>
              <a:buFont typeface="JetBrains Mono"/>
              <a:buNone/>
            </a:pPr>
            <a:r>
              <a:rPr b="0" i="0" lang="en-US" sz="488" u="none" cap="none" strike="noStrike">
                <a:solidFill>
                  <a:srgbClr val="5B5E6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IMMEDIATE ZERO-FLICKER REACTIVITY</a:t>
            </a:r>
            <a:endParaRPr b="0" i="0" sz="4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"/>
          <p:cNvSpPr/>
          <p:nvPr/>
        </p:nvSpPr>
        <p:spPr>
          <a:xfrm>
            <a:off x="457200" y="950785"/>
            <a:ext cx="8229600" cy="208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17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Local State Swaps via HTMX 2.x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"/>
          <p:cNvSpPr/>
          <p:nvPr/>
        </p:nvSpPr>
        <p:spPr>
          <a:xfrm>
            <a:off x="457200" y="1235107"/>
            <a:ext cx="297803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E0E2E9"/>
                </a:solidFill>
                <a:latin typeface="Inter"/>
                <a:ea typeface="Inter"/>
                <a:cs typeface="Inter"/>
                <a:sym typeface="Inter"/>
              </a:rPr>
              <a:t>Eliminating full-page reloads and bulky virtual-DOM reconciliation through granular HTTP fragment replacement.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"/>
          <p:cNvSpPr/>
          <p:nvPr/>
        </p:nvSpPr>
        <p:spPr>
          <a:xfrm>
            <a:off x="457200" y="2209038"/>
            <a:ext cx="1985963" cy="1396175"/>
          </a:xfrm>
          <a:prstGeom prst="roundRect">
            <a:avLst>
              <a:gd fmla="val 767" name="adj"/>
            </a:avLst>
          </a:prstGeom>
          <a:solidFill>
            <a:srgbClr val="100600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"/>
          <p:cNvSpPr/>
          <p:nvPr/>
        </p:nvSpPr>
        <p:spPr>
          <a:xfrm>
            <a:off x="574548" y="2326386"/>
            <a:ext cx="1751267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01 // TRIGGER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"/>
          <p:cNvSpPr/>
          <p:nvPr/>
        </p:nvSpPr>
        <p:spPr>
          <a:xfrm>
            <a:off x="574548" y="2469261"/>
            <a:ext cx="17512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User Interaction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"/>
          <p:cNvSpPr/>
          <p:nvPr/>
        </p:nvSpPr>
        <p:spPr>
          <a:xfrm>
            <a:off x="574548" y="2669286"/>
            <a:ext cx="175126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E0E2E9"/>
                </a:solidFill>
                <a:latin typeface="Inter"/>
                <a:ea typeface="Inter"/>
                <a:cs typeface="Inter"/>
                <a:sym typeface="Inter"/>
              </a:rPr>
              <a:t>The user drags a task card or toggles priority. Declarative attributes intercept the client DOM event.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"/>
          <p:cNvSpPr/>
          <p:nvPr/>
        </p:nvSpPr>
        <p:spPr>
          <a:xfrm>
            <a:off x="574548" y="3118866"/>
            <a:ext cx="1751267" cy="368998"/>
          </a:xfrm>
          <a:prstGeom prst="roundRect">
            <a:avLst>
              <a:gd fmla="val 2904" name="adj"/>
            </a:avLst>
          </a:prstGeom>
          <a:solidFill>
            <a:srgbClr val="07080A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"/>
              <a:buFont typeface="JetBrains Mono"/>
              <a:buNone/>
            </a:pPr>
            <a:r>
              <a:rPr b="1" i="0" lang="en-US" sz="450" u="none" cap="none" strike="noStrike">
                <a:solidFill>
                  <a:srgbClr val="FAF9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hx-post="/cards/move"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"/>
              <a:buFont typeface="JetBrains Mono"/>
              <a:buNone/>
            </a:pPr>
            <a:r>
              <a:rPr b="1" i="0" lang="en-US" sz="450" u="none" cap="none" strike="noStrike">
                <a:solidFill>
                  <a:srgbClr val="FAF9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hx-trigger="drop"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"/>
              <a:buFont typeface="JetBrains Mono"/>
              <a:buNone/>
            </a:pPr>
            <a:r>
              <a:rPr b="1" i="0" lang="en-US" sz="450" u="none" cap="none" strike="noStrike">
                <a:solidFill>
                  <a:srgbClr val="FAF9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hx-vals='{"col": "done"}'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"/>
          <p:cNvSpPr/>
          <p:nvPr/>
        </p:nvSpPr>
        <p:spPr>
          <a:xfrm>
            <a:off x="2538413" y="2209038"/>
            <a:ext cx="1985963" cy="1396175"/>
          </a:xfrm>
          <a:prstGeom prst="roundRect">
            <a:avLst>
              <a:gd fmla="val 767" name="adj"/>
            </a:avLst>
          </a:prstGeom>
          <a:solidFill>
            <a:srgbClr val="100600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"/>
          <p:cNvSpPr/>
          <p:nvPr/>
        </p:nvSpPr>
        <p:spPr>
          <a:xfrm>
            <a:off x="2655761" y="2326386"/>
            <a:ext cx="1751267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02 // TRANSPORT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"/>
          <p:cNvSpPr/>
          <p:nvPr/>
        </p:nvSpPr>
        <p:spPr>
          <a:xfrm>
            <a:off x="2655761" y="2469261"/>
            <a:ext cx="17512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FastAPI Route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"/>
          <p:cNvSpPr/>
          <p:nvPr/>
        </p:nvSpPr>
        <p:spPr>
          <a:xfrm>
            <a:off x="2655761" y="2669286"/>
            <a:ext cx="1751267" cy="23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E0E2E9"/>
                </a:solidFill>
                <a:latin typeface="Inter"/>
                <a:ea typeface="Inter"/>
                <a:cs typeface="Inter"/>
                <a:sym typeface="Inter"/>
              </a:rPr>
              <a:t>Async handler validates movement order and renders only target card Jinja2 partial.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"/>
          <p:cNvSpPr/>
          <p:nvPr/>
        </p:nvSpPr>
        <p:spPr>
          <a:xfrm>
            <a:off x="2655761" y="3000756"/>
            <a:ext cx="1751267" cy="368998"/>
          </a:xfrm>
          <a:prstGeom prst="roundRect">
            <a:avLst>
              <a:gd fmla="val 2904" name="adj"/>
            </a:avLst>
          </a:prstGeom>
          <a:solidFill>
            <a:srgbClr val="07080A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@app.post("/cards/move")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async def move(req):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render("card.html")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"/>
          <p:cNvSpPr/>
          <p:nvPr/>
        </p:nvSpPr>
        <p:spPr>
          <a:xfrm>
            <a:off x="4619625" y="2209038"/>
            <a:ext cx="1985963" cy="1396175"/>
          </a:xfrm>
          <a:prstGeom prst="roundRect">
            <a:avLst>
              <a:gd fmla="val 767" name="adj"/>
            </a:avLst>
          </a:prstGeom>
          <a:solidFill>
            <a:srgbClr val="100600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"/>
          <p:cNvSpPr/>
          <p:nvPr/>
        </p:nvSpPr>
        <p:spPr>
          <a:xfrm>
            <a:off x="4736973" y="2326386"/>
            <a:ext cx="1751267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03 // MORPH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"/>
          <p:cNvSpPr/>
          <p:nvPr/>
        </p:nvSpPr>
        <p:spPr>
          <a:xfrm>
            <a:off x="4736973" y="2469261"/>
            <a:ext cx="17512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Surgical OuterHTML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"/>
          <p:cNvSpPr/>
          <p:nvPr/>
        </p:nvSpPr>
        <p:spPr>
          <a:xfrm>
            <a:off x="4736973" y="2669286"/>
            <a:ext cx="175126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E0E2E9"/>
                </a:solidFill>
                <a:latin typeface="Inter"/>
                <a:ea typeface="Inter"/>
                <a:cs typeface="Inter"/>
                <a:sym typeface="Inter"/>
              </a:rPr>
              <a:t>HTMX inspects the target selector and swaps the received HTML fragment in-place with zero script eval.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"/>
          <p:cNvSpPr/>
          <p:nvPr/>
        </p:nvSpPr>
        <p:spPr>
          <a:xfrm>
            <a:off x="4736973" y="3118866"/>
            <a:ext cx="1751267" cy="368998"/>
          </a:xfrm>
          <a:prstGeom prst="roundRect">
            <a:avLst>
              <a:gd fmla="val 2904" name="adj"/>
            </a:avLst>
          </a:prstGeom>
          <a:solidFill>
            <a:srgbClr val="07080A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"/>
              <a:buFont typeface="JetBrains Mono"/>
              <a:buNone/>
            </a:pPr>
            <a:r>
              <a:rPr b="1" i="0" lang="en-US" sz="450" u="none" cap="none" strike="noStrike">
                <a:solidFill>
                  <a:srgbClr val="FAF9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hx-target="#card-ZN-101"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"/>
              <a:buFont typeface="JetBrains Mono"/>
              <a:buNone/>
            </a:pPr>
            <a:r>
              <a:rPr b="1" i="0" lang="en-US" sz="450" u="none" cap="none" strike="noStrike">
                <a:solidFill>
                  <a:srgbClr val="FAF9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hx-swap="outerHTML"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450"/>
              <a:buFont typeface="JetBrains Mono"/>
              <a:buNone/>
            </a:pPr>
            <a:r>
              <a:rPr b="1" i="0" lang="en-US" sz="450" u="none" cap="none" strike="noStrike">
                <a:solidFill>
                  <a:srgbClr val="FAF9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hx-indicator=".spinner"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"/>
          <p:cNvSpPr/>
          <p:nvPr/>
        </p:nvSpPr>
        <p:spPr>
          <a:xfrm>
            <a:off x="6700838" y="2209038"/>
            <a:ext cx="1985963" cy="1396175"/>
          </a:xfrm>
          <a:prstGeom prst="roundRect">
            <a:avLst>
              <a:gd fmla="val 767" name="adj"/>
            </a:avLst>
          </a:prstGeom>
          <a:solidFill>
            <a:srgbClr val="100600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"/>
          <p:cNvSpPr/>
          <p:nvPr/>
        </p:nvSpPr>
        <p:spPr>
          <a:xfrm>
            <a:off x="6818186" y="2326386"/>
            <a:ext cx="1751267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STAGE 04 // SYNC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"/>
          <p:cNvSpPr/>
          <p:nvPr/>
        </p:nvSpPr>
        <p:spPr>
          <a:xfrm>
            <a:off x="6818186" y="2469261"/>
            <a:ext cx="175126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AF9F5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AF9F5"/>
                </a:solidFill>
                <a:latin typeface="Inter"/>
                <a:ea typeface="Inter"/>
                <a:cs typeface="Inter"/>
                <a:sym typeface="Inter"/>
              </a:rPr>
              <a:t>Zero Stale State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6818186" y="2669286"/>
            <a:ext cx="175126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600"/>
              <a:buFont typeface="Inter"/>
              <a:buNone/>
            </a:pPr>
            <a:r>
              <a:rPr b="0" i="0" lang="en-US" sz="600" u="none" cap="none" strike="noStrike">
                <a:solidFill>
                  <a:srgbClr val="E0E2E9"/>
                </a:solidFill>
                <a:latin typeface="Inter"/>
                <a:ea typeface="Inter"/>
                <a:cs typeface="Inter"/>
                <a:sym typeface="Inter"/>
              </a:rPr>
              <a:t>Browser URL and history remain undisturbed. Server remains the single source of truth without client hydration mismatch.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6818186" y="3118866"/>
            <a:ext cx="1751267" cy="368998"/>
          </a:xfrm>
          <a:prstGeom prst="roundRect">
            <a:avLst>
              <a:gd fmla="val 2904" name="adj"/>
            </a:avLst>
          </a:prstGeom>
          <a:solidFill>
            <a:srgbClr val="07080A"/>
          </a:solidFill>
          <a:ln cap="flat" cmpd="sng" w="9525">
            <a:solidFill>
              <a:srgbClr val="5B5E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7150" lIns="57150" spcFirstLastPara="1" rIns="57150" wrap="square" tIns="57150">
            <a:spAutoFit/>
          </a:bodyPr>
          <a:lstStyle/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HTTP/1.1 200 OK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HX-Trigger: columnCountChanged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111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Latency: &lt; 8.4ms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"/>
          <p:cNvSpPr/>
          <p:nvPr/>
        </p:nvSpPr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__type_image" id="431" name="Google Shape;4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121944"/>
            <a:ext cx="8229600" cy="18402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"/>
          <p:cNvSpPr/>
          <p:nvPr/>
        </p:nvSpPr>
        <p:spPr>
          <a:xfrm>
            <a:off x="457200" y="4220242"/>
            <a:ext cx="1498568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ZEN-HTMX-03 // HYPERMEDIA STATE TRANSITIONS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"/>
          <p:cNvSpPr/>
          <p:nvPr/>
        </p:nvSpPr>
        <p:spPr>
          <a:xfrm>
            <a:off x="8442817" y="4220242"/>
            <a:ext cx="243983" cy="8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0E2E9"/>
              </a:buClr>
              <a:buSzPts val="450"/>
              <a:buFont typeface="JetBrains Mono"/>
              <a:buNone/>
            </a:pPr>
            <a:r>
              <a:rPr b="0" i="0" lang="en-US" sz="450" u="none" cap="none" strike="noStrike">
                <a:solidFill>
                  <a:srgbClr val="E0E2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08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2026-09-20T17:38:42Z</dcterms:created>
  <dc:creator>PptxGenJS</dc:creator>
</cp:coreProperties>
</file>