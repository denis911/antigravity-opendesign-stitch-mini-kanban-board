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    <Relationship Id="rId1" Type="http://schemas.openxmlformats.org/officeDocument/2006/relationships/extended-properties" Target="docProps/app.xml"/>
    <Relationship Id="rId2" Type="http://schemas.openxmlformats.org/package/2006/relationships/metadata/core-properties" Target="docProps/core.xml"/>
    <Relationship Id="rId3" Type="http://schemas.openxmlformats.org/officeDocument/2006/relationships/officeDocument" Target="ppt/presentation.xml"/>
    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  <p:sldId id="260" r:id="rId11"/>
    <p:sldId id="261" r:id="rId12"/>
    <p:sldId id="262" r:id="rId13"/>
    <p:sldId id="263" r:id="rId1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
    <Relationship Id="rId1" Type="http://schemas.openxmlformats.org/officeDocument/2006/relationships/theme" Target="../theme/theme1.xml"/>
    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.xml"/>
    </Relationships>
</file>

<file path=ppt/notesSlides/_rels/notesSlide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.xml"/>
    </Relationships>
</file>

<file path=ppt/notesSlides/_rels/notesSlide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3.xml"/>
    </Relationships>
</file>

<file path=ppt/notesSlides/_rels/notesSlide4.xml.rels><?xml version="1.0" encoding="UTF-8" standalone="yes"?>
    <Relationships xmlns="http://schemas.openxmlformats.org/package/2006/relationships">
      <Relationship Id="rId1" Type="http://schemas.openxmlformats.org/officeDocument/2006/relationships/notesMaster" Target="../notesMasters/notesMaster1.xml"/>
      <Relationship Id="rId2" Type="http://schemas.openxmlformats.org/officeDocument/2006/relationships/slide" Target="../slides/slide4.xml"/>
    </Relationships>
</file>

<file path=ppt/notesSlides/_rels/notesSlide5.xml.rels><?xml version="1.0" encoding="UTF-8" standalone="yes"?>
    <Relationships xmlns="http://schemas.openxmlformats.org/package/2006/relationships">
      <Relationship Id="rId1" Type="http://schemas.openxmlformats.org/officeDocument/2006/relationships/notesMaster" Target="../notesMasters/notesMaster1.xml"/>
      <Relationship Id="rId2" Type="http://schemas.openxmlformats.org/officeDocument/2006/relationships/slide" Target="../slides/slide5.xml"/>
    </Relationships>
</file>

<file path=ppt/notesSlides/_rels/notesSlide6.xml.rels><?xml version="1.0" encoding="UTF-8" standalone="yes"?>
    <Relationships xmlns="http://schemas.openxmlformats.org/package/2006/relationships">
      <Relationship Id="rId1" Type="http://schemas.openxmlformats.org/officeDocument/2006/relationships/notesMaster" Target="../notesMasters/notesMaster1.xml"/>
      <Relationship Id="rId2" Type="http://schemas.openxmlformats.org/officeDocument/2006/relationships/slide" Target="../slides/slide6.xml"/>
    </Relationships>
</file>

<file path=ppt/notesSlides/_rels/notesSlide7.xml.rels><?xml version="1.0" encoding="UTF-8" standalone="yes"?>
    <Relationships xmlns="http://schemas.openxmlformats.org/package/2006/relationships">
      <Relationship Id="rId1" Type="http://schemas.openxmlformats.org/officeDocument/2006/relationships/notesMaster" Target="../notesMasters/notesMaster1.xml"/>
      <Relationship Id="rId2" Type="http://schemas.openxmlformats.org/officeDocument/2006/relationships/slide" Target="../slides/slide7.xml"/>
    </Relationships>
</file>

<file path=ppt/notesSlides/_rels/notesSlide8.xml.rels><?xml version="1.0" encoding="UTF-8" standalone="yes"?>
    <Relationships xmlns="http://schemas.openxmlformats.org/package/2006/relationships">
      <Relationship Id="rId1" Type="http://schemas.openxmlformats.org/officeDocument/2006/relationships/notesMaster" Target="../notesMasters/notesMaster1.xml"/>
      <Relationship Id="rId2" Type="http://schemas.openxmlformats.org/officeDocument/2006/relationships/slide" Target="../slides/slide8.xml"/>
    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 name="Slide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3" name="Shape 2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4" name="Shape 4"/>
          <ns0:cNvSpPr/>
          <ns0:nvPr/>
        </ns0:nvSpPr>
        <ns0:spPr>
          <ns1:xfrm>
            <ns1:off x="457200" y="342900"/>
            <ns1:ext cx="8229600" cy="210217"/>
          </ns1:xfrm>
          <ns1:prstGeom prst="rect">
            <ns1:avLst/>
          </ns1:prstGeom>
          <ns1:noFill/>
          <ns1:ln/>
        </ns0:spPr>
      </ns0:sp>
      <ns0:pic>
        <ns0:nvPicPr>
          <ns0:cNvPr id="5" name="Picture 4" descr="__type_image">    </ns0:cNvPr>
          <ns0:cNvPicPr>
            <ns1:picLocks noChangeAspect="1"/>
          </ns0:cNvPicPr>
          <ns0:nvPr/>
        </ns0:nvPicPr>
        <ns0:blipFill>
          <ns1:blip ns2:embed="rId1">
            <ns1:extLst>
              <ns1:ext uri="{96DAC541-7B7A-43D3-8B79-37D633B846F1}">
                <ns3:svgBlip ns2:embed="rId2"/>
              </ns1:ext>
            </ns1:extLst>
          </ns1:blip>
          <ns1:stretch>
            <ns1:fillRect/>
          </ns1:stretch>
        </ns0:blipFill>
        <ns0:spPr>
          <ns1:xfrm>
            <ns1:off x="457200" y="342900"/>
            <ns1:ext cx="8229600" cy="210217"/>
          </ns1:xfrm>
          <ns1:prstGeom prst="rect">
            <ns1:avLst/>
          </ns1:prstGeom>
        </ns0:spPr>
      </ns0:pic>
      <ns0:sp>
        <ns0:nvSpPr>
          <ns0:cNvPr id="6" name="Shape 8"/>
          <ns0:cNvSpPr/>
          <ns0:nvPr/>
        </ns0:nvSpPr>
        <ns0:spPr>
          <ns1:xfrm>
            <ns1:off x="457200" y="375047"/>
            <ns1:ext cx="28575" cy="28575"/>
          </ns1:xfrm>
          <ns1:prstGeom prst="roundRect">
            <ns1:avLst>
              <ns1:gd name="adj" fmla="val 37500"/>
            </ns1:avLst>
          </ns1:prstGeom>
          <ns1:solidFill>
            <ns1:srgbClr val="100600"/>
          </ns1:solidFill>
          <ns1:ln/>
        </ns0:spPr>
      </ns0:sp>
      <ns0:sp>
        <ns0:nvSpPr>
          <ns0:cNvPr id="7" name="TextBox 10"/>
          <ns0:cNvSpPr/>
          <ns0:nvPr/>
        </ns0:nvSpPr>
        <ns0:spPr>
          <ns1:xfrm>
            <ns1:off x="542925" y="342900"/>
            <ns1:ext cx="1676543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 PRECISION SAAS — FASTKANBAN ARCHITECTURE</ns1:t>
            </ns1:r>
            <ns1:endParaRPr lang="en-US" sz="488" dirty="0"/>
          </ns1:p>
        </ns0:txBody>
      </ns0:sp>
      <ns0:sp>
        <ns0:nvSpPr>
          <ns0:cNvPr id="8" name="TextBox 13"/>
          <ns0:cNvSpPr/>
          <ns0:nvPr/>
        </ns0:nvSpPr>
        <ns0:spPr>
          <ns1:xfrm>
            <ns1:off x="8082772" y="342900"/>
            <ns1:ext cx="604028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2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STACK // SPEC 01</ns1:t>
            </ns1:r>
            <ns1:endParaRPr lang="en-US" sz="488" dirty="0"/>
          </ns1:p>
        </ns0:txBody>
      </ns0:sp>
      <ns0:sp>
        <ns0:nvSpPr>
          <ns0:cNvPr id="9" name="TextBox 20"/>
          <ns0:cNvSpPr/>
          <ns0:nvPr/>
        </ns0:nvSpPr>
        <ns0:spPr>
          <ns1:xfrm>
            <ns1:off x="457200" y="781717"/>
            <ns1:ext cx="8229600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HYPERMEDIA-DRIVEN MINIMAL ORCHESTRATION</ns1:t>
            </ns1:r>
            <ns1:endParaRPr lang="en-US" sz="488" dirty="0"/>
          </ns1:p>
        </ns0:txBody>
      </ns0:sp>
      <ns0:sp>
        <ns0:nvSpPr>
          <ns0:cNvPr id="10" name="TextBox 22"/>
          <ns0:cNvSpPr/>
          <ns0:nvPr/>
        </ns0:nvSpPr>
        <ns0:spPr>
          <ns1:xfrm>
            <ns1:off x="457200" y="950785"/>
            <ns1:ext cx="3374898" cy="5867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2310"/>
              </ns1:lnSpc>
              <ns1:buNone/>
            </ns1:pPr>
            <ns1:r>
              <ns1:rPr lang="en-US" sz="2100" b="1" spc="-52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FastAPI &amp; HTMX 2.x Architecture</ns1:t>
            </ns1:r>
            <ns1:endParaRPr lang="en-US" sz="2100" dirty="0"/>
          </ns1:p>
        </ns0:txBody>
      </ns0:sp>
      <ns0:sp>
        <ns0:nvSpPr>
          <ns0:cNvPr id="11" name="TextBox 24"/>
          <ns0:cNvSpPr/>
          <ns0:nvPr/>
        </ns0:nvSpPr>
        <ns0:spPr>
          <ns1:xfrm>
            <ns1:off x="457200" y="1632775"/>
            <ns1:ext cx="2978039" cy="4286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Synthesizing Pythonic asynchronous execution with hypermedia-driven DOM morphing. Elimination of SPA build churn in favor of serene, declarative operational density.</ns1:t>
            </ns1:r>
            <ns1:endParaRPr lang="en-US" sz="750" dirty="0"/>
          </ns1:p>
        </ns0:txBody>
      </ns0:sp>
      <ns0:sp>
        <ns0:nvSpPr>
          <ns0:cNvPr id="12" name="Shape 29"/>
          <ns0:cNvSpPr/>
          <ns0:nvPr/>
        </ns0:nvSpPr>
        <ns0:spPr>
          <ns1:xfrm>
            <ns1:off x="457200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13" name="TextBox 33"/>
          <ns0:cNvSpPr/>
          <ns0:nvPr/>
        </ns0:nvSpPr>
        <ns0:spPr>
          <ns1:xfrm>
            <ns1:off x="612648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CORE RUNTIME</ns1:t>
            </ns1:r>
            <ns1:endParaRPr lang="en-US" sz="450" dirty="0"/>
          </ns1:p>
        </ns0:txBody>
      </ns0:sp>
      <ns0:sp>
        <ns0:nvSpPr>
          <ns0:cNvPr id="14" name="TextBox 35"/>
          <ns0:cNvSpPr/>
          <ns0:nvPr/>
        </ns0:nvSpPr>
        <ns0:spPr>
          <ns1:xfrm>
            <ns1:off x="612648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FastAPI Backend</ns1:t>
            </ns1:r>
            <ns1:endParaRPr lang="en-US" sz="900" dirty="0"/>
          </ns1:p>
        </ns0:txBody>
      </ns0:sp>
      <ns0:sp>
        <ns0:nvSpPr>
          <ns0:cNvPr id="15" name="TextBox 37"/>
          <ns0:cNvSpPr/>
          <ns0:nvPr/>
        </ns0:nvSpPr>
        <ns0:spPr>
          <ns1:xfrm>
            <ns1:off x="612648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Asynchronous ASGI server pipeline powered by Starlette &amp; SQLModel. Delivers validated type boundaries and near-instant JSON/HTML responses under 15ms.</ns1:t>
            </ns1:r>
            <ns1:endParaRPr lang="en-US" sz="600" dirty="0"/>
          </ns1:p>
        </ns0:txBody>
      </ns0:sp>
      <ns0:sp>
        <ns0:nvSpPr>
          <ns0:cNvPr id="16" name="TextBox 42"/>
          <ns0:cNvSpPr/>
          <ns0:nvPr/>
        </ns0:nvSpPr>
        <ns0:spPr>
          <ns1:xfrm>
            <ns1:off x="612648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Python 3.12+</ns1:t>
            </ns1:r>
            <ns1:endParaRPr lang="en-US" sz="450" dirty="0"/>
          </ns1:p>
        </ns0:txBody>
      </ns0:sp>
      <ns0:sp>
        <ns0:nvSpPr>
          <ns0:cNvPr id="17" name="TextBox 44"/>
          <ns0:cNvSpPr/>
          <ns0:nvPr/>
        </ns0:nvSpPr>
        <ns0:spPr>
          <ns1:xfrm>
            <ns1:off x="1142905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Uvicorn ASGI</ns1:t>
            </ns1:r>
            <ns1:endParaRPr lang="en-US" sz="450" dirty="0"/>
          </ns1:p>
        </ns0:txBody>
      </ns0:sp>
      <ns0:sp>
        <ns0:nvSpPr>
          <ns0:cNvPr id="18" name="TextBox 46"/>
          <ns0:cNvSpPr/>
          <ns0:nvPr/>
        </ns0:nvSpPr>
        <ns0:spPr>
          <ns1:xfrm>
            <ns1:off x="1673162" y="3542014"/>
            <ns1:ext cx="42700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Jinja2 SSR</ns1:t>
            </ns1:r>
            <ns1:endParaRPr lang="en-US" sz="450" dirty="0"/>
          </ns1:p>
        </ns0:txBody>
      </ns0:sp>
      <ns0:sp>
        <ns0:nvSpPr>
          <ns0:cNvPr id="19" name="Shape 50"/>
          <ns0:cNvSpPr/>
          <ns0:nvPr/>
        </ns0:nvSpPr>
        <ns0:spPr>
          <ns1:xfrm>
            <ns1:off x="3244834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0" name="TextBox 54"/>
          <ns0:cNvSpPr/>
          <ns0:nvPr/>
        </ns0:nvSpPr>
        <ns0:spPr>
          <ns1:xfrm>
            <ns1:off x="3400282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CLIENT TRANSPORT</ns1:t>
            </ns1:r>
            <ns1:endParaRPr lang="en-US" sz="450" dirty="0"/>
          </ns1:p>
        </ns0:txBody>
      </ns0:sp>
      <ns0:sp>
        <ns0:nvSpPr>
          <ns0:cNvPr id="21" name="TextBox 56"/>
          <ns0:cNvSpPr/>
          <ns0:nvPr/>
        </ns0:nvSpPr>
        <ns0:spPr>
          <ns1:xfrm>
            <ns1:off x="3400282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HTMX 2.0 Engine</ns1:t>
            </ns1:r>
            <ns1:endParaRPr lang="en-US" sz="900" dirty="0"/>
          </ns1:p>
        </ns0:txBody>
      </ns0:sp>
      <ns0:sp>
        <ns0:nvSpPr>
          <ns0:cNvPr id="22" name="TextBox 58"/>
          <ns0:cNvSpPr/>
          <ns0:nvPr/>
        </ns0:nvSpPr>
        <ns0:spPr>
          <ns1:xfrm>
            <ns1:off x="3400282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Declarative HTML extensions replacing client state stores. Direct DOM element replacement using standard HTTP verbs without micro-bundle bloat.</ns1:t>
            </ns1:r>
            <ns1:endParaRPr lang="en-US" sz="600" dirty="0"/>
          </ns1:p>
        </ns0:txBody>
      </ns0:sp>
      <ns0:sp>
        <ns0:nvSpPr>
          <ns0:cNvPr id="23" name="TextBox 63"/>
          <ns0:cNvSpPr/>
          <ns0:nvPr/>
        </ns0:nvSpPr>
        <ns0:spPr>
          <ns1:xfrm>
            <ns1:off x="3400282" y="3542014"/>
            <ns1:ext cx="32932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hx-post</ns1:t>
            </ns1:r>
            <ns1:endParaRPr lang="en-US" sz="450" dirty="0"/>
          </ns1:p>
        </ns0:txBody>
      </ns0:sp>
      <ns0:sp>
        <ns0:nvSpPr>
          <ns0:cNvPr id="24" name="TextBox 65"/>
          <ns0:cNvSpPr/>
          <ns0:nvPr/>
        </ns0:nvSpPr>
        <ns0:spPr>
          <ns1:xfrm>
            <ns1:off x="376770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hx-target</ns1:t>
            </ns1:r>
            <ns1:endParaRPr lang="en-US" sz="450" dirty="0"/>
          </ns1:p>
        </ns0:txBody>
      </ns0:sp>
      <ns0:sp>
        <ns0:nvSpPr>
          <ns0:cNvPr id="25" name="TextBox 67"/>
          <ns0:cNvSpPr/>
          <ns0:nvPr/>
        </ns0:nvSpPr>
        <ns0:spPr>
          <ns1:xfrm>
            <ns1:off x="420023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outerHTML</ns1:t>
            </ns1:r>
            <ns1:endParaRPr lang="en-US" sz="450" dirty="0"/>
          </ns1:p>
        </ns0:txBody>
      </ns0:sp>
      <ns0:sp>
        <ns0:nvSpPr>
          <ns0:cNvPr id="26" name="Shape 71"/>
          <ns0:cNvSpPr/>
          <ns0:nvPr/>
        </ns0:nvSpPr>
        <ns0:spPr>
          <ns1:xfrm>
            <ns1:off x="6032468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7" name="TextBox 75"/>
          <ns0:cNvSpPr/>
          <ns0:nvPr/>
        </ns0:nvSpPr>
        <ns0:spPr>
          <ns1:xfrm>
            <ns1:off x="6187916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INTERFACE PARADIGM</ns1:t>
            </ns1:r>
            <ns1:endParaRPr lang="en-US" sz="450" dirty="0"/>
          </ns1:p>
        </ns0:txBody>
      </ns0:sp>
      <ns0:sp>
        <ns0:nvSpPr>
          <ns0:cNvPr id="28" name="TextBox 77"/>
          <ns0:cNvSpPr/>
          <ns0:nvPr/>
        </ns0:nvSpPr>
        <ns0:spPr>
          <ns1:xfrm>
            <ns1:off x="6187916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Zen Precision UI</ns1:t>
            </ns1:r>
            <ns1:endParaRPr lang="en-US" sz="900" dirty="0"/>
          </ns1:p>
        </ns0:txBody>
      </ns0:sp>
      <ns0:sp>
        <ns0:nvSpPr>
          <ns0:cNvPr id="29" name="TextBox 79"/>
          <ns0:cNvSpPr/>
          <ns0:nvPr/>
        </ns0:nvSpPr>
        <ns0:spPr>
          <ns1:xfrm>
            <ns1:off x="6187916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Wabi-sabi reduction merged with Linear/Raycast keyboard speed. High contrast sumi ink on natural unbleached sand surfaces, devoid of ambient visual noise.</ns1:t>
            </ns1:r>
            <ns1:endParaRPr lang="en-US" sz="600" dirty="0"/>
          </ns1:p>
        </ns0:txBody>
      </ns0:sp>
      <ns0:sp>
        <ns0:nvSpPr>
          <ns0:cNvPr id="30" name="TextBox 84"/>
          <ns0:cNvSpPr/>
          <ns0:nvPr/>
        </ns0:nvSpPr>
        <ns0:spPr>
          <ns1:xfrm>
            <ns1:off x="6187916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#f3f2ec Sand</ns1:t>
            </ns1:r>
            <ns1:endParaRPr lang="en-US" sz="450" dirty="0"/>
          </ns1:p>
        </ns0:txBody>
      </ns0:sp>
      <ns0:sp>
        <ns0:nvSpPr>
          <ns0:cNvPr id="31" name="TextBox 86"/>
          <ns0:cNvSpPr/>
          <ns0:nvPr/>
        </ns0:nvSpPr>
        <ns0:spPr>
          <ns1:xfrm>
            <ns1:off x="6718173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Hairline 1px</ns1:t>
            </ns1:r>
            <ns1:endParaRPr lang="en-US" sz="450" dirty="0"/>
          </ns1:p>
        </ns0:txBody>
      </ns0:sp>
      <ns0:sp>
        <ns0:nvSpPr>
          <ns0:cNvPr id="32" name="TextBox 88"/>
          <ns0:cNvSpPr/>
          <ns0:nvPr/>
        </ns0:nvSpPr>
        <ns0:spPr>
          <ns1:xfrm>
            <ns1:off x="7248430" y="3542014"/>
            <ns1:ext cx="58983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0.125rem Radius</ns1:t>
            </ns1:r>
            <ns1:endParaRPr lang="en-US" sz="450" dirty="0"/>
          </ns1:p>
        </ns0:txBody>
      </ns0:sp>
      <ns0:sp>
        <ns0:nvSpPr>
          <ns0:cNvPr id="33" name="Shape 93"/>
          <ns0:cNvSpPr/>
          <ns0:nvPr/>
        </ns0:nvSpPr>
        <ns0:spPr>
          <ns1:xfrm>
            <ns1:off x="457200" y="4121944"/>
            <ns1:ext cx="8229600" cy="184023"/>
          </ns1:xfrm>
          <ns1:prstGeom prst="rect">
            <ns1:avLst/>
          </ns1:prstGeom>
          <ns1:noFill/>
          <ns1:ln/>
        </ns0:spPr>
      </ns0:sp>
      <ns0:pic>
        <ns0:nvPicPr>
          <ns0:cNvPr id="34" name="Picture 93" descr="__type_image">    </ns0:cNvPr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457200" y="4121944"/>
            <ns1:ext cx="8229600" cy="184023"/>
          </ns1:xfrm>
          <ns1:prstGeom prst="rect">
            <ns1:avLst/>
          </ns1:prstGeom>
        </ns0:spPr>
      </ns0:pic>
      <ns0:sp>
        <ns0:nvSpPr>
          <ns0:cNvPr id="35" name="TextBox 95"/>
          <ns0:cNvSpPr/>
          <ns0:nvPr/>
        </ns0:nvSpPr>
        <ns0:spPr>
          <ns1:xfrm>
            <ns1:off x="457200" y="4220242"/>
            <ns1:ext cx="1394031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ZEN-STACK-01 // CORE SYSTEM ARCHITECTURE</ns1:t>
            </ns1:r>
            <ns1:endParaRPr lang="en-US" sz="450" dirty="0"/>
          </ns1:p>
        </ns0:txBody>
      </ns0:sp>
      <ns0:sp>
        <ns0:nvSpPr>
          <ns0:cNvPr id="36" name="TextBox 97"/>
          <ns0:cNvSpPr/>
          <ns0:nvPr/>
        </ns0:nvSpPr>
        <ns0:spPr>
          <ns1:xfrm>
            <ns1:off x="8442817" y="4220242"/>
            <ns1:ext cx="243983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01 / 08</ns1:t>
            </ns1:r>
            <ns1:endParaRPr lang="en-US" sz="450" dirty="0"/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 name="Slide 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3" name="Shape 2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4" name="Shape 4"/>
          <ns0:cNvSpPr/>
          <ns0:nvPr/>
        </ns0:nvSpPr>
        <ns0:spPr>
          <ns1:xfrm>
            <ns1:off x="457200" y="342900"/>
            <ns1:ext cx="8229600" cy="210217"/>
          </ns1:xfrm>
          <ns1:prstGeom prst="rect">
            <ns1:avLst/>
          </ns1:prstGeom>
          <ns1:noFill/>
          <ns1:ln/>
        </ns0:spPr>
      </ns0:sp>
      <ns0:pic>
        <ns0:nvPicPr>
          <ns0:cNvPr id="5" name="Picture 4" descr="__type_image">    </ns0:cNvPr>
          <ns0:cNvPicPr>
            <ns1:picLocks noChangeAspect="1"/>
          </ns0:cNvPicPr>
          <ns0:nvPr/>
        </ns0:nvPicPr>
        <ns0:blipFill>
          <ns1:blip ns2:embed="rId1">
            <ns1:extLst>
              <ns1:ext uri="{96DAC541-7B7A-43D3-8B79-37D633B846F1}">
                <ns3:svgBlip ns2:embed="rId2"/>
              </ns1:ext>
            </ns1:extLst>
          </ns1:blip>
          <ns1:stretch>
            <ns1:fillRect/>
          </ns1:stretch>
        </ns0:blipFill>
        <ns0:spPr>
          <ns1:xfrm>
            <ns1:off x="457200" y="342900"/>
            <ns1:ext cx="8229600" cy="210217"/>
          </ns1:xfrm>
          <ns1:prstGeom prst="rect">
            <ns1:avLst/>
          </ns1:prstGeom>
        </ns0:spPr>
      </ns0:pic>
      <ns0:sp>
        <ns0:nvSpPr>
          <ns0:cNvPr id="6" name="Shape 8"/>
          <ns0:cNvSpPr/>
          <ns0:nvPr/>
        </ns0:nvSpPr>
        <ns0:spPr>
          <ns1:xfrm>
            <ns1:off x="457200" y="375047"/>
            <ns1:ext cx="28575" cy="28575"/>
          </ns1:xfrm>
          <ns1:prstGeom prst="roundRect">
            <ns1:avLst>
              <ns1:gd name="adj" fmla="val 37500"/>
            </ns1:avLst>
          </ns1:prstGeom>
          <ns1:solidFill>
            <ns1:srgbClr val="100600"/>
          </ns1:solidFill>
          <ns1:ln/>
        </ns0:spPr>
      </ns0:sp>
      <ns0:sp>
        <ns0:nvSpPr>
          <ns0:cNvPr id="7" name="TextBox 10"/>
          <ns0:cNvSpPr/>
          <ns0:nvPr/>
        </ns0:nvSpPr>
        <ns0:spPr>
          <ns1:xfrm>
            <ns1:off x="542925" y="342900"/>
            <ns1:ext cx="1364647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 PRECISION SAAS — WORKSPACE TOPOLOGY</ns1:t>
            </ns1:r>
            <ns1:endParaRPr lang="en-US" sz="488" dirty="0"/>
          </ns1:p>
        </ns0:txBody>
      </ns0:sp>
      <ns0:sp>
        <ns0:nvSpPr>
          <ns0:cNvPr id="8" name="TextBox 13"/>
          <ns0:cNvSpPr/>
          <ns0:nvPr/>
        </ns0:nvSpPr>
        <ns0:spPr>
          <ns1:xfrm>
            <ns1:off x="7894034" y="342900"/>
            <ns1:ext cx="792766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2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TOPOLOGY // KANBAN 02</ns1:t>
            </ns1:r>
            <ns1:endParaRPr lang="en-US" sz="488" dirty="0"/>
          </ns1:p>
        </ns0:txBody>
      </ns0:sp>
      <ns0:sp>
        <ns0:nvSpPr>
          <ns0:cNvPr id="9" name="TextBox 20"/>
          <ns0:cNvSpPr/>
          <ns0:nvPr/>
        </ns0:nvSpPr>
        <ns0:spPr>
          <ns1:xfrm>
            <ns1:off x="457200" y="781717"/>
            <ns1:ext cx="8229600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3-COLUMN STRUCTURAL TASK MAPPING</ns1:t>
            </ns1:r>
            <ns1:endParaRPr lang="en-US" sz="488" dirty="0"/>
          </ns1:p>
        </ns0:txBody>
      </ns0:sp>
      <ns0:sp>
        <ns0:nvSpPr>
          <ns0:cNvPr id="10" name="TextBox 22"/>
          <ns0:cNvSpPr/>
          <ns0:nvPr/>
        </ns0:nvSpPr>
        <ns0:spPr>
          <ns1:xfrm>
            <ns1:off x="457200" y="950785"/>
            <ns1:ext cx="8229600" cy="20812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639"/>
              </ns1:lnSpc>
              <ns1:buNone/>
            </ns1:pPr>
            <ns1:r>
              <ns1:rPr lang="en-US" sz="1425" b="1" spc="-21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Precision Task Board Composition</ns1:t>
            </ns1:r>
            <ns1:endParaRPr lang="en-US" sz="1425" dirty="0"/>
          </ns1:p>
        </ns0:txBody>
      </ns0:sp>
      <ns0:sp>
        <ns0:nvSpPr>
          <ns0:cNvPr id="11" name="TextBox 24"/>
          <ns0:cNvSpPr/>
          <ns0:nvPr/>
        </ns0:nvSpPr>
        <ns0:spPr>
          <ns1:xfrm>
            <ns1:off x="457200" y="1235107"/>
            <ns1:ext cx="2978039" cy="2857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Pure white surface cards (#faf9f5) arranged over dashed guide columns. Contact edges utilize hairline rules (#76777b) with zero ambient blur.</ns1:t>
            </ns1:r>
            <ns1:endParaRPr lang="en-US" sz="750" dirty="0"/>
          </ns1:p>
        </ns0:txBody>
      </ns0:sp>
      <ns0:sp>
        <ns0:nvSpPr>
          <ns0:cNvPr id="12" name="Shape 31"/>
          <ns0:cNvSpPr/>
          <ns0:nvPr/>
        </ns0:nvSpPr>
        <ns0:spPr>
          <ns1:xfrm>
            <ns1:off x="457200" y="1635157"/>
            <ns1:ext cx="2667000" cy="2486787"/>
          </ns1:xfrm>
          <ns1:prstGeom prst="roundRect">
            <ns1:avLst>
              <ns1:gd name="adj" fmla="val 431"/>
            </ns1:avLst>
          </ns1:prstGeom>
          <ns1:solidFill>
            <ns1:srgbClr val="FAF9F5">
              <ns1:alpha val="65000"/>
            </ns1:srgbClr>
          </ns1:solidFill>
          <ns1:ln w="3048">
            <ns1:solidFill>
              <ns1:srgbClr val="76777B"/>
            </ns1:solidFill>
            <ns1:prstDash val="dash"/>
          </ns1:ln>
        </ns0:spPr>
      </ns0:sp>
      <ns0:sp>
        <ns0:nvSpPr>
          <ns0:cNvPr id="13" name="Shape 33"/>
          <ns0:cNvSpPr/>
          <ns0:nvPr/>
        </ns0:nvSpPr>
        <ns0:spPr>
          <ns1:xfrm>
            <ns1:off x="555498" y="1733455"/>
            <ns1:ext cx="2470404" cy="164973"/>
          </ns1:xfrm>
          <ns1:prstGeom prst="rect">
            <ns1:avLst/>
          </ns1:prstGeom>
          <ns1:noFill/>
          <ns1:ln/>
        </ns0:spPr>
      </ns0:sp>
      <ns0:pic>
        <ns0:nvPicPr>
          <ns0:cNvPr id="14" name="Picture 33" descr="__type_image">    </ns0:cNvPr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555498" y="1733455"/>
            <ns1:ext cx="2470404" cy="164973"/>
          </ns1:xfrm>
          <ns1:prstGeom prst="rect">
            <ns1:avLst/>
          </ns1:prstGeom>
        </ns0:spPr>
      </ns0:pic>
      <ns0:sp>
        <ns0:nvSpPr>
          <ns0:cNvPr id="15" name="Shape 37"/>
          <ns0:cNvSpPr/>
          <ns0:nvPr/>
        </ns0:nvSpPr>
        <ns0:spPr>
          <ns1:xfrm>
            <ns1:off x="555498" y="1766792"/>
            <ns1:ext cx="38100" cy="38100"/>
          </ns1:xfrm>
          <ns1:prstGeom prst="roundRect">
            <ns1:avLst>
              <ns1:gd name="adj" fmla="val 12500"/>
            </ns1:avLst>
          </ns1:prstGeom>
          <ns1:noFill/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16" name="TextBox 39"/>
          <ns0:cNvSpPr/>
          <ns0:nvPr/>
        </ns0:nvSpPr>
        <ns0:spPr>
          <ns1:xfrm>
            <ns1:off x="631698" y="1735836"/>
            <ns1:ext cx="196596" cy="10001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88"/>
              </ns1:lnSpc>
              <ns1:buNone/>
            </ns1:pPr>
            <ns1:r>
              <ns1:rPr lang="en-US" sz="525" b="1" spc="21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TO DO</ns1:t>
            </ns1:r>
            <ns1:endParaRPr lang="en-US" sz="525" dirty="0"/>
          </ns1:p>
        </ns0:txBody>
      </ns0:sp>
      <ns0:sp>
        <ns0:nvSpPr>
          <ns0:cNvPr id="17" name="TextBox 42"/>
          <ns0:cNvSpPr/>
          <ns0:nvPr/>
        </ns0:nvSpPr>
        <ns0:spPr>
          <ns1:xfrm>
            <ns1:off x="2886837" y="1733455"/>
            <ns1:ext cx="139065" cy="104775"/>
          </ns1:xfrm>
          <ns1:prstGeom prst="roundRect">
            <ns1:avLst>
              <ns1:gd name="adj" fmla="val 10227"/>
            </ns1:avLst>
          </ns1:prstGeom>
          <ns1:solidFill>
            <ns1:srgbClr val="E0E2E9"/>
          </ns1:solidFill>
          <ns1:ln/>
        </ns0:spPr>
        <ns0:txBody>
          <ns1:bodyPr wrap="square" lIns="38100" tIns="9525" rIns="38100" bIns="9525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02</ns1:t>
            </ns1:r>
            <ns1:endParaRPr lang="en-US" sz="450" dirty="0"/>
          </ns1:p>
        </ns0:txBody>
      </ns0:sp>
      <ns0:sp>
        <ns0:nvSpPr>
          <ns0:cNvPr id="18" name="Shape 45"/>
          <ns0:cNvSpPr/>
          <ns0:nvPr/>
        </ns0:nvSpPr>
        <ns0:spPr>
          <ns1:xfrm>
            <ns1:off x="555498" y="1974628"/>
            <ns1:ext cx="2470404" cy="677799"/>
          </ns1:xfrm>
          <ns1:prstGeom prst="roundRect">
            <ns1:avLst>
              <ns1:gd name="adj" fmla="val 1581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  <ns1:effectLst>
            <ns1:outerShdw sx="100000" sy="100000" kx="0" ky="0" algn="bl" rotWithShape="0" blurRad="14288" dist="4763" dir="5400000">
              <ns1:srgbClr val="07080A">
                <ns1:alpha val="4000"/>
              </ns1:srgbClr>
            </ns1:outerShdw>
          </ns1:effectLst>
        </ns0:spPr>
      </ns0:sp>
      <ns0:sp>
        <ns0:nvSpPr>
          <ns0:cNvPr id="19" name="TextBox 47"/>
          <ns0:cNvSpPr/>
          <ns0:nvPr/>
        </ns0:nvSpPr>
        <ns0:spPr>
          <ns1:xfrm>
            <ns1:off x="653796" y="2072926"/>
            <ns1:ext cx="227380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ZN-101 — BACKEND</ns1:t>
            </ns1:r>
            <ns1:endParaRPr lang="en-US" sz="450" dirty="0"/>
          </ns1:p>
        </ns0:txBody>
      </ns0:sp>
      <ns0:sp>
        <ns0:nvSpPr>
          <ns0:cNvPr id="20" name="TextBox 49"/>
          <ns0:cNvSpPr/>
          <ns0:nvPr/>
        </ns0:nvSpPr>
        <ns0:spPr>
          <ns1:xfrm>
            <ns1:off x="653796" y="2215801"/>
            <ns1:ext cx="2273808" cy="1066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840"/>
              </ns1:lnSpc>
              <ns1:buNone/>
            </ns1:pPr>
            <ns1:r>
              <ns1:rPr lang="en-US" sz="60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Implement hx-trigger SSE endpoint for live sprint status updates</ns1:t>
            </ns1:r>
            <ns1:endParaRPr lang="en-US" sz="600" dirty="0"/>
          </ns1:p>
        </ns0:txBody>
      </ns0:sp>
      <ns0:sp>
        <ns0:nvSpPr>
          <ns0:cNvPr id="21" name="Shape 51"/>
          <ns0:cNvSpPr/>
          <ns0:nvPr/>
        </ns0:nvSpPr>
        <ns0:spPr>
          <ns1:xfrm>
            <ns1:off x="653796" y="2398681"/>
            <ns1:ext cx="2273808" cy="155448"/>
          </ns1:xfrm>
          <ns1:prstGeom prst="rect">
            <ns1:avLst/>
          </ns1:prstGeom>
          <ns1:noFill/>
          <ns1:ln/>
        </ns0:spPr>
      </ns0:sp>
      <ns0:pic>
        <ns0:nvPicPr>
          <ns0:cNvPr id="22" name="Picture 51" descr="__type_image">    </ns0:cNvPr>
          <ns0:cNvPicPr>
            <ns1:picLocks noChangeAspect="1"/>
          </ns0:cNvPicPr>
          <ns0:nvPr/>
        </ns0:nvPicPr>
        <ns0:blipFill>
          <ns1:blip ns2:embed="rId5">
            <ns1:extLst>
              <ns1:ext uri="{96DAC541-7B7A-43D3-8B79-37D633B846F1}">
                <ns3:svgBlip ns2:embed="rId6"/>
              </ns1:ext>
            </ns1:extLst>
          </ns1:blip>
          <ns1:stretch>
            <ns1:fillRect/>
          </ns1:stretch>
        </ns0:blipFill>
        <ns0:spPr>
          <ns1:xfrm>
            <ns1:off x="653796" y="2398681"/>
            <ns1:ext cx="2273808" cy="155448"/>
          </ns1:xfrm>
          <ns1:prstGeom prst="rect">
            <ns1:avLst/>
          </ns1:prstGeom>
        </ns0:spPr>
      </ns0:pic>
      <ns0:sp>
        <ns0:nvSpPr>
          <ns0:cNvPr id="23" name="TextBox 53"/>
          <ns0:cNvSpPr/>
          <ns0:nvPr/>
        </ns0:nvSpPr>
        <ns0:spPr>
          <ns1:xfrm>
            <ns1:off x="653796" y="2445115"/>
            <ns1:ext cx="272129" cy="103727"/>
          </ns1:xfrm>
          <ns1:prstGeom prst="roundRect">
            <ns1:avLst>
              <ns1:gd name="adj" fmla="val 10331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28575" tIns="9525" rIns="28575" bIns="9525" rtlCol="0" anchor="t">
            <ns1:spAutoFit/>
          </ns1:bodyPr>
          <ns1:lstStyle/>
          <ns1:p>
            <ns1:pPr algn="l" indent="0" marL="0">
              <ns1:lnSpc>
                <ns1:spcPts val="619"/>
              </ns1:lnSpc>
              <ns1:buNone/>
            </ns1:pPr>
            <ns1:r>
              <ns1:rPr lang="en-US" sz="413" spc="8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P1 High</ns1:t>
            </ns1:r>
            <ns1:endParaRPr lang="en-US" sz="413" dirty="0"/>
          </ns1:p>
        </ns0:txBody>
      </ns0:sp>
      <ns0:sp>
        <ns0:nvSpPr>
          <ns0:cNvPr id="24" name="TextBox 55"/>
          <ns0:cNvSpPr/>
          <ns0:nvPr/>
        </ns0:nvSpPr>
        <ns0:spPr>
          <ns1:xfrm>
            <ns1:off x="2813304" y="2439829"/>
            <ns1:ext cx="114300" cy="114300"/>
          </ns1:xfrm>
          <ns1:prstGeom prst="roundRect">
            <ns1:avLst>
              <ns1:gd name="adj" fmla="val 9375"/>
            </ns1:avLst>
          </ns1:prstGeom>
          <ns1:solidFill>
            <ns1:srgbClr val="E0E2E9"/>
          </ns1:solidFill>
          <ns1:ln w="3048">
            <ns1:solidFill>
              <ns1:srgbClr val="76777B"/>
            </ns1:solidFill>
            <ns1:prstDash val="solid"/>
          </ns1:ln>
        </ns0:spPr>
        <ns0:txBody>
          <ns1:bodyPr wrap="square" lIns="0" tIns="0" rIns="0" bIns="0" rtlCol="0" anchor="ctr">
            <ns1:spAutoFit/>
          </ns1:bodyPr>
          <ns1:lstStyle/>
          <ns1:p>
            <ns1:pPr algn="l" indent="0" marL="0">
              <ns1:lnSpc>
                <ns1:spcPts val="563"/>
              </ns1:lnSpc>
              <ns1:buNone/>
            </ns1:pPr>
            <ns1:r>
              <ns1:rPr lang="en-US" sz="375" b="1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AK</ns1:t>
            </ns1:r>
            <ns1:endParaRPr lang="en-US" sz="375" dirty="0"/>
          </ns1:p>
        </ns0:txBody>
      </ns0:sp>
      <ns0:sp>
        <ns0:nvSpPr>
          <ns0:cNvPr id="25" name="Shape 59"/>
          <ns0:cNvSpPr/>
          <ns0:nvPr/>
        </ns0:nvSpPr>
        <ns0:spPr>
          <ns1:xfrm>
            <ns1:off x="555498" y="2728627"/>
            <ns1:ext cx="2470404" cy="784479"/>
          </ns1:xfrm>
          <ns1:prstGeom prst="roundRect">
            <ns1:avLst>
              <ns1:gd name="adj" fmla="val 1366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  <ns1:effectLst>
            <ns1:outerShdw sx="100000" sy="100000" kx="0" ky="0" algn="bl" rotWithShape="0" blurRad="14288" dist="4763" dir="5400000">
              <ns1:srgbClr val="07080A">
                <ns1:alpha val="4000"/>
              </ns1:srgbClr>
            </ns1:outerShdw>
          </ns1:effectLst>
        </ns0:spPr>
      </ns0:sp>
      <ns0:sp>
        <ns0:nvSpPr>
          <ns0:cNvPr id="26" name="TextBox 61"/>
          <ns0:cNvSpPr/>
          <ns0:nvPr/>
        </ns0:nvSpPr>
        <ns0:spPr>
          <ns1:xfrm>
            <ns1:off x="653796" y="2826925"/>
            <ns1:ext cx="227380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ZN-102 — PERFORMANCE</ns1:t>
            </ns1:r>
            <ns1:endParaRPr lang="en-US" sz="450" dirty="0"/>
          </ns1:p>
        </ns0:txBody>
      </ns0:sp>
      <ns0:sp>
        <ns0:nvSpPr>
          <ns0:cNvPr id="27" name="TextBox 63"/>
          <ns0:cNvSpPr/>
          <ns0:nvPr/>
        </ns0:nvSpPr>
        <ns0:spPr>
          <ns1:xfrm>
            <ns1:off x="653796" y="2969800"/>
            <ns1:ext cx="2273808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840"/>
              </ns1:lnSpc>
              <ns1:buNone/>
            </ns1:pPr>
            <ns1:r>
              <ns1:rPr lang="en-US" sz="60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Benchmark response latency for partial card swaps under 50 concurrent devs</ns1:t>
            </ns1:r>
            <ns1:endParaRPr lang="en-US" sz="600" dirty="0"/>
          </ns1:p>
        </ns0:txBody>
      </ns0:sp>
      <ns0:sp>
        <ns0:nvSpPr>
          <ns0:cNvPr id="28" name="Shape 65"/>
          <ns0:cNvSpPr/>
          <ns0:nvPr/>
        </ns0:nvSpPr>
        <ns0:spPr>
          <ns1:xfrm>
            <ns1:off x="653796" y="3259360"/>
            <ns1:ext cx="2273808" cy="155448"/>
          </ns1:xfrm>
          <ns1:prstGeom prst="rect">
            <ns1:avLst/>
          </ns1:prstGeom>
          <ns1:noFill/>
          <ns1:ln/>
        </ns0:spPr>
      </ns0:sp>
      <ns0:pic>
        <ns0:nvPicPr>
          <ns0:cNvPr id="29" name="Picture 65" descr="__type_image">    </ns0:cNvPr>
          <ns0:cNvPicPr>
            <ns1:picLocks noChangeAspect="1"/>
          </ns0:cNvPicPr>
          <ns0:nvPr/>
        </ns0:nvPicPr>
        <ns0:blipFill>
          <ns1:blip ns2:embed="rId7">
            <ns1:extLst>
              <ns1:ext uri="{96DAC541-7B7A-43D3-8B79-37D633B846F1}">
                <ns3:svgBlip ns2:embed="rId8"/>
              </ns1:ext>
            </ns1:extLst>
          </ns1:blip>
          <ns1:stretch>
            <ns1:fillRect/>
          </ns1:stretch>
        </ns0:blipFill>
        <ns0:spPr>
          <ns1:xfrm>
            <ns1:off x="653796" y="3259360"/>
            <ns1:ext cx="2273808" cy="155448"/>
          </ns1:xfrm>
          <ns1:prstGeom prst="rect">
            <ns1:avLst/>
          </ns1:prstGeom>
        </ns0:spPr>
      </ns0:pic>
      <ns0:sp>
        <ns0:nvSpPr>
          <ns0:cNvPr id="30" name="TextBox 67"/>
          <ns0:cNvSpPr/>
          <ns0:nvPr/>
        </ns0:nvSpPr>
        <ns0:spPr>
          <ns1:xfrm>
            <ns1:off x="653796" y="3305794"/>
            <ns1:ext cx="242316" cy="103727"/>
          </ns1:xfrm>
          <ns1:prstGeom prst="roundRect">
            <ns1:avLst>
              <ns1:gd name="adj" fmla="val 10331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28575" tIns="9525" rIns="28575" bIns="9525" rtlCol="0" anchor="t">
            <ns1:spAutoFit/>
          </ns1:bodyPr>
          <ns1:lstStyle/>
          <ns1:p>
            <ns1:pPr algn="l" indent="0" marL="0">
              <ns1:lnSpc>
                <ns1:spcPts val="619"/>
              </ns1:lnSpc>
              <ns1:buNone/>
            </ns1:pPr>
            <ns1:r>
              <ns1:rPr lang="en-US" sz="413" spc="8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P2 Med</ns1:t>
            </ns1:r>
            <ns1:endParaRPr lang="en-US" sz="413" dirty="0"/>
          </ns1:p>
        </ns0:txBody>
      </ns0:sp>
      <ns0:sp>
        <ns0:nvSpPr>
          <ns0:cNvPr id="31" name="TextBox 69"/>
          <ns0:cNvSpPr/>
          <ns0:nvPr/>
        </ns0:nvSpPr>
        <ns0:spPr>
          <ns1:xfrm>
            <ns1:off x="2813304" y="3300508"/>
            <ns1:ext cx="114300" cy="114300"/>
          </ns1:xfrm>
          <ns1:prstGeom prst="roundRect">
            <ns1:avLst>
              <ns1:gd name="adj" fmla="val 9375"/>
            </ns1:avLst>
          </ns1:prstGeom>
          <ns1:solidFill>
            <ns1:srgbClr val="E0E2E9"/>
          </ns1:solidFill>
          <ns1:ln w="3048">
            <ns1:solidFill>
              <ns1:srgbClr val="76777B"/>
            </ns1:solidFill>
            <ns1:prstDash val="solid"/>
          </ns1:ln>
        </ns0:spPr>
        <ns0:txBody>
          <ns1:bodyPr wrap="square" lIns="0" tIns="0" rIns="0" bIns="0" rtlCol="0" anchor="ctr">
            <ns1:spAutoFit/>
          </ns1:bodyPr>
          <ns1:lstStyle/>
          <ns1:p>
            <ns1:pPr algn="l" indent="0" marL="0">
              <ns1:lnSpc>
                <ns1:spcPts val="563"/>
              </ns1:lnSpc>
              <ns1:buNone/>
            </ns1:pPr>
            <ns1:r>
              <ns1:rPr lang="en-US" sz="375" b="1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TN</ns1:t>
            </ns1:r>
            <ns1:endParaRPr lang="en-US" sz="375" dirty="0"/>
          </ns1:p>
        </ns0:txBody>
      </ns0:sp>
      <ns0:sp>
        <ns0:nvSpPr>
          <ns0:cNvPr id="32" name="Shape 76"/>
          <ns0:cNvSpPr/>
          <ns0:nvPr/>
        </ns0:nvSpPr>
        <ns0:spPr>
          <ns1:xfrm>
            <ns1:off x="3238500" y="1635157"/>
            <ns1:ext cx="2667000" cy="2486787"/>
          </ns1:xfrm>
          <ns1:prstGeom prst="roundRect">
            <ns1:avLst>
              <ns1:gd name="adj" fmla="val 431"/>
            </ns1:avLst>
          </ns1:prstGeom>
          <ns1:solidFill>
            <ns1:srgbClr val="FAF9F5">
              <ns1:alpha val="65000"/>
            </ns1:srgbClr>
          </ns1:solidFill>
          <ns1:ln w="3048">
            <ns1:solidFill>
              <ns1:srgbClr val="76777B"/>
            </ns1:solidFill>
            <ns1:prstDash val="dash"/>
          </ns1:ln>
        </ns0:spPr>
      </ns0:sp>
      <ns0:sp>
        <ns0:nvSpPr>
          <ns0:cNvPr id="33" name="Shape 78"/>
          <ns0:cNvSpPr/>
          <ns0:nvPr/>
        </ns0:nvSpPr>
        <ns0:spPr>
          <ns1:xfrm>
            <ns1:off x="3336798" y="1733455"/>
            <ns1:ext cx="2470404" cy="164973"/>
          </ns1:xfrm>
          <ns1:prstGeom prst="rect">
            <ns1:avLst/>
          </ns1:prstGeom>
          <ns1:noFill/>
          <ns1:ln/>
        </ns0:spPr>
      </ns0:sp>
      <ns0:pic>
        <ns0:nvPicPr>
          <ns0:cNvPr id="34" name="Picture 78" descr="__type_image">    </ns0:cNvPr>
          <ns0:cNvPicPr>
            <ns1:picLocks noChangeAspect="1"/>
          </ns0:cNvPicPr>
          <ns0:nvPr/>
        </ns0:nvPicPr>
        <ns0:blipFill>
          <ns1:blip ns2:embed="rId9">
            <ns1:extLst>
              <ns1:ext uri="{96DAC541-7B7A-43D3-8B79-37D633B846F1}">
                <ns3:svgBlip ns2:embed="rId10"/>
              </ns1:ext>
            </ns1:extLst>
          </ns1:blip>
          <ns1:stretch>
            <ns1:fillRect/>
          </ns1:stretch>
        </ns0:blipFill>
        <ns0:spPr>
          <ns1:xfrm>
            <ns1:off x="3336798" y="1733455"/>
            <ns1:ext cx="2470404" cy="164973"/>
          </ns1:xfrm>
          <ns1:prstGeom prst="rect">
            <ns1:avLst/>
          </ns1:prstGeom>
        </ns0:spPr>
      </ns0:pic>
      <ns0:sp>
        <ns0:nvSpPr>
          <ns0:cNvPr id="35" name="Shape 82"/>
          <ns0:cNvSpPr/>
          <ns0:nvPr/>
        </ns0:nvSpPr>
        <ns0:spPr>
          <ns1:xfrm>
            <ns1:off x="3336798" y="1766792"/>
            <ns1:ext cx="38100" cy="38100"/>
          </ns1:xfrm>
          <ns1:prstGeom prst="roundRect">
            <ns1:avLst>
              <ns1:gd name="adj" fmla="val 12500"/>
            </ns1:avLst>
          </ns1:prstGeom>
          <ns1:solidFill>
            <ns1:srgbClr val="100600"/>
          </ns1:solidFill>
          <ns1:ln/>
        </ns0:spPr>
      </ns0:sp>
      <ns0:sp>
        <ns0:nvSpPr>
          <ns0:cNvPr id="36" name="TextBox 84"/>
          <ns0:cNvSpPr/>
          <ns0:nvPr/>
        </ns0:nvSpPr>
        <ns0:spPr>
          <ns1:xfrm>
            <ns1:off x="3412998" y="1735836"/>
            <ns1:ext cx="432530" cy="10001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88"/>
              </ns1:lnSpc>
              <ns1:buNone/>
            </ns1:pPr>
            <ns1:r>
              <ns1:rPr lang="en-US" sz="525" b="1" spc="21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IN PROGRESS</ns1:t>
            </ns1:r>
            <ns1:endParaRPr lang="en-US" sz="525" dirty="0"/>
          </ns1:p>
        </ns0:txBody>
      </ns0:sp>
      <ns0:sp>
        <ns0:nvSpPr>
          <ns0:cNvPr id="37" name="TextBox 87"/>
          <ns0:cNvSpPr/>
          <ns0:nvPr/>
        </ns0:nvSpPr>
        <ns0:spPr>
          <ns1:xfrm>
            <ns1:off x="5668137" y="1733455"/>
            <ns1:ext cx="139065" cy="104775"/>
          </ns1:xfrm>
          <ns1:prstGeom prst="roundRect">
            <ns1:avLst>
              <ns1:gd name="adj" fmla="val 10227"/>
            </ns1:avLst>
          </ns1:prstGeom>
          <ns1:solidFill>
            <ns1:srgbClr val="E0E2E9"/>
          </ns1:solidFill>
          <ns1:ln/>
        </ns0:spPr>
        <ns0:txBody>
          <ns1:bodyPr wrap="square" lIns="38100" tIns="9525" rIns="38100" bIns="9525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02</ns1:t>
            </ns1:r>
            <ns1:endParaRPr lang="en-US" sz="450" dirty="0"/>
          </ns1:p>
        </ns0:txBody>
      </ns0:sp>
      <ns0:sp>
        <ns0:nvSpPr>
          <ns0:cNvPr id="38" name="Shape 90"/>
          <ns0:cNvSpPr/>
          <ns0:nvPr/>
        </ns0:nvSpPr>
        <ns0:spPr>
          <ns1:xfrm>
            <ns1:off x="3336798" y="1974628"/>
            <ns1:ext cx="2470404" cy="784479"/>
          </ns1:xfrm>
          <ns1:prstGeom prst="roundRect">
            <ns1:avLst>
              <ns1:gd name="adj" fmla="val 1366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  <ns1:effectLst>
            <ns1:outerShdw sx="100000" sy="100000" kx="0" ky="0" algn="bl" rotWithShape="0" blurRad="14288" dist="4763" dir="5400000">
              <ns1:srgbClr val="07080A">
                <ns1:alpha val="4000"/>
              </ns1:srgbClr>
            </ns1:outerShdw>
          </ns1:effectLst>
        </ns0:spPr>
      </ns0:sp>
      <ns0:sp>
        <ns0:nvSpPr>
          <ns0:cNvPr id="39" name="TextBox 92"/>
          <ns0:cNvSpPr/>
          <ns0:nvPr/>
        </ns0:nvSpPr>
        <ns0:spPr>
          <ns1:xfrm>
            <ns1:off x="3435096" y="2072926"/>
            <ns1:ext cx="227380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ZN-098 — HYPERMEDIA</ns1:t>
            </ns1:r>
            <ns1:endParaRPr lang="en-US" sz="450" dirty="0"/>
          </ns1:p>
        </ns0:txBody>
      </ns0:sp>
      <ns0:sp>
        <ns0:nvSpPr>
          <ns0:cNvPr id="40" name="TextBox 94"/>
          <ns0:cNvSpPr/>
          <ns0:nvPr/>
        </ns0:nvSpPr>
        <ns0:spPr>
          <ns1:xfrm>
            <ns1:off x="3435096" y="2215801"/>
            <ns1:ext cx="2273808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840"/>
              </ns1:lnSpc>
              <ns1:buNone/>
            </ns1:pPr>
            <ns1:r>
              <ns1:rPr lang="en-US" sz="60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Migrate drag-and-drop event listeners to native hx-vals payload dispatch</ns1:t>
            </ns1:r>
            <ns1:endParaRPr lang="en-US" sz="600" dirty="0"/>
          </ns1:p>
        </ns0:txBody>
      </ns0:sp>
      <ns0:sp>
        <ns0:nvSpPr>
          <ns0:cNvPr id="41" name="Shape 96"/>
          <ns0:cNvSpPr/>
          <ns0:nvPr/>
        </ns0:nvSpPr>
        <ns0:spPr>
          <ns1:xfrm>
            <ns1:off x="3435096" y="2505361"/>
            <ns1:ext cx="2273808" cy="155448"/>
          </ns1:xfrm>
          <ns1:prstGeom prst="rect">
            <ns1:avLst/>
          </ns1:prstGeom>
          <ns1:noFill/>
          <ns1:ln/>
        </ns0:spPr>
      </ns0:sp>
      <ns0:pic>
        <ns0:nvPicPr>
          <ns0:cNvPr id="42" name="Picture 96" descr="__type_image">    </ns0:cNvPr>
          <ns0:cNvPicPr>
            <ns1:picLocks noChangeAspect="1"/>
          </ns0:cNvPicPr>
          <ns0:nvPr/>
        </ns0:nvPicPr>
        <ns0:blipFill>
          <ns1:blip ns2:embed="rId11">
            <ns1:extLst>
              <ns1:ext uri="{96DAC541-7B7A-43D3-8B79-37D633B846F1}">
                <ns3:svgBlip ns2:embed="rId12"/>
              </ns1:ext>
            </ns1:extLst>
          </ns1:blip>
          <ns1:stretch>
            <ns1:fillRect/>
          </ns1:stretch>
        </ns0:blipFill>
        <ns0:spPr>
          <ns1:xfrm>
            <ns1:off x="3435096" y="2505361"/>
            <ns1:ext cx="2273808" cy="155448"/>
          </ns1:xfrm>
          <ns1:prstGeom prst="rect">
            <ns1:avLst/>
          </ns1:prstGeom>
        </ns0:spPr>
      </ns0:pic>
      <ns0:sp>
        <ns0:nvSpPr>
          <ns0:cNvPr id="43" name="TextBox 98"/>
          <ns0:cNvSpPr/>
          <ns0:nvPr/>
        </ns0:nvSpPr>
        <ns0:spPr>
          <ns1:xfrm>
            <ns1:off x="3435096" y="2551795"/>
            <ns1:ext cx="242316" cy="103727"/>
          </ns1:xfrm>
          <ns1:prstGeom prst="roundRect">
            <ns1:avLst>
              <ns1:gd name="adj" fmla="val 10331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28575" tIns="9525" rIns="28575" bIns="9525" rtlCol="0" anchor="t">
            <ns1:spAutoFit/>
          </ns1:bodyPr>
          <ns1:lstStyle/>
          <ns1:p>
            <ns1:pPr algn="l" indent="0" marL="0">
              <ns1:lnSpc>
                <ns1:spcPts val="619"/>
              </ns1:lnSpc>
              <ns1:buNone/>
            </ns1:pPr>
            <ns1:r>
              <ns1:rPr lang="en-US" sz="413" spc="8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Active</ns1:t>
            </ns1:r>
            <ns1:endParaRPr lang="en-US" sz="413" dirty="0"/>
          </ns1:p>
        </ns0:txBody>
      </ns0:sp>
      <ns0:sp>
        <ns0:nvSpPr>
          <ns0:cNvPr id="44" name="TextBox 100"/>
          <ns0:cNvSpPr/>
          <ns0:nvPr/>
        </ns0:nvSpPr>
        <ns0:spPr>
          <ns1:xfrm>
            <ns1:off x="5594604" y="2546509"/>
            <ns1:ext cx="114300" cy="114300"/>
          </ns1:xfrm>
          <ns1:prstGeom prst="roundRect">
            <ns1:avLst>
              <ns1:gd name="adj" fmla="val 9375"/>
            </ns1:avLst>
          </ns1:prstGeom>
          <ns1:solidFill>
            <ns1:srgbClr val="E0E2E9"/>
          </ns1:solidFill>
          <ns1:ln w="3048">
            <ns1:solidFill>
              <ns1:srgbClr val="76777B"/>
            </ns1:solidFill>
            <ns1:prstDash val="solid"/>
          </ns1:ln>
        </ns0:spPr>
        <ns0:txBody>
          <ns1:bodyPr wrap="square" lIns="0" tIns="0" rIns="0" bIns="0" rtlCol="0" anchor="ctr">
            <ns1:spAutoFit/>
          </ns1:bodyPr>
          <ns1:lstStyle/>
          <ns1:p>
            <ns1:pPr algn="l" indent="0" marL="0">
              <ns1:lnSpc>
                <ns1:spcPts val="563"/>
              </ns1:lnSpc>
              <ns1:buNone/>
            </ns1:pPr>
            <ns1:r>
              <ns1:rPr lang="en-US" sz="375" b="1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DL</ns1:t>
            </ns1:r>
            <ns1:endParaRPr lang="en-US" sz="375" dirty="0"/>
          </ns1:p>
        </ns0:txBody>
      </ns0:sp>
      <ns0:sp>
        <ns0:nvSpPr>
          <ns0:cNvPr id="45" name="Shape 104"/>
          <ns0:cNvSpPr/>
          <ns0:nvPr/>
        </ns0:nvSpPr>
        <ns0:spPr>
          <ns1:xfrm>
            <ns1:off x="3336798" y="2835307"/>
            <ns1:ext cx="2470404" cy="784479"/>
          </ns1:xfrm>
          <ns1:prstGeom prst="roundRect">
            <ns1:avLst>
              <ns1:gd name="adj" fmla="val 1366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  <ns1:effectLst>
            <ns1:outerShdw sx="100000" sy="100000" kx="0" ky="0" algn="bl" rotWithShape="0" blurRad="14288" dist="4763" dir="5400000">
              <ns1:srgbClr val="07080A">
                <ns1:alpha val="4000"/>
              </ns1:srgbClr>
            </ns1:outerShdw>
          </ns1:effectLst>
        </ns0:spPr>
      </ns0:sp>
      <ns0:sp>
        <ns0:nvSpPr>
          <ns0:cNvPr id="46" name="TextBox 106"/>
          <ns0:cNvSpPr/>
          <ns0:nvPr/>
        </ns0:nvSpPr>
        <ns0:spPr>
          <ns1:xfrm>
            <ns1:off x="3435096" y="2933605"/>
            <ns1:ext cx="227380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ZN-099 — TOKENS</ns1:t>
            </ns1:r>
            <ns1:endParaRPr lang="en-US" sz="450" dirty="0"/>
          </ns1:p>
        </ns0:txBody>
      </ns0:sp>
      <ns0:sp>
        <ns0:nvSpPr>
          <ns0:cNvPr id="47" name="TextBox 108"/>
          <ns0:cNvSpPr/>
          <ns0:nvPr/>
        </ns0:nvSpPr>
        <ns0:spPr>
          <ns1:xfrm>
            <ns1:off x="3435096" y="3076480"/>
            <ns1:ext cx="2273808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840"/>
              </ns1:lnSpc>
              <ns1:buNone/>
            </ns1:pPr>
            <ns1:r>
              <ns1:rPr lang="en-US" sz="60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Enforce 0.125rem radius constraint across all nested swimlane cards</ns1:t>
            </ns1:r>
            <ns1:endParaRPr lang="en-US" sz="600" dirty="0"/>
          </ns1:p>
        </ns0:txBody>
      </ns0:sp>
      <ns0:sp>
        <ns0:nvSpPr>
          <ns0:cNvPr id="48" name="Shape 110"/>
          <ns0:cNvSpPr/>
          <ns0:nvPr/>
        </ns0:nvSpPr>
        <ns0:spPr>
          <ns1:xfrm>
            <ns1:off x="3435096" y="3366040"/>
            <ns1:ext cx="2273808" cy="155448"/>
          </ns1:xfrm>
          <ns1:prstGeom prst="rect">
            <ns1:avLst/>
          </ns1:prstGeom>
          <ns1:noFill/>
          <ns1:ln/>
        </ns0:spPr>
      </ns0:sp>
      <ns0:pic>
        <ns0:nvPicPr>
          <ns0:cNvPr id="49" name="Picture 110" descr="__type_image">    </ns0:cNvPr>
          <ns0:cNvPicPr>
            <ns1:picLocks noChangeAspect="1"/>
          </ns0:cNvPicPr>
          <ns0:nvPr/>
        </ns0:nvPicPr>
        <ns0:blipFill>
          <ns1:blip ns2:embed="rId13">
            <ns1:extLst>
              <ns1:ext uri="{96DAC541-7B7A-43D3-8B79-37D633B846F1}">
                <ns3:svgBlip ns2:embed="rId14"/>
              </ns1:ext>
            </ns1:extLst>
          </ns1:blip>
          <ns1:stretch>
            <ns1:fillRect/>
          </ns1:stretch>
        </ns0:blipFill>
        <ns0:spPr>
          <ns1:xfrm>
            <ns1:off x="3435096" y="3366040"/>
            <ns1:ext cx="2273808" cy="155448"/>
          </ns1:xfrm>
          <ns1:prstGeom prst="rect">
            <ns1:avLst/>
          </ns1:prstGeom>
        </ns0:spPr>
      </ns0:pic>
      <ns0:sp>
        <ns0:nvSpPr>
          <ns0:cNvPr id="50" name="TextBox 112"/>
          <ns0:cNvSpPr/>
          <ns0:nvPr/>
        </ns0:nvSpPr>
        <ns0:spPr>
          <ns1:xfrm>
            <ns1:off x="3435096" y="3412474"/>
            <ns1:ext cx="242316" cy="103727"/>
          </ns1:xfrm>
          <ns1:prstGeom prst="roundRect">
            <ns1:avLst>
              <ns1:gd name="adj" fmla="val 10331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28575" tIns="9525" rIns="28575" bIns="9525" rtlCol="0" anchor="t">
            <ns1:spAutoFit/>
          </ns1:bodyPr>
          <ns1:lstStyle/>
          <ns1:p>
            <ns1:pPr algn="l" indent="0" marL="0">
              <ns1:lnSpc>
                <ns1:spcPts val="619"/>
              </ns1:lnSpc>
              <ns1:buNone/>
            </ns1:pPr>
            <ns1:r>
              <ns1:rPr lang="en-US" sz="413" spc="8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Active</ns1:t>
            </ns1:r>
            <ns1:endParaRPr lang="en-US" sz="413" dirty="0"/>
          </ns1:p>
        </ns0:txBody>
      </ns0:sp>
      <ns0:sp>
        <ns0:nvSpPr>
          <ns0:cNvPr id="51" name="TextBox 114"/>
          <ns0:cNvSpPr/>
          <ns0:nvPr/>
        </ns0:nvSpPr>
        <ns0:spPr>
          <ns1:xfrm>
            <ns1:off x="5594604" y="3407188"/>
            <ns1:ext cx="114300" cy="114300"/>
          </ns1:xfrm>
          <ns1:prstGeom prst="roundRect">
            <ns1:avLst>
              <ns1:gd name="adj" fmla="val 9375"/>
            </ns1:avLst>
          </ns1:prstGeom>
          <ns1:solidFill>
            <ns1:srgbClr val="E0E2E9"/>
          </ns1:solidFill>
          <ns1:ln w="3048">
            <ns1:solidFill>
              <ns1:srgbClr val="76777B"/>
            </ns1:solidFill>
            <ns1:prstDash val="solid"/>
          </ns1:ln>
        </ns0:spPr>
        <ns0:txBody>
          <ns1:bodyPr wrap="square" lIns="0" tIns="0" rIns="0" bIns="0" rtlCol="0" anchor="ctr">
            <ns1:spAutoFit/>
          </ns1:bodyPr>
          <ns1:lstStyle/>
          <ns1:p>
            <ns1:pPr algn="l" indent="0" marL="0">
              <ns1:lnSpc>
                <ns1:spcPts val="563"/>
              </ns1:lnSpc>
              <ns1:buNone/>
            </ns1:pPr>
            <ns1:r>
              <ns1:rPr lang="en-US" sz="375" b="1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SR</ns1:t>
            </ns1:r>
            <ns1:endParaRPr lang="en-US" sz="375" dirty="0"/>
          </ns1:p>
        </ns0:txBody>
      </ns0:sp>
      <ns0:sp>
        <ns0:nvSpPr>
          <ns0:cNvPr id="52" name="Shape 121"/>
          <ns0:cNvSpPr/>
          <ns0:nvPr/>
        </ns0:nvSpPr>
        <ns0:spPr>
          <ns1:xfrm>
            <ns1:off x="6019800" y="1635157"/>
            <ns1:ext cx="2667000" cy="2486787"/>
          </ns1:xfrm>
          <ns1:prstGeom prst="roundRect">
            <ns1:avLst>
              <ns1:gd name="adj" fmla="val 431"/>
            </ns1:avLst>
          </ns1:prstGeom>
          <ns1:solidFill>
            <ns1:srgbClr val="FAF9F5">
              <ns1:alpha val="65000"/>
            </ns1:srgbClr>
          </ns1:solidFill>
          <ns1:ln w="3048">
            <ns1:solidFill>
              <ns1:srgbClr val="76777B"/>
            </ns1:solidFill>
            <ns1:prstDash val="dash"/>
          </ns1:ln>
        </ns0:spPr>
      </ns0:sp>
      <ns0:sp>
        <ns0:nvSpPr>
          <ns0:cNvPr id="53" name="Shape 123"/>
          <ns0:cNvSpPr/>
          <ns0:nvPr/>
        </ns0:nvSpPr>
        <ns0:spPr>
          <ns1:xfrm>
            <ns1:off x="6118098" y="1733455"/>
            <ns1:ext cx="2470404" cy="164973"/>
          </ns1:xfrm>
          <ns1:prstGeom prst="rect">
            <ns1:avLst/>
          </ns1:prstGeom>
          <ns1:noFill/>
          <ns1:ln/>
        </ns0:spPr>
      </ns0:sp>
      <ns0:pic>
        <ns0:nvPicPr>
          <ns0:cNvPr id="54" name="Picture 123" descr="__type_image">    </ns0:cNvPr>
          <ns0:cNvPicPr>
            <ns1:picLocks noChangeAspect="1"/>
          </ns0:cNvPicPr>
          <ns0:nvPr/>
        </ns0:nvPicPr>
        <ns0:blipFill>
          <ns1:blip ns2:embed="rId15">
            <ns1:extLst>
              <ns1:ext uri="{96DAC541-7B7A-43D3-8B79-37D633B846F1}">
                <ns3:svgBlip ns2:embed="rId16"/>
              </ns1:ext>
            </ns1:extLst>
          </ns1:blip>
          <ns1:stretch>
            <ns1:fillRect/>
          </ns1:stretch>
        </ns0:blipFill>
        <ns0:spPr>
          <ns1:xfrm>
            <ns1:off x="6118098" y="1733455"/>
            <ns1:ext cx="2470404" cy="164973"/>
          </ns1:xfrm>
          <ns1:prstGeom prst="rect">
            <ns1:avLst/>
          </ns1:prstGeom>
        </ns0:spPr>
      </ns0:pic>
      <ns0:sp>
        <ns0:nvSpPr>
          <ns0:cNvPr id="55" name="Shape 127"/>
          <ns0:cNvSpPr/>
          <ns0:nvPr/>
        </ns0:nvSpPr>
        <ns0:spPr>
          <ns1:xfrm>
            <ns1:off x="6118098" y="1766792"/>
            <ns1:ext cx="38100" cy="38100"/>
          </ns1:xfrm>
          <ns1:prstGeom prst="roundRect">
            <ns1:avLst>
              <ns1:gd name="adj" fmla="val 12500"/>
            </ns1:avLst>
          </ns1:prstGeom>
          <ns1:solidFill>
            <ns1:srgbClr val="76777B"/>
          </ns1:solidFill>
          <ns1:ln/>
        </ns0:spPr>
      </ns0:sp>
      <ns0:sp>
        <ns0:nvSpPr>
          <ns0:cNvPr id="56" name="TextBox 129"/>
          <ns0:cNvSpPr/>
          <ns0:nvPr/>
        </ns0:nvSpPr>
        <ns0:spPr>
          <ns1:xfrm>
            <ns1:off x="6194298" y="1735836"/>
            <ns1:ext cx="157305" cy="10001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88"/>
              </ns1:lnSpc>
              <ns1:buNone/>
            </ns1:pPr>
            <ns1:r>
              <ns1:rPr lang="en-US" sz="525" b="1" spc="21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DONE</ns1:t>
            </ns1:r>
            <ns1:endParaRPr lang="en-US" sz="525" dirty="0"/>
          </ns1:p>
        </ns0:txBody>
      </ns0:sp>
      <ns0:sp>
        <ns0:nvSpPr>
          <ns0:cNvPr id="57" name="TextBox 132"/>
          <ns0:cNvSpPr/>
          <ns0:nvPr/>
        </ns0:nvSpPr>
        <ns0:spPr>
          <ns1:xfrm>
            <ns1:off x="8449437" y="1733455"/>
            <ns1:ext cx="139065" cy="104775"/>
          </ns1:xfrm>
          <ns1:prstGeom prst="roundRect">
            <ns1:avLst>
              <ns1:gd name="adj" fmla="val 10227"/>
            </ns1:avLst>
          </ns1:prstGeom>
          <ns1:solidFill>
            <ns1:srgbClr val="E0E2E9"/>
          </ns1:solidFill>
          <ns1:ln/>
        </ns0:spPr>
        <ns0:txBody>
          <ns1:bodyPr wrap="square" lIns="38100" tIns="9525" rIns="38100" bIns="9525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03</ns1:t>
            </ns1:r>
            <ns1:endParaRPr lang="en-US" sz="450" dirty="0"/>
          </ns1:p>
        </ns0:txBody>
      </ns0:sp>
      <ns0:sp>
        <ns0:nvSpPr>
          <ns0:cNvPr id="58" name="Shape 135"/>
          <ns0:cNvSpPr/>
          <ns0:nvPr/>
        </ns0:nvSpPr>
        <ns0:spPr>
          <ns1:xfrm>
            <ns1:off x="6118098" y="1974628"/>
            <ns1:ext cx="2470404" cy="784479"/>
          </ns1:xfrm>
          <ns1:prstGeom prst="roundRect">
            <ns1:avLst>
              <ns1:gd name="adj" fmla="val 1366"/>
            </ns1:avLst>
          </ns1:prstGeom>
          <ns1:solidFill>
            <ns1:srgbClr val="FAF9F5">
              <ns1:alpha val="85000"/>
            </ns1:srgbClr>
          </ns1:solidFill>
          <ns1:ln w="3048">
            <ns1:solidFill>
              <ns1:srgbClr val="76777B"/>
            </ns1:solidFill>
            <ns1:prstDash val="solid"/>
          </ns1:ln>
          <ns1:effectLst>
            <ns1:outerShdw sx="100000" sy="100000" kx="0" ky="0" algn="bl" rotWithShape="0" blurRad="14288" dist="4763" dir="5400000">
              <ns1:srgbClr val="07080A">
                <ns1:alpha val="4000"/>
              </ns1:srgbClr>
            </ns1:outerShdw>
          </ns1:effectLst>
        </ns0:spPr>
      </ns0:sp>
      <ns0:sp>
        <ns0:nvSpPr>
          <ns0:cNvPr id="59" name="TextBox 137"/>
          <ns0:cNvSpPr/>
          <ns0:nvPr/>
        </ns0:nvSpPr>
        <ns0:spPr>
          <ns1:xfrm>
            <ns1:off x="6216396" y="2072926"/>
            <ns1:ext cx="227380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5B5E64">
                    <ns1:alpha val="85000"/>
                  </ns1:srgbClr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ZN-092 — CORE</ns1:t>
            </ns1:r>
            <ns1:endParaRPr lang="en-US" sz="450" dirty="0"/>
          </ns1:p>
        </ns0:txBody>
      </ns0:sp>
      <ns0:sp>
        <ns0:nvSpPr>
          <ns0:cNvPr id="60" name="TextBox 139"/>
          <ns0:cNvSpPr/>
          <ns0:nvPr/>
        </ns0:nvSpPr>
        <ns0:spPr>
          <ns1:xfrm>
            <ns1:off x="6216396" y="2215801"/>
            <ns1:ext cx="2273808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840"/>
              </ns1:lnSpc>
              <ns1:buNone/>
            </ns1:pPr>
            <ns1:r>
              <ns1:rPr lang="en-US" sz="600" dirty="0">
                <ns1:solidFill>
                  <ns1:srgbClr val="07080A">
                    <ns1:alpha val="85000"/>
                  </ns1:srgbClr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Configure FastAPI ASGI lifespan handlers for zero-downtime card sync</ns1:t>
            </ns1:r>
            <ns1:endParaRPr lang="en-US" sz="600" dirty="0"/>
          </ns1:p>
        </ns0:txBody>
      </ns0:sp>
      <ns0:sp>
        <ns0:nvSpPr>
          <ns0:cNvPr id="61" name="Shape 141"/>
          <ns0:cNvSpPr/>
          <ns0:nvPr/>
        </ns0:nvSpPr>
        <ns0:spPr>
          <ns1:xfrm>
            <ns1:off x="6216396" y="2505361"/>
            <ns1:ext cx="2273808" cy="155448"/>
          </ns1:xfrm>
          <ns1:prstGeom prst="rect">
            <ns1:avLst/>
          </ns1:prstGeom>
          <ns1:noFill/>
          <ns1:ln/>
        </ns0:spPr>
      </ns0:sp>
      <ns0:pic>
        <ns0:nvPicPr>
          <ns0:cNvPr id="62" name="Picture 141" descr="__type_image">    </ns0:cNvPr>
          <ns0:cNvPicPr>
            <ns1:picLocks noChangeAspect="1"/>
          </ns0:cNvPicPr>
          <ns0:nvPr/>
        </ns0:nvPicPr>
        <ns0:blipFill>
          <ns1:blip ns2:embed="rId17">
            <ns1:extLst>
              <ns1:ext uri="{96DAC541-7B7A-43D3-8B79-37D633B846F1}">
                <ns3:svgBlip ns2:embed="rId18"/>
              </ns1:ext>
            </ns1:extLst>
          </ns1:blip>
          <ns1:stretch>
            <ns1:fillRect/>
          </ns1:stretch>
        </ns0:blipFill>
        <ns0:spPr>
          <ns1:xfrm>
            <ns1:off x="6216396" y="2505361"/>
            <ns1:ext cx="2273808" cy="155448"/>
          </ns1:xfrm>
          <ns1:prstGeom prst="rect">
            <ns1:avLst/>
          </ns1:prstGeom>
        </ns0:spPr>
      </ns0:pic>
      <ns0:sp>
        <ns0:nvSpPr>
          <ns0:cNvPr id="63" name="TextBox 143"/>
          <ns0:cNvSpPr/>
          <ns0:nvPr/>
        </ns0:nvSpPr>
        <ns0:spPr>
          <ns1:xfrm>
            <ns1:off x="6216396" y="2551795"/>
            <ns1:ext cx="301990" cy="103727"/>
          </ns1:xfrm>
          <ns1:prstGeom prst="roundRect">
            <ns1:avLst>
              <ns1:gd name="adj" fmla="val 10331"/>
            </ns1:avLst>
          </ns1:prstGeom>
          <ns1:solidFill>
            <ns1:srgbClr val="FAF9F5">
              <ns1:alpha val="85000"/>
            </ns1:srgbClr>
          </ns1:solidFill>
          <ns1:ln w="3048">
            <ns1:solidFill>
              <ns1:srgbClr val="76777B"/>
            </ns1:solidFill>
            <ns1:prstDash val="solid"/>
          </ns1:ln>
        </ns0:spPr>
        <ns0:txBody>
          <ns1:bodyPr wrap="square" lIns="28575" tIns="9525" rIns="28575" bIns="9525" rtlCol="0" anchor="t">
            <ns1:spAutoFit/>
          </ns1:bodyPr>
          <ns1:lstStyle/>
          <ns1:p>
            <ns1:pPr algn="l" indent="0" marL="0">
              <ns1:lnSpc>
                <ns1:spcPts val="619"/>
              </ns1:lnSpc>
              <ns1:buNone/>
            </ns1:pPr>
            <ns1:r>
              <ns1:rPr lang="en-US" sz="413" spc="8" kern="0" dirty="0">
                <ns1:solidFill>
                  <ns1:srgbClr val="07080A">
                    <ns1:alpha val="85000"/>
                  </ns1:srgbClr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Complete</ns1:t>
            </ns1:r>
            <ns1:endParaRPr lang="en-US" sz="413" dirty="0"/>
          </ns1:p>
        </ns0:txBody>
      </ns0:sp>
      <ns0:sp>
        <ns0:nvSpPr>
          <ns0:cNvPr id="64" name="TextBox 145"/>
          <ns0:cNvSpPr/>
          <ns0:nvPr/>
        </ns0:nvSpPr>
        <ns0:spPr>
          <ns1:xfrm>
            <ns1:off x="8375904" y="2546509"/>
            <ns1:ext cx="114300" cy="114300"/>
          </ns1:xfrm>
          <ns1:prstGeom prst="roundRect">
            <ns1:avLst>
              <ns1:gd name="adj" fmla="val 9375"/>
            </ns1:avLst>
          </ns1:prstGeom>
          <ns1:solidFill>
            <ns1:srgbClr val="E0E2E9">
              <ns1:alpha val="85000"/>
            </ns1:srgbClr>
          </ns1:solidFill>
          <ns1:ln w="3048">
            <ns1:solidFill>
              <ns1:srgbClr val="76777B"/>
            </ns1:solidFill>
            <ns1:prstDash val="solid"/>
          </ns1:ln>
        </ns0:spPr>
        <ns0:txBody>
          <ns1:bodyPr wrap="square" lIns="0" tIns="0" rIns="0" bIns="0" rtlCol="0" anchor="ctr">
            <ns1:spAutoFit/>
          </ns1:bodyPr>
          <ns1:lstStyle/>
          <ns1:p>
            <ns1:pPr algn="l" indent="0" marL="0">
              <ns1:lnSpc>
                <ns1:spcPts val="563"/>
              </ns1:lnSpc>
              <ns1:buNone/>
            </ns1:pPr>
            <ns1:r>
              <ns1:rPr lang="en-US" sz="375" b="1" dirty="0">
                <ns1:solidFill>
                  <ns1:srgbClr val="07080A">
                    <ns1:alpha val="85000"/>
                  </ns1:srgbClr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TN</ns1:t>
            </ns1:r>
            <ns1:endParaRPr lang="en-US" sz="375" dirty="0"/>
          </ns1:p>
        </ns0:txBody>
      </ns0:sp>
      <ns0:sp>
        <ns0:nvSpPr>
          <ns0:cNvPr id="65" name="Shape 149"/>
          <ns0:cNvSpPr/>
          <ns0:nvPr/>
        </ns0:nvSpPr>
        <ns0:spPr>
          <ns1:xfrm>
            <ns1:off x="6118098" y="2835307"/>
            <ns1:ext cx="2470404" cy="784479"/>
          </ns1:xfrm>
          <ns1:prstGeom prst="roundRect">
            <ns1:avLst>
              <ns1:gd name="adj" fmla="val 1366"/>
            </ns1:avLst>
          </ns1:prstGeom>
          <ns1:solidFill>
            <ns1:srgbClr val="FAF9F5">
              <ns1:alpha val="85000"/>
            </ns1:srgbClr>
          </ns1:solidFill>
          <ns1:ln w="3048">
            <ns1:solidFill>
              <ns1:srgbClr val="76777B"/>
            </ns1:solidFill>
            <ns1:prstDash val="solid"/>
          </ns1:ln>
          <ns1:effectLst>
            <ns1:outerShdw sx="100000" sy="100000" kx="0" ky="0" algn="bl" rotWithShape="0" blurRad="14288" dist="4763" dir="5400000">
              <ns1:srgbClr val="07080A">
                <ns1:alpha val="4000"/>
              </ns1:srgbClr>
            </ns1:outerShdw>
          </ns1:effectLst>
        </ns0:spPr>
      </ns0:sp>
      <ns0:sp>
        <ns0:nvSpPr>
          <ns0:cNvPr id="66" name="TextBox 151"/>
          <ns0:cNvSpPr/>
          <ns0:nvPr/>
        </ns0:nvSpPr>
        <ns0:spPr>
          <ns1:xfrm>
            <ns1:off x="6216396" y="2933605"/>
            <ns1:ext cx="227380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5B5E64">
                    <ns1:alpha val="85000"/>
                  </ns1:srgbClr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ZN-093 — ROUTING</ns1:t>
            </ns1:r>
            <ns1:endParaRPr lang="en-US" sz="450" dirty="0"/>
          </ns1:p>
        </ns0:txBody>
      </ns0:sp>
      <ns0:sp>
        <ns0:nvSpPr>
          <ns0:cNvPr id="67" name="TextBox 153"/>
          <ns0:cNvSpPr/>
          <ns0:nvPr/>
        </ns0:nvSpPr>
        <ns0:spPr>
          <ns1:xfrm>
            <ns1:off x="6216396" y="3076480"/>
            <ns1:ext cx="2273808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840"/>
              </ns1:lnSpc>
              <ns1:buNone/>
            </ns1:pPr>
            <ns1:r>
              <ns1:rPr lang="en-US" sz="600" dirty="0">
                <ns1:solidFill>
                  <ns1:srgbClr val="07080A">
                    <ns1:alpha val="85000"/>
                  </ns1:srgbClr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Replace SPA router with HTML partial response endpoints (/cards/{id})</ns1:t>
            </ns1:r>
            <ns1:endParaRPr lang="en-US" sz="600" dirty="0"/>
          </ns1:p>
        </ns0:txBody>
      </ns0:sp>
      <ns0:sp>
        <ns0:nvSpPr>
          <ns0:cNvPr id="68" name="Shape 155"/>
          <ns0:cNvSpPr/>
          <ns0:nvPr/>
        </ns0:nvSpPr>
        <ns0:spPr>
          <ns1:xfrm>
            <ns1:off x="6216396" y="3366040"/>
            <ns1:ext cx="2273808" cy="155448"/>
          </ns1:xfrm>
          <ns1:prstGeom prst="rect">
            <ns1:avLst/>
          </ns1:prstGeom>
          <ns1:noFill/>
          <ns1:ln/>
        </ns0:spPr>
      </ns0:sp>
      <ns0:pic>
        <ns0:nvPicPr>
          <ns0:cNvPr id="69" name="Picture 155" descr="__type_image">    </ns0:cNvPr>
          <ns0:cNvPicPr>
            <ns1:picLocks noChangeAspect="1"/>
          </ns0:cNvPicPr>
          <ns0:nvPr/>
        </ns0:nvPicPr>
        <ns0:blipFill>
          <ns1:blip ns2:embed="rId19">
            <ns1:extLst>
              <ns1:ext uri="{96DAC541-7B7A-43D3-8B79-37D633B846F1}">
                <ns3:svgBlip ns2:embed="rId20"/>
              </ns1:ext>
            </ns1:extLst>
          </ns1:blip>
          <ns1:stretch>
            <ns1:fillRect/>
          </ns1:stretch>
        </ns0:blipFill>
        <ns0:spPr>
          <ns1:xfrm>
            <ns1:off x="6216396" y="3366040"/>
            <ns1:ext cx="2273808" cy="155448"/>
          </ns1:xfrm>
          <ns1:prstGeom prst="rect">
            <ns1:avLst/>
          </ns1:prstGeom>
        </ns0:spPr>
      </ns0:pic>
      <ns0:sp>
        <ns0:nvSpPr>
          <ns0:cNvPr id="70" name="TextBox 157"/>
          <ns0:cNvSpPr/>
          <ns0:nvPr/>
        </ns0:nvSpPr>
        <ns0:spPr>
          <ns1:xfrm>
            <ns1:off x="6216396" y="3412474"/>
            <ns1:ext cx="301990" cy="103727"/>
          </ns1:xfrm>
          <ns1:prstGeom prst="roundRect">
            <ns1:avLst>
              <ns1:gd name="adj" fmla="val 10331"/>
            </ns1:avLst>
          </ns1:prstGeom>
          <ns1:solidFill>
            <ns1:srgbClr val="FAF9F5">
              <ns1:alpha val="85000"/>
            </ns1:srgbClr>
          </ns1:solidFill>
          <ns1:ln w="3048">
            <ns1:solidFill>
              <ns1:srgbClr val="76777B"/>
            </ns1:solidFill>
            <ns1:prstDash val="solid"/>
          </ns1:ln>
        </ns0:spPr>
        <ns0:txBody>
          <ns1:bodyPr wrap="square" lIns="28575" tIns="9525" rIns="28575" bIns="9525" rtlCol="0" anchor="t">
            <ns1:spAutoFit/>
          </ns1:bodyPr>
          <ns1:lstStyle/>
          <ns1:p>
            <ns1:pPr algn="l" indent="0" marL="0">
              <ns1:lnSpc>
                <ns1:spcPts val="619"/>
              </ns1:lnSpc>
              <ns1:buNone/>
            </ns1:pPr>
            <ns1:r>
              <ns1:rPr lang="en-US" sz="413" spc="8" kern="0" dirty="0">
                <ns1:solidFill>
                  <ns1:srgbClr val="07080A">
                    <ns1:alpha val="85000"/>
                  </ns1:srgbClr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Complete</ns1:t>
            </ns1:r>
            <ns1:endParaRPr lang="en-US" sz="413" dirty="0"/>
          </ns1:p>
        </ns0:txBody>
      </ns0:sp>
      <ns0:sp>
        <ns0:nvSpPr>
          <ns0:cNvPr id="71" name="TextBox 159"/>
          <ns0:cNvSpPr/>
          <ns0:nvPr/>
        </ns0:nvSpPr>
        <ns0:spPr>
          <ns1:xfrm>
            <ns1:off x="8375904" y="3407188"/>
            <ns1:ext cx="114300" cy="114300"/>
          </ns1:xfrm>
          <ns1:prstGeom prst="roundRect">
            <ns1:avLst>
              <ns1:gd name="adj" fmla="val 9375"/>
            </ns1:avLst>
          </ns1:prstGeom>
          <ns1:solidFill>
            <ns1:srgbClr val="E0E2E9">
              <ns1:alpha val="85000"/>
            </ns1:srgbClr>
          </ns1:solidFill>
          <ns1:ln w="3048">
            <ns1:solidFill>
              <ns1:srgbClr val="76777B"/>
            </ns1:solidFill>
            <ns1:prstDash val="solid"/>
          </ns1:ln>
        </ns0:spPr>
        <ns0:txBody>
          <ns1:bodyPr wrap="square" lIns="0" tIns="0" rIns="0" bIns="0" rtlCol="0" anchor="ctr">
            <ns1:spAutoFit/>
          </ns1:bodyPr>
          <ns1:lstStyle/>
          <ns1:p>
            <ns1:pPr algn="l" indent="0" marL="0">
              <ns1:lnSpc>
                <ns1:spcPts val="563"/>
              </ns1:lnSpc>
              <ns1:buNone/>
            </ns1:pPr>
            <ns1:r>
              <ns1:rPr lang="en-US" sz="375" b="1" dirty="0">
                <ns1:solidFill>
                  <ns1:srgbClr val="07080A">
                    <ns1:alpha val="85000"/>
                  </ns1:srgbClr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AK</ns1:t>
            </ns1:r>
            <ns1:endParaRPr lang="en-US" sz="375" dirty="0"/>
          </ns1:p>
        </ns0:txBody>
      </ns0:sp>
      <ns0:sp>
        <ns0:nvSpPr>
          <ns0:cNvPr id="72" name="Shape 165"/>
          <ns0:cNvSpPr/>
          <ns0:nvPr/>
        </ns0:nvSpPr>
        <ns0:spPr>
          <ns1:xfrm>
            <ns1:off x="457200" y="4121944"/>
            <ns1:ext cx="8229600" cy="184023"/>
          </ns1:xfrm>
          <ns1:prstGeom prst="rect">
            <ns1:avLst/>
          </ns1:prstGeom>
          <ns1:noFill/>
          <ns1:ln/>
        </ns0:spPr>
      </ns0:sp>
      <ns0:pic>
        <ns0:nvPicPr>
          <ns0:cNvPr id="73" name="Picture 165" descr="__type_image">    </ns0:cNvPr>
          <ns0:cNvPicPr>
            <ns1:picLocks noChangeAspect="1"/>
          </ns0:cNvPicPr>
          <ns0:nvPr/>
        </ns0:nvPicPr>
        <ns0:blipFill>
          <ns1:blip ns2:embed="rId21">
            <ns1:extLst>
              <ns1:ext uri="{96DAC541-7B7A-43D3-8B79-37D633B846F1}">
                <ns3:svgBlip ns2:embed="rId22"/>
              </ns1:ext>
            </ns1:extLst>
          </ns1:blip>
          <ns1:stretch>
            <ns1:fillRect/>
          </ns1:stretch>
        </ns0:blipFill>
        <ns0:spPr>
          <ns1:xfrm>
            <ns1:off x="457200" y="4121944"/>
            <ns1:ext cx="8229600" cy="184023"/>
          </ns1:xfrm>
          <ns1:prstGeom prst="rect">
            <ns1:avLst/>
          </ns1:prstGeom>
        </ns0:spPr>
      </ns0:pic>
      <ns0:sp>
        <ns0:nvSpPr>
          <ns0:cNvPr id="74" name="TextBox 167"/>
          <ns0:cNvSpPr/>
          <ns0:nvPr/>
        </ns0:nvSpPr>
        <ns0:spPr>
          <ns1:xfrm>
            <ns1:off x="457200" y="4220242"/>
            <ns1:ext cx="167282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ZEN-KANBAN-02 // WORKSPACE STRUCTURAL RECREATION</ns1:t>
            </ns1:r>
            <ns1:endParaRPr lang="en-US" sz="450" dirty="0"/>
          </ns1:p>
        </ns0:txBody>
      </ns0:sp>
      <ns0:sp>
        <ns0:nvSpPr>
          <ns0:cNvPr id="75" name="TextBox 169"/>
          <ns0:cNvSpPr/>
          <ns0:nvPr/>
        </ns0:nvSpPr>
        <ns0:spPr>
          <ns1:xfrm>
            <ns1:off x="8442817" y="4220242"/>
            <ns1:ext cx="243983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02 / 08</ns1:t>
            </ns1:r>
            <ns1:endParaRPr lang="en-US" sz="450" dirty="0"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 name="Slide 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07080A"/>
          </ns1:solidFill>
          <ns1:ln/>
        </ns0:spPr>
      </ns0:sp>
      <ns0:sp>
        <ns0:nvSpPr>
          <ns0:cNvPr id="3" name="Shape 2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07080A"/>
          </ns1:solidFill>
          <ns1:ln/>
        </ns0:spPr>
      </ns0:sp>
      <ns0:sp>
        <ns0:nvSpPr>
          <ns0:cNvPr id="4" name="Shape 4"/>
          <ns0:cNvSpPr/>
          <ns0:nvPr/>
        </ns0:nvSpPr>
        <ns0:spPr>
          <ns1:xfrm>
            <ns1:off x="457200" y="342900"/>
            <ns1:ext cx="8229600" cy="210217"/>
          </ns1:xfrm>
          <ns1:prstGeom prst="rect">
            <ns1:avLst/>
          </ns1:prstGeom>
          <ns1:noFill/>
          <ns1:ln/>
        </ns0:spPr>
      </ns0:sp>
      <ns0:pic>
        <ns0:nvPicPr>
          <ns0:cNvPr id="5" name="Picture 4" descr="__type_image">    </ns0:cNvPr>
          <ns0:cNvPicPr>
            <ns1:picLocks noChangeAspect="1"/>
          </ns0:cNvPicPr>
          <ns0:nvPr/>
        </ns0:nvPicPr>
        <ns0:blipFill>
          <ns1:blip ns2:embed="rId1">
            <ns1:extLst>
              <ns1:ext uri="{96DAC541-7B7A-43D3-8B79-37D633B846F1}">
                <ns3:svgBlip ns2:embed="rId2"/>
              </ns1:ext>
            </ns1:extLst>
          </ns1:blip>
          <ns1:stretch>
            <ns1:fillRect/>
          </ns1:stretch>
        </ns0:blipFill>
        <ns0:spPr>
          <ns1:xfrm>
            <ns1:off x="457200" y="342900"/>
            <ns1:ext cx="8229600" cy="210217"/>
          </ns1:xfrm>
          <ns1:prstGeom prst="rect">
            <ns1:avLst/>
          </ns1:prstGeom>
        </ns0:spPr>
      </ns0:pic>
      <ns0:sp>
        <ns0:nvSpPr>
          <ns0:cNvPr id="6" name="Shape 8"/>
          <ns0:cNvSpPr/>
          <ns0:nvPr/>
        </ns0:nvSpPr>
        <ns0:spPr>
          <ns1:xfrm>
            <ns1:off x="457200" y="375047"/>
            <ns1:ext cx="28575" cy="28575"/>
          </ns1:xfrm>
          <ns1:prstGeom prst="roundRect">
            <ns1:avLst>
              <ns1:gd name="adj" fmla="val 37500"/>
            </ns1:avLst>
          </ns1:prstGeom>
          <ns1:solidFill>
            <ns1:srgbClr val="FAF9F5"/>
          </ns1:solidFill>
          <ns1:ln/>
        </ns0:spPr>
      </ns0:sp>
      <ns0:sp>
        <ns0:nvSpPr>
          <ns0:cNvPr id="7" name="TextBox 10"/>
          <ns0:cNvSpPr/>
          <ns0:nvPr/>
        </ns0:nvSpPr>
        <ns0:spPr>
          <ns1:xfrm>
            <ns1:off x="542925" y="342900"/>
            <ns1:ext cx="1559576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 PRECISION SAAS — HYPERMEDIA PROTOCOL</ns1:t>
            </ns1:r>
            <ns1:endParaRPr lang="en-US" sz="488" dirty="0"/>
          </ns1:p>
        </ns0:txBody>
      </ns0:sp>
      <ns0:sp>
        <ns0:nvSpPr>
          <ns0:cNvPr id="8" name="TextBox 13"/>
          <ns0:cNvSpPr/>
          <ns0:nvPr/>
        </ns0:nvSpPr>
        <ns0:spPr>
          <ns1:xfrm>
            <ns1:off x="7931753" y="342900"/>
            <ns1:ext cx="755047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29" kern="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MECHANICS // SWAP 03</ns1:t>
            </ns1:r>
            <ns1:endParaRPr lang="en-US" sz="488" dirty="0"/>
          </ns1:p>
        </ns0:txBody>
      </ns0:sp>
      <ns0:sp>
        <ns0:nvSpPr>
          <ns0:cNvPr id="9" name="TextBox 20"/>
          <ns0:cNvSpPr/>
          <ns0:nvPr/>
        </ns0:nvSpPr>
        <ns0:spPr>
          <ns1:xfrm>
            <ns1:off x="457200" y="781717"/>
            <ns1:ext cx="8229600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IMMEDIATE ZERO-FLICKER REACTIVITY</ns1:t>
            </ns1:r>
            <ns1:endParaRPr lang="en-US" sz="488" dirty="0"/>
          </ns1:p>
        </ns0:txBody>
      </ns0:sp>
      <ns0:sp>
        <ns0:nvSpPr>
          <ns0:cNvPr id="10" name="TextBox 22"/>
          <ns0:cNvSpPr/>
          <ns0:nvPr/>
        </ns0:nvSpPr>
        <ns0:spPr>
          <ns1:xfrm>
            <ns1:off x="457200" y="950785"/>
            <ns1:ext cx="8229600" cy="20812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639"/>
              </ns1:lnSpc>
              <ns1:buNone/>
            </ns1:pPr>
            <ns1:r>
              <ns1:rPr lang="en-US" sz="1425" b="1" spc="-21" kern="0" dirty="0">
                <ns1:solidFill>
                  <ns1:srgbClr val="FAF9F5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Local State Swaps via HTMX 2.x</ns1:t>
            </ns1:r>
            <ns1:endParaRPr lang="en-US" sz="1425" dirty="0"/>
          </ns1:p>
        </ns0:txBody>
      </ns0:sp>
      <ns0:sp>
        <ns0:nvSpPr>
          <ns0:cNvPr id="11" name="TextBox 24"/>
          <ns0:cNvSpPr/>
          <ns0:nvPr/>
        </ns0:nvSpPr>
        <ns0:spPr>
          <ns1:xfrm>
            <ns1:off x="457200" y="1235107"/>
            <ns1:ext cx="2978039" cy="2857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dirty="0">
                <ns1:solidFill>
                  <ns1:srgbClr val="E0E2E9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Eliminating full-page reloads and bulky virtual-DOM reconciliation through granular HTTP fragment replacement.</ns1:t>
            </ns1:r>
            <ns1:endParaRPr lang="en-US" sz="750" dirty="0"/>
          </ns1:p>
        </ns0:txBody>
      </ns0:sp>
      <ns0:sp>
        <ns0:nvSpPr>
          <ns0:cNvPr id="12" name="Shape 29"/>
          <ns0:cNvSpPr/>
          <ns0:nvPr/>
        </ns0:nvSpPr>
        <ns0:spPr>
          <ns1:xfrm>
            <ns1:off x="457200" y="2209038"/>
            <ns1:ext cx="1985963" cy="1396175"/>
          </ns1:xfrm>
          <ns1:prstGeom prst="roundRect">
            <ns1:avLst>
              <ns1:gd name="adj" fmla="val 767"/>
            </ns1:avLst>
          </ns1:prstGeom>
          <ns1:solidFill>
            <ns1:srgbClr val="100600"/>
          </ns1:solidFill>
          <ns1:ln w="3048">
            <ns1:solidFill>
              <ns1:srgbClr val="5B5E64"/>
            </ns1:solidFill>
            <ns1:prstDash val="solid"/>
          </ns1:ln>
        </ns0:spPr>
      </ns0:sp>
      <ns0:sp>
        <ns0:nvSpPr>
          <ns0:cNvPr id="13" name="TextBox 31"/>
          <ns0:cNvSpPr/>
          <ns0:nvPr/>
        </ns0:nvSpPr>
        <ns0:spPr>
          <ns1:xfrm>
            <ns1:off x="574548" y="2326386"/>
            <ns1:ext cx="1751267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STAGE 01 // TRIGGER</ns1:t>
            </ns1:r>
            <ns1:endParaRPr lang="en-US" sz="450" dirty="0"/>
          </ns1:p>
        </ns0:txBody>
      </ns0:sp>
      <ns0:sp>
        <ns0:nvSpPr>
          <ns0:cNvPr id="14" name="TextBox 33"/>
          <ns0:cNvSpPr/>
          <ns0:nvPr/>
        </ns0:nvSpPr>
        <ns0:spPr>
          <ns1:xfrm>
            <ns1:off x="574548" y="2469261"/>
            <ns1:ext cx="1751267" cy="14287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b="1" dirty="0">
                <ns1:solidFill>
                  <ns1:srgbClr val="FAF9F5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User Interaction</ns1:t>
            </ns1:r>
            <ns1:endParaRPr lang="en-US" sz="750" dirty="0"/>
          </ns1:p>
        </ns0:txBody>
      </ns0:sp>
      <ns0:sp>
        <ns0:nvSpPr>
          <ns0:cNvPr id="15" name="TextBox 35"/>
          <ns0:cNvSpPr/>
          <ns0:nvPr/>
        </ns0:nvSpPr>
        <ns0:spPr>
          <ns1:xfrm>
            <ns1:off x="574548" y="2669286"/>
            <ns1:ext cx="1751267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E0E2E9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The user drags a task card or toggles priority. Declarative attributes intercept the client DOM event.</ns1:t>
            </ns1:r>
            <ns1:endParaRPr lang="en-US" sz="600" dirty="0"/>
          </ns1:p>
        </ns0:txBody>
      </ns0:sp>
      <ns0:sp>
        <ns0:nvSpPr>
          <ns0:cNvPr id="16" name="TextBox 37"/>
          <ns0:cNvSpPr/>
          <ns0:nvPr/>
        </ns0:nvSpPr>
        <ns0:spPr>
          <ns1:xfrm>
            <ns1:off x="574548" y="3118866"/>
            <ns1:ext cx="1751267" cy="368998"/>
          </ns1:xfrm>
          <ns1:prstGeom prst="roundRect">
            <ns1:avLst>
              <ns1:gd name="adj" fmla="val 2904"/>
            </ns1:avLst>
          </ns1:prstGeom>
          <ns1:solidFill>
            <ns1:srgbClr val="07080A"/>
          </ns1:solidFill>
          <ns1:ln w="3048">
            <ns1:solidFill>
              <ns1:srgbClr val="5B5E64"/>
            </ns1:solidFill>
            <ns1:prstDash val="solid"/>
          </ns1:ln>
        </ns0:spPr>
        <ns0:txBody>
          <ns1:bodyPr wrap="square" lIns="57150" tIns="57150" rIns="57150" bIns="57150" rtlCol="0" anchor="t">
            <ns1:spAutoFit/>
          </ns1:bodyPr>
          <ns1:lstStyle/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b="1" dirty="0">
                <ns1:solidFill>
                  <ns1:srgbClr val="FAF9F5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hx-post="/cards/move"</ns1:t>
            </ns1: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/>
            </ns1:r>
            <ns1:endParaRPr lang="en-US" sz="450" dirty="0"/>
          </ns1:p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b="1" dirty="0">
                <ns1:solidFill>
                  <ns1:srgbClr val="FAF9F5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hx-trigger="drop"</ns1:t>
            </ns1: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/>
            </ns1:r>
            <ns1:endParaRPr lang="en-US" sz="450" dirty="0"/>
          </ns1:p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b="1" dirty="0">
                <ns1:solidFill>
                  <ns1:srgbClr val="FAF9F5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hx-vals='{"col": "done"}'</ns1:t>
            </ns1: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/>
            </ns1:r>
            <ns1:endParaRPr lang="en-US" sz="450" dirty="0"/>
          </ns1:p>
        </ns0:txBody>
      </ns0:sp>
      <ns0:sp>
        <ns0:nvSpPr>
          <ns0:cNvPr id="17" name="Shape 40"/>
          <ns0:cNvSpPr/>
          <ns0:nvPr/>
        </ns0:nvSpPr>
        <ns0:spPr>
          <ns1:xfrm>
            <ns1:off x="2538413" y="2209038"/>
            <ns1:ext cx="1985963" cy="1396175"/>
          </ns1:xfrm>
          <ns1:prstGeom prst="roundRect">
            <ns1:avLst>
              <ns1:gd name="adj" fmla="val 767"/>
            </ns1:avLst>
          </ns1:prstGeom>
          <ns1:solidFill>
            <ns1:srgbClr val="100600"/>
          </ns1:solidFill>
          <ns1:ln w="3048">
            <ns1:solidFill>
              <ns1:srgbClr val="5B5E64"/>
            </ns1:solidFill>
            <ns1:prstDash val="solid"/>
          </ns1:ln>
        </ns0:spPr>
      </ns0:sp>
      <ns0:sp>
        <ns0:nvSpPr>
          <ns0:cNvPr id="18" name="TextBox 42"/>
          <ns0:cNvSpPr/>
          <ns0:nvPr/>
        </ns0:nvSpPr>
        <ns0:spPr>
          <ns1:xfrm>
            <ns1:off x="2655761" y="2326386"/>
            <ns1:ext cx="1751267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STAGE 02 // TRANSPORT</ns1:t>
            </ns1:r>
            <ns1:endParaRPr lang="en-US" sz="450" dirty="0"/>
          </ns1:p>
        </ns0:txBody>
      </ns0:sp>
      <ns0:sp>
        <ns0:nvSpPr>
          <ns0:cNvPr id="19" name="TextBox 44"/>
          <ns0:cNvSpPr/>
          <ns0:nvPr/>
        </ns0:nvSpPr>
        <ns0:spPr>
          <ns1:xfrm>
            <ns1:off x="2655761" y="2469261"/>
            <ns1:ext cx="1751267" cy="14287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b="1" dirty="0">
                <ns1:solidFill>
                  <ns1:srgbClr val="FAF9F5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FastAPI Route</ns1:t>
            </ns1:r>
            <ns1:endParaRPr lang="en-US" sz="750" dirty="0"/>
          </ns1:p>
        </ns0:txBody>
      </ns0:sp>
      <ns0:sp>
        <ns0:nvSpPr>
          <ns0:cNvPr id="20" name="TextBox 46"/>
          <ns0:cNvSpPr/>
          <ns0:nvPr/>
        </ns0:nvSpPr>
        <ns0:spPr>
          <ns1:xfrm>
            <ns1:off x="2655761" y="2669286"/>
            <ns1:ext cx="1751267" cy="2362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E0E2E9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Async handler validates movement order and renders only target card Jinja2 partial.</ns1:t>
            </ns1:r>
            <ns1:endParaRPr lang="en-US" sz="600" dirty="0"/>
          </ns1:p>
        </ns0:txBody>
      </ns0:sp>
      <ns0:sp>
        <ns0:nvSpPr>
          <ns0:cNvPr id="21" name="TextBox 48"/>
          <ns0:cNvSpPr/>
          <ns0:nvPr/>
        </ns0:nvSpPr>
        <ns0:spPr>
          <ns1:xfrm>
            <ns1:off x="2655761" y="3000756"/>
            <ns1:ext cx="1751267" cy="368998"/>
          </ns1:xfrm>
          <ns1:prstGeom prst="roundRect">
            <ns1:avLst>
              <ns1:gd name="adj" fmla="val 2904"/>
            </ns1:avLst>
          </ns1:prstGeom>
          <ns1:solidFill>
            <ns1:srgbClr val="07080A"/>
          </ns1:solidFill>
          <ns1:ln w="3048">
            <ns1:solidFill>
              <ns1:srgbClr val="5B5E64"/>
            </ns1:solidFill>
            <ns1:prstDash val="solid"/>
          </ns1:ln>
        </ns0:spPr>
        <ns0:txBody>
          <ns1:bodyPr wrap="square" lIns="57150" tIns="57150" rIns="57150" bIns="57150" rtlCol="0" anchor="t">
            <ns1:spAutoFit/>
          </ns1:bodyPr>
          <ns1:lstStyle/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@app.post("/cards/move")</ns1:t>
            </ns1:r>
            <ns1:endParaRPr lang="en-US" sz="450" dirty="0"/>
          </ns1:p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async def move(req):</ns1:t>
            </ns1:r>
            <ns1:endParaRPr lang="en-US" sz="450" dirty="0"/>
          </ns1:p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return render("card.html")</ns1:t>
            </ns1:r>
            <ns1:endParaRPr lang="en-US" sz="450" dirty="0"/>
          </ns1:p>
        </ns0:txBody>
      </ns0:sp>
      <ns0:sp>
        <ns0:nvSpPr>
          <ns0:cNvPr id="22" name="Shape 51"/>
          <ns0:cNvSpPr/>
          <ns0:nvPr/>
        </ns0:nvSpPr>
        <ns0:spPr>
          <ns1:xfrm>
            <ns1:off x="4619625" y="2209038"/>
            <ns1:ext cx="1985963" cy="1396175"/>
          </ns1:xfrm>
          <ns1:prstGeom prst="roundRect">
            <ns1:avLst>
              <ns1:gd name="adj" fmla="val 767"/>
            </ns1:avLst>
          </ns1:prstGeom>
          <ns1:solidFill>
            <ns1:srgbClr val="100600"/>
          </ns1:solidFill>
          <ns1:ln w="3048">
            <ns1:solidFill>
              <ns1:srgbClr val="5B5E64"/>
            </ns1:solidFill>
            <ns1:prstDash val="solid"/>
          </ns1:ln>
        </ns0:spPr>
      </ns0:sp>
      <ns0:sp>
        <ns0:nvSpPr>
          <ns0:cNvPr id="23" name="TextBox 53"/>
          <ns0:cNvSpPr/>
          <ns0:nvPr/>
        </ns0:nvSpPr>
        <ns0:spPr>
          <ns1:xfrm>
            <ns1:off x="4736973" y="2326386"/>
            <ns1:ext cx="1751267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STAGE 03 // MORPH</ns1:t>
            </ns1:r>
            <ns1:endParaRPr lang="en-US" sz="450" dirty="0"/>
          </ns1:p>
        </ns0:txBody>
      </ns0:sp>
      <ns0:sp>
        <ns0:nvSpPr>
          <ns0:cNvPr id="24" name="TextBox 55"/>
          <ns0:cNvSpPr/>
          <ns0:nvPr/>
        </ns0:nvSpPr>
        <ns0:spPr>
          <ns1:xfrm>
            <ns1:off x="4736973" y="2469261"/>
            <ns1:ext cx="1751267" cy="14287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b="1" dirty="0">
                <ns1:solidFill>
                  <ns1:srgbClr val="FAF9F5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Surgical OuterHTML</ns1:t>
            </ns1:r>
            <ns1:endParaRPr lang="en-US" sz="750" dirty="0"/>
          </ns1:p>
        </ns0:txBody>
      </ns0:sp>
      <ns0:sp>
        <ns0:nvSpPr>
          <ns0:cNvPr id="25" name="TextBox 57"/>
          <ns0:cNvSpPr/>
          <ns0:nvPr/>
        </ns0:nvSpPr>
        <ns0:spPr>
          <ns1:xfrm>
            <ns1:off x="4736973" y="2669286"/>
            <ns1:ext cx="1751267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E0E2E9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HTMX inspects the target selector and swaps the received HTML fragment in-place with zero script eval.</ns1:t>
            </ns1:r>
            <ns1:endParaRPr lang="en-US" sz="600" dirty="0"/>
          </ns1:p>
        </ns0:txBody>
      </ns0:sp>
      <ns0:sp>
        <ns0:nvSpPr>
          <ns0:cNvPr id="26" name="TextBox 59"/>
          <ns0:cNvSpPr/>
          <ns0:nvPr/>
        </ns0:nvSpPr>
        <ns0:spPr>
          <ns1:xfrm>
            <ns1:off x="4736973" y="3118866"/>
            <ns1:ext cx="1751267" cy="368998"/>
          </ns1:xfrm>
          <ns1:prstGeom prst="roundRect">
            <ns1:avLst>
              <ns1:gd name="adj" fmla="val 2904"/>
            </ns1:avLst>
          </ns1:prstGeom>
          <ns1:solidFill>
            <ns1:srgbClr val="07080A"/>
          </ns1:solidFill>
          <ns1:ln w="3048">
            <ns1:solidFill>
              <ns1:srgbClr val="5B5E64"/>
            </ns1:solidFill>
            <ns1:prstDash val="solid"/>
          </ns1:ln>
        </ns0:spPr>
        <ns0:txBody>
          <ns1:bodyPr wrap="square" lIns="57150" tIns="57150" rIns="57150" bIns="57150" rtlCol="0" anchor="t">
            <ns1:spAutoFit/>
          </ns1:bodyPr>
          <ns1:lstStyle/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b="1" dirty="0">
                <ns1:solidFill>
                  <ns1:srgbClr val="FAF9F5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hx-target="#card-ZN-101"</ns1:t>
            </ns1: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/>
            </ns1:r>
            <ns1:endParaRPr lang="en-US" sz="450" dirty="0"/>
          </ns1:p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b="1" dirty="0">
                <ns1:solidFill>
                  <ns1:srgbClr val="FAF9F5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hx-swap="outerHTML"</ns1:t>
            </ns1: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/>
            </ns1:r>
            <ns1:endParaRPr lang="en-US" sz="450" dirty="0"/>
          </ns1:p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b="1" dirty="0">
                <ns1:solidFill>
                  <ns1:srgbClr val="FAF9F5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hx-indicator=".spinner"</ns1:t>
            </ns1: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/>
            </ns1:r>
            <ns1:endParaRPr lang="en-US" sz="450" dirty="0"/>
          </ns1:p>
        </ns0:txBody>
      </ns0:sp>
      <ns0:sp>
        <ns0:nvSpPr>
          <ns0:cNvPr id="27" name="Shape 62"/>
          <ns0:cNvSpPr/>
          <ns0:nvPr/>
        </ns0:nvSpPr>
        <ns0:spPr>
          <ns1:xfrm>
            <ns1:off x="6700838" y="2209038"/>
            <ns1:ext cx="1985963" cy="1396175"/>
          </ns1:xfrm>
          <ns1:prstGeom prst="roundRect">
            <ns1:avLst>
              <ns1:gd name="adj" fmla="val 767"/>
            </ns1:avLst>
          </ns1:prstGeom>
          <ns1:solidFill>
            <ns1:srgbClr val="100600"/>
          </ns1:solidFill>
          <ns1:ln w="3048">
            <ns1:solidFill>
              <ns1:srgbClr val="5B5E64"/>
            </ns1:solidFill>
            <ns1:prstDash val="solid"/>
          </ns1:ln>
        </ns0:spPr>
      </ns0:sp>
      <ns0:sp>
        <ns0:nvSpPr>
          <ns0:cNvPr id="28" name="TextBox 64"/>
          <ns0:cNvSpPr/>
          <ns0:nvPr/>
        </ns0:nvSpPr>
        <ns0:spPr>
          <ns1:xfrm>
            <ns1:off x="6818186" y="2326386"/>
            <ns1:ext cx="1751267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STAGE 04 // SYNC</ns1:t>
            </ns1:r>
            <ns1:endParaRPr lang="en-US" sz="450" dirty="0"/>
          </ns1:p>
        </ns0:txBody>
      </ns0:sp>
      <ns0:sp>
        <ns0:nvSpPr>
          <ns0:cNvPr id="29" name="TextBox 66"/>
          <ns0:cNvSpPr/>
          <ns0:nvPr/>
        </ns0:nvSpPr>
        <ns0:spPr>
          <ns1:xfrm>
            <ns1:off x="6818186" y="2469261"/>
            <ns1:ext cx="1751267" cy="14287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b="1" dirty="0">
                <ns1:solidFill>
                  <ns1:srgbClr val="FAF9F5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Zero Stale State</ns1:t>
            </ns1:r>
            <ns1:endParaRPr lang="en-US" sz="750" dirty="0"/>
          </ns1:p>
        </ns0:txBody>
      </ns0:sp>
      <ns0:sp>
        <ns0:nvSpPr>
          <ns0:cNvPr id="30" name="TextBox 68"/>
          <ns0:cNvSpPr/>
          <ns0:nvPr/>
        </ns0:nvSpPr>
        <ns0:spPr>
          <ns1:xfrm>
            <ns1:off x="6818186" y="2669286"/>
            <ns1:ext cx="1751267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E0E2E9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Browser URL and history remain undisturbed. Server remains the single source of truth without client hydration mismatch.</ns1:t>
            </ns1:r>
            <ns1:endParaRPr lang="en-US" sz="600" dirty="0"/>
          </ns1:p>
        </ns0:txBody>
      </ns0:sp>
      <ns0:sp>
        <ns0:nvSpPr>
          <ns0:cNvPr id="31" name="TextBox 70"/>
          <ns0:cNvSpPr/>
          <ns0:nvPr/>
        </ns0:nvSpPr>
        <ns0:spPr>
          <ns1:xfrm>
            <ns1:off x="6818186" y="3118866"/>
            <ns1:ext cx="1751267" cy="368998"/>
          </ns1:xfrm>
          <ns1:prstGeom prst="roundRect">
            <ns1:avLst>
              <ns1:gd name="adj" fmla="val 2904"/>
            </ns1:avLst>
          </ns1:prstGeom>
          <ns1:solidFill>
            <ns1:srgbClr val="07080A"/>
          </ns1:solidFill>
          <ns1:ln w="3048">
            <ns1:solidFill>
              <ns1:srgbClr val="5B5E64"/>
            </ns1:solidFill>
            <ns1:prstDash val="solid"/>
          </ns1:ln>
        </ns0:spPr>
        <ns0:txBody>
          <ns1:bodyPr wrap="square" lIns="57150" tIns="57150" rIns="57150" bIns="57150" rtlCol="0" anchor="t">
            <ns1:spAutoFit/>
          </ns1:bodyPr>
          <ns1:lstStyle/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HTTP/1.1 200 OK</ns1:t>
            </ns1:r>
            <ns1:endParaRPr lang="en-US" sz="450" dirty="0"/>
          </ns1:p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HX-Trigger: columnCountChanged</ns1:t>
            </ns1:r>
            <ns1:endParaRPr lang="en-US" sz="450" dirty="0"/>
          </ns1:p>
          <ns1:p>
            <ns1:pPr algn="l" indent="0" marL="0">
              <ns1:lnSpc>
                <ns1:spcPts val="653"/>
              </ns1:lnSpc>
              <ns1:buNone/>
            </ns1:pPr>
            <ns1:r>
              <ns1:rPr lang="en-US" sz="45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Latency: &lt; 8.4ms</ns1:t>
            </ns1:r>
            <ns1:endParaRPr lang="en-US" sz="450" dirty="0"/>
          </ns1:p>
        </ns0:txBody>
      </ns0:sp>
      <ns0:sp>
        <ns0:nvSpPr>
          <ns0:cNvPr id="32" name="Shape 74"/>
          <ns0:cNvSpPr/>
          <ns0:nvPr/>
        </ns0:nvSpPr>
        <ns0:spPr>
          <ns1:xfrm>
            <ns1:off x="457200" y="4121944"/>
            <ns1:ext cx="8229600" cy="184023"/>
          </ns1:xfrm>
          <ns1:prstGeom prst="rect">
            <ns1:avLst/>
          </ns1:prstGeom>
          <ns1:noFill/>
          <ns1:ln/>
        </ns0:spPr>
      </ns0:sp>
      <ns0:pic>
        <ns0:nvPicPr>
          <ns0:cNvPr id="33" name="Picture 74" descr="__type_image">    </ns0:cNvPr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457200" y="4121944"/>
            <ns1:ext cx="8229600" cy="184023"/>
          </ns1:xfrm>
          <ns1:prstGeom prst="rect">
            <ns1:avLst/>
          </ns1:prstGeom>
        </ns0:spPr>
      </ns0:pic>
      <ns0:sp>
        <ns0:nvSpPr>
          <ns0:cNvPr id="34" name="TextBox 76"/>
          <ns0:cNvSpPr/>
          <ns0:nvPr/>
        </ns0:nvSpPr>
        <ns0:spPr>
          <ns1:xfrm>
            <ns1:off x="457200" y="4220242"/>
            <ns1:ext cx="149856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ZEN-HTMX-03 // HYPERMEDIA STATE TRANSITIONS</ns1:t>
            </ns1:r>
            <ns1:endParaRPr lang="en-US" sz="450" dirty="0"/>
          </ns1:p>
        </ns0:txBody>
      </ns0:sp>
      <ns0:sp>
        <ns0:nvSpPr>
          <ns0:cNvPr id="35" name="TextBox 78"/>
          <ns0:cNvSpPr/>
          <ns0:nvPr/>
        </ns0:nvSpPr>
        <ns0:spPr>
          <ns1:xfrm>
            <ns1:off x="8442817" y="4220242"/>
            <ns1:ext cx="243983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E0E2E9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03 / 08</ns1:t>
            </ns1:r>
            <ns1:endParaRPr lang="en-US" sz="450" dirty="0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 name="Slide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3" name="Shape 2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4" name="Shape 4"/>
          <ns0:cNvSpPr/>
          <ns0:nvPr/>
        </ns0:nvSpPr>
        <ns0:spPr>
          <ns1:xfrm>
            <ns1:off x="457200" y="342900"/>
            <ns1:ext cx="8229600" cy="210217"/>
          </ns1:xfrm>
          <ns1:prstGeom prst="rect">
            <ns1:avLst/>
          </ns1:prstGeom>
          <ns1:noFill/>
          <ns1:ln/>
        </ns0:spPr>
      </ns0:sp>
      <ns0:pic>
        <ns0:nvPicPr>
          <ns0:cNvPr id="5" name="Picture 4" descr="__type_image">    </ns0:cNvPr>
          <ns0:cNvPicPr>
            <ns1:picLocks noChangeAspect="1"/>
          </ns0:cNvPicPr>
          <ns0:nvPr/>
        </ns0:nvPicPr>
        <ns0:blipFill>
          <ns1:blip ns2:embed="rId1">
            <ns1:extLst>
              <ns1:ext uri="{96DAC541-7B7A-43D3-8B79-37D633B846F1}">
                <ns3:svgBlip ns2:embed="rId2"/>
              </ns1:ext>
            </ns1:extLst>
          </ns1:blip>
          <ns1:stretch>
            <ns1:fillRect/>
          </ns1:stretch>
        </ns0:blipFill>
        <ns0:spPr>
          <ns1:xfrm>
            <ns1:off x="457200" y="342900"/>
            <ns1:ext cx="8229600" cy="210217"/>
          </ns1:xfrm>
          <ns1:prstGeom prst="rect">
            <ns1:avLst/>
          </ns1:prstGeom>
        </ns0:spPr>
      </ns0:pic>
      <ns0:sp>
        <ns0:nvSpPr>
          <ns0:cNvPr id="6" name="Shape 8"/>
          <ns0:cNvSpPr/>
          <ns0:nvPr/>
        </ns0:nvSpPr>
        <ns0:spPr>
          <ns1:xfrm>
            <ns1:off x="457200" y="375047"/>
            <ns1:ext cx="28575" cy="28575"/>
          </ns1:xfrm>
          <ns1:prstGeom prst="roundRect">
            <ns1:avLst>
              <ns1:gd name="adj" fmla="val 37500"/>
            </ns1:avLst>
          </ns1:prstGeom>
          <ns1:solidFill>
            <ns1:srgbClr val="100600"/>
          </ns1:solidFill>
          <ns1:ln/>
        </ns0:spPr>
      </ns0:sp>
      <ns0:sp>
        <ns0:nvSpPr>
          <ns0:cNvPr id="7" name="TextBox 10"/>
          <ns0:cNvSpPr/>
          <ns0:nvPr/>
        </ns0:nvSpPr>
        <ns0:spPr>
          <ns1:xfrm>
            <ns1:off x="542925" y="342900"/>
            <ns1:ext cx="1676543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 PRECISION SAAS — DESIGN SYSTEM CONTRACT</ns1:t>
            </ns1:r>
            <ns1:endParaRPr lang="en-US" sz="488" dirty="0"/>
          </ns1:p>
        </ns0:txBody>
      </ns0:sp>
      <ns0:sp>
        <ns0:nvSpPr>
          <ns0:cNvPr id="8" name="TextBox 13"/>
          <ns0:cNvSpPr/>
          <ns0:nvPr/>
        </ns0:nvSpPr>
        <ns0:spPr>
          <ns1:xfrm>
            <ns1:off x="8082772" y="342900"/>
            <ns1:ext cx="604028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2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FOUNDATIONS // TOKENS 04</ns1:t>
            </ns1:r>
            <ns1:endParaRPr lang="en-US" sz="488" dirty="0"/>
          </ns1:p>
        </ns0:txBody>
      </ns0:sp>
      <ns0:sp>
        <ns0:nvSpPr>
          <ns0:cNvPr id="9" name="TextBox 20"/>
          <ns0:cNvSpPr/>
          <ns0:nvPr/>
        </ns0:nvSpPr>
        <ns0:spPr>
          <ns1:xfrm>
            <ns1:off x="457200" y="781717"/>
            <ns1:ext cx="8229600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WABI-SABI REDUCTION &amp; HIGH-DENSITY UTILITY</ns1:t>
            </ns1:r>
            <ns1:endParaRPr lang="en-US" sz="488" dirty="0"/>
          </ns1:p>
        </ns0:txBody>
      </ns0:sp>
      <ns0:sp>
        <ns0:nvSpPr>
          <ns0:cNvPr id="10" name="TextBox 22"/>
          <ns0:cNvSpPr/>
          <ns0:nvPr/>
        </ns0:nvSpPr>
        <ns0:spPr>
          <ns1:xfrm>
            <ns1:off x="457200" y="950785"/>
            <ns1:ext cx="3374898" cy="5867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2310"/>
              </ns1:lnSpc>
              <ns1:buNone/>
            </ns1:pPr>
            <ns1:r>
              <ns1:rPr lang="en-US" sz="2100" b="1" spc="-52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Design System Foundations</ns1:t>
            </ns1:r>
            <ns1:endParaRPr lang="en-US" sz="2100" dirty="0"/>
          </ns1:p>
        </ns0:txBody>
      </ns0:sp>
      <ns0:sp>
        <ns0:nvSpPr>
          <ns0:cNvPr id="11" name="TextBox 24"/>
          <ns0:cNvSpPr/>
          <ns0:nvPr/>
        </ns0:nvSpPr>
        <ns0:spPr>
          <ns1:xfrm>
            <ns1:off x="457200" y="1632775"/>
            <ns1:ext cx="2978039" cy="4286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Center-aligned on intentional whitespace, warm natural paper surfaces, and razor-sharp typographic discipline. Shared 1:1 across web DOM and PPT layouts.</ns1:t>
            </ns1:r>
            <ns1:endParaRPr lang="en-US" sz="750" dirty="0"/>
          </ns1:p>
        </ns0:txBody>
      </ns0:sp>
      <ns0:sp>
        <ns0:nvSpPr>
          <ns0:cNvPr id="12" name="Shape 29"/>
          <ns0:cNvSpPr/>
          <ns0:nvPr/>
        </ns0:nvSpPr>
        <ns0:spPr>
          <ns1:xfrm>
            <ns1:off x="457200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13" name="TextBox 33"/>
          <ns0:cNvSpPr/>
          <ns0:nvPr/>
        </ns0:nvSpPr>
        <ns0:spPr>
          <ns1:xfrm>
            <ns1:off x="612648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SURFACE CANVASES</ns1:t>
            </ns1:r>
            <ns1:endParaRPr lang="en-US" sz="450" dirty="0"/>
          </ns1:p>
        </ns0:txBody>
      </ns0:sp>
      <ns0:sp>
        <ns0:nvSpPr>
          <ns0:cNvPr id="14" name="TextBox 35"/>
          <ns0:cNvSpPr/>
          <ns0:nvPr/>
        </ns0:nvSpPr>
        <ns0:spPr>
          <ns1:xfrm>
            <ns1:off x="612648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Washi &amp; Stone Tones</ns1:t>
            </ns1:r>
            <ns1:endParaRPr lang="en-US" sz="900" dirty="0"/>
          </ns1:p>
        </ns0:txBody>
      </ns0:sp>
      <ns0:sp>
        <ns0:nvSpPr>
          <ns0:cNvPr id="15" name="TextBox 37"/>
          <ns0:cNvSpPr/>
          <ns0:nvPr/>
        </ns0:nvSpPr>
        <ns0:spPr>
          <ns1:xfrm>
            <ns1:off x="612648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Sand sub-surface (#f3f2ec) for viewport background and pure washi (#faf9f5) for cards. Tactile contact edges with hairline 1px (#76777b).</ns1:t>
            </ns1:r>
            <ns1:endParaRPr lang="en-US" sz="600" dirty="0"/>
          </ns1:p>
        </ns0:txBody>
      </ns0:sp>
      <ns0:sp>
        <ns0:nvSpPr>
          <ns0:cNvPr id="16" name="TextBox 42"/>
          <ns0:cNvSpPr/>
          <ns0:nvPr/>
        </ns0:nvSpPr>
        <ns0:spPr>
          <ns1:xfrm>
            <ns1:off x="612648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#f3f2ec Canvas</ns1:t>
            </ns1:r>
            <ns1:endParaRPr lang="en-US" sz="450" dirty="0"/>
          </ns1:p>
        </ns0:txBody>
      </ns0:sp>
      <ns0:sp>
        <ns0:nvSpPr>
          <ns0:cNvPr id="17" name="TextBox 44"/>
          <ns0:cNvSpPr/>
          <ns0:nvPr/>
        </ns0:nvSpPr>
        <ns0:spPr>
          <ns1:xfrm>
            <ns1:off x="1142905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#faf9f5 Card</ns1:t>
            </ns1:r>
            <ns1:endParaRPr lang="en-US" sz="450" dirty="0"/>
          </ns1:p>
        </ns0:txBody>
      </ns0:sp>
      <ns0:sp>
        <ns0:nvSpPr>
          <ns0:cNvPr id="18" name="TextBox 46"/>
          <ns0:cNvSpPr/>
          <ns0:nvPr/>
        </ns0:nvSpPr>
        <ns0:spPr>
          <ns1:xfrm>
            <ns1:off x="1673162" y="3542014"/>
            <ns1:ext cx="42700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#e0e2e9 Container</ns1:t>
            </ns1:r>
            <ns1:endParaRPr lang="en-US" sz="450" dirty="0"/>
          </ns1:p>
        </ns0:txBody>
      </ns0:sp>
      <ns0:sp>
        <ns0:nvSpPr>
          <ns0:cNvPr id="19" name="Shape 50"/>
          <ns0:cNvSpPr/>
          <ns0:nvPr/>
        </ns0:nvSpPr>
        <ns0:spPr>
          <ns1:xfrm>
            <ns1:off x="3244834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0" name="TextBox 54"/>
          <ns0:cNvSpPr/>
          <ns0:nvPr/>
        </ns0:nvSpPr>
        <ns0:spPr>
          <ns1:xfrm>
            <ns1:off x="3400282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TYPOGRAPHIC SCALE</ns1:t>
            </ns1:r>
            <ns1:endParaRPr lang="en-US" sz="450" dirty="0"/>
          </ns1:p>
        </ns0:txBody>
      </ns0:sp>
      <ns0:sp>
        <ns0:nvSpPr>
          <ns0:cNvPr id="21" name="TextBox 56"/>
          <ns0:cNvSpPr/>
          <ns0:nvPr/>
        </ns0:nvSpPr>
        <ns0:spPr>
          <ns1:xfrm>
            <ns1:off x="3400282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Inter &amp; JetBrains Mono</ns1:t>
            </ns1:r>
            <ns1:endParaRPr lang="en-US" sz="900" dirty="0"/>
          </ns1:p>
        </ns0:txBody>
      </ns0:sp>
      <ns0:sp>
        <ns0:nvSpPr>
          <ns0:cNvPr id="22" name="TextBox 58"/>
          <ns0:cNvSpPr/>
          <ns0:nvPr/>
        </ns0:nvSpPr>
        <ns0:spPr>
          <ns1:xfrm>
            <ns1:off x="3400282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Dual-font architecture: crisp geometric sans-serif for UI labels and proportional headers, paired with monospace glyphs for metadata pills and code identifiers.</ns1:t>
            </ns1:r>
            <ns1:endParaRPr lang="en-US" sz="600" dirty="0"/>
          </ns1:p>
        </ns0:txBody>
      </ns0:sp>
      <ns0:sp>
        <ns0:nvSpPr>
          <ns0:cNvPr id="23" name="TextBox 63"/>
          <ns0:cNvSpPr/>
          <ns0:nvPr/>
        </ns0:nvSpPr>
        <ns0:spPr>
          <ns1:xfrm>
            <ns1:off x="3400282" y="3542014"/>
            <ns1:ext cx="32932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Inter UI</ns1:t>
            </ns1:r>
            <ns1:endParaRPr lang="en-US" sz="450" dirty="0"/>
          </ns1:p>
        </ns0:txBody>
      </ns0:sp>
      <ns0:sp>
        <ns0:nvSpPr>
          <ns0:cNvPr id="24" name="TextBox 65"/>
          <ns0:cNvSpPr/>
          <ns0:nvPr/>
        </ns0:nvSpPr>
        <ns0:spPr>
          <ns1:xfrm>
            <ns1:off x="376770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JetBrains Mono</ns1:t>
            </ns1:r>
            <ns1:endParaRPr lang="en-US" sz="450" dirty="0"/>
          </ns1:p>
        </ns0:txBody>
      </ns0:sp>
      <ns0:sp>
        <ns0:nvSpPr>
          <ns0:cNvPr id="25" name="TextBox 67"/>
          <ns0:cNvSpPr/>
          <ns0:nvPr/>
        </ns0:nvSpPr>
        <ns0:spPr>
          <ns1:xfrm>
            <ns1:off x="420023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Hairline Rules</ns1:t>
            </ns1:r>
            <ns1:endParaRPr lang="en-US" sz="450" dirty="0"/>
          </ns1:p>
        </ns0:txBody>
      </ns0:sp>
      <ns0:sp>
        <ns0:nvSpPr>
          <ns0:cNvPr id="26" name="Shape 71"/>
          <ns0:cNvSpPr/>
          <ns0:nvPr/>
        </ns0:nvSpPr>
        <ns0:spPr>
          <ns1:xfrm>
            <ns1:off x="6032468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7" name="TextBox 75"/>
          <ns0:cNvSpPr/>
          <ns0:nvPr/>
        </ns0:nvSpPr>
        <ns0:spPr>
          <ns1:xfrm>
            <ns1:off x="6187916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COLOR TOKENS &amp; STATES</ns1:t>
            </ns1:r>
            <ns1:endParaRPr lang="en-US" sz="450" dirty="0"/>
          </ns1:p>
        </ns0:txBody>
      </ns0:sp>
      <ns0:sp>
        <ns0:nvSpPr>
          <ns0:cNvPr id="28" name="TextBox 77"/>
          <ns0:cNvSpPr/>
          <ns0:nvPr/>
        </ns0:nvSpPr>
        <ns0:spPr>
          <ns1:xfrm>
            <ns1:off x="6187916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Sumi Ink &amp; Mineral Pigments</ns1:t>
            </ns1:r>
            <ns1:endParaRPr lang="en-US" sz="900" dirty="0"/>
          </ns1:p>
        </ns0:txBody>
      </ns0:sp>
      <ns0:sp>
        <ns0:nvSpPr>
          <ns0:cNvPr id="29" name="TextBox 79"/>
          <ns0:cNvSpPr/>
          <ns0:nvPr/>
        </ns0:nvSpPr>
        <ns0:spPr>
          <ns1:xfrm>
            <ns1:off x="6187916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Wabi-sabi reduction merged with Linear/Raycast keyboard speed. High contrast sumi ink on natural unbleached sand surfaces, devoid of ambient visual noise.</ns1:t>
            </ns1:r>
            <ns1:endParaRPr lang="en-US" sz="600" dirty="0"/>
          </ns1:p>
        </ns0:txBody>
      </ns0:sp>
      <ns0:sp>
        <ns0:nvSpPr>
          <ns0:cNvPr id="30" name="TextBox 84"/>
          <ns0:cNvSpPr/>
          <ns0:nvPr/>
        </ns0:nvSpPr>
        <ns0:spPr>
          <ns1:xfrm>
            <ns1:off x="6187916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Cinnabar P1</ns1:t>
            </ns1:r>
            <ns1:endParaRPr lang="en-US" sz="450" dirty="0"/>
          </ns1:p>
        </ns0:txBody>
      </ns0:sp>
      <ns0:sp>
        <ns0:nvSpPr>
          <ns0:cNvPr id="31" name="TextBox 86"/>
          <ns0:cNvSpPr/>
          <ns0:nvPr/>
        </ns0:nvSpPr>
        <ns0:spPr>
          <ns1:xfrm>
            <ns1:off x="6718173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Amber Active</ns1:t>
            </ns1:r>
            <ns1:endParaRPr lang="en-US" sz="450" dirty="0"/>
          </ns1:p>
        </ns0:txBody>
      </ns0:sp>
      <ns0:sp>
        <ns0:nvSpPr>
          <ns0:cNvPr id="32" name="TextBox 88"/>
          <ns0:cNvSpPr/>
          <ns0:nvPr/>
        </ns0:nvSpPr>
        <ns0:spPr>
          <ns1:xfrm>
            <ns1:off x="7248430" y="3542014"/>
            <ns1:ext cx="58983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Lichen Done</ns1:t>
            </ns1:r>
            <ns1:endParaRPr lang="en-US" sz="450" dirty="0"/>
          </ns1:p>
        </ns0:txBody>
      </ns0:sp>
      <ns0:sp>
        <ns0:nvSpPr>
          <ns0:cNvPr id="33" name="Shape 93"/>
          <ns0:cNvSpPr/>
          <ns0:nvPr/>
        </ns0:nvSpPr>
        <ns0:spPr>
          <ns1:xfrm>
            <ns1:off x="457200" y="4121944"/>
            <ns1:ext cx="8229600" cy="184023"/>
          </ns1:xfrm>
          <ns1:prstGeom prst="rect">
            <ns1:avLst/>
          </ns1:prstGeom>
          <ns1:noFill/>
          <ns1:ln/>
        </ns0:spPr>
      </ns0:sp>
      <ns0:pic>
        <ns0:nvPicPr>
          <ns0:cNvPr id="34" name="Picture 93" descr="__type_image">    </ns0:cNvPr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457200" y="4121944"/>
            <ns1:ext cx="8229600" cy="184023"/>
          </ns1:xfrm>
          <ns1:prstGeom prst="rect">
            <ns1:avLst/>
          </ns1:prstGeom>
        </ns0:spPr>
      </ns0:pic>
      <ns0:sp>
        <ns0:nvSpPr>
          <ns0:cNvPr id="35" name="TextBox 95"/>
          <ns0:cNvSpPr/>
          <ns0:nvPr/>
        </ns0:nvSpPr>
        <ns0:spPr>
          <ns1:xfrm>
            <ns1:off x="457200" y="4220242"/>
            <ns1:ext cx="1394031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ZEN-DESIGN-04 // GRAPHICS DESIGN SYSTEM INTEGRATION</ns1:t>
            </ns1:r>
            <ns1:endParaRPr lang="en-US" sz="450" dirty="0"/>
          </ns1:p>
        </ns0:txBody>
      </ns0:sp>
      <ns0:sp>
        <ns0:nvSpPr>
          <ns0:cNvPr id="36" name="TextBox 97"/>
          <ns0:cNvSpPr/>
          <ns0:nvPr/>
        </ns0:nvSpPr>
        <ns0:spPr>
          <ns1:xfrm>
            <ns1:off x="8442817" y="4220242"/>
            <ns1:ext cx="243983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04 / 08</ns1:t>
            </ns1:r>
            <ns1:endParaRPr lang="en-US" sz="450" dirty="0"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 name="Slide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3" name="Shape 2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4" name="Shape 4"/>
          <ns0:cNvSpPr/>
          <ns0:nvPr/>
        </ns0:nvSpPr>
        <ns0:spPr>
          <ns1:xfrm>
            <ns1:off x="457200" y="342900"/>
            <ns1:ext cx="8229600" cy="210217"/>
          </ns1:xfrm>
          <ns1:prstGeom prst="rect">
            <ns1:avLst/>
          </ns1:prstGeom>
          <ns1:noFill/>
          <ns1:ln/>
        </ns0:spPr>
      </ns0:sp>
      <ns0:pic>
        <ns0:nvPicPr>
          <ns0:cNvPr id="5" name="Picture 4" descr="__type_image">    </ns0:cNvPr>
          <ns0:cNvPicPr>
            <ns1:picLocks noChangeAspect="1"/>
          </ns0:cNvPicPr>
          <ns0:nvPr/>
        </ns0:nvPicPr>
        <ns0:blipFill>
          <ns1:blip ns2:embed="rId1">
            <ns1:extLst>
              <ns1:ext uri="{96DAC541-7B7A-43D3-8B79-37D633B846F1}">
                <ns3:svgBlip ns2:embed="rId2"/>
              </ns1:ext>
            </ns1:extLst>
          </ns1:blip>
          <ns1:stretch>
            <ns1:fillRect/>
          </ns1:stretch>
        </ns0:blipFill>
        <ns0:spPr>
          <ns1:xfrm>
            <ns1:off x="457200" y="342900"/>
            <ns1:ext cx="8229600" cy="210217"/>
          </ns1:xfrm>
          <ns1:prstGeom prst="rect">
            <ns1:avLst/>
          </ns1:prstGeom>
        </ns0:spPr>
      </ns0:pic>
      <ns0:sp>
        <ns0:nvSpPr>
          <ns0:cNvPr id="6" name="Shape 8"/>
          <ns0:cNvSpPr/>
          <ns0:nvPr/>
        </ns0:nvSpPr>
        <ns0:spPr>
          <ns1:xfrm>
            <ns1:off x="457200" y="375047"/>
            <ns1:ext cx="28575" cy="28575"/>
          </ns1:xfrm>
          <ns1:prstGeom prst="roundRect">
            <ns1:avLst>
              <ns1:gd name="adj" fmla="val 37500"/>
            </ns1:avLst>
          </ns1:prstGeom>
          <ns1:solidFill>
            <ns1:srgbClr val="100600"/>
          </ns1:solidFill>
          <ns1:ln/>
        </ns0:spPr>
      </ns0:sp>
      <ns0:sp>
        <ns0:nvSpPr>
          <ns0:cNvPr id="7" name="TextBox 10"/>
          <ns0:cNvSpPr/>
          <ns0:nvPr/>
        </ns0:nvSpPr>
        <ns0:spPr>
          <ns1:xfrm>
            <ns1:off x="542925" y="342900"/>
            <ns1:ext cx="1676543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 PRECISION SAAS — PERSISTENCE &amp; DATA ENGINE</ns1:t>
            </ns1:r>
            <ns1:endParaRPr lang="en-US" sz="488" dirty="0"/>
          </ns1:p>
        </ns0:txBody>
      </ns0:sp>
      <ns0:sp>
        <ns0:nvSpPr>
          <ns0:cNvPr id="8" name="TextBox 13"/>
          <ns0:cNvSpPr/>
          <ns0:nvPr/>
        </ns0:nvSpPr>
        <ns0:spPr>
          <ns1:xfrm>
            <ns1:off x="8082772" y="342900"/>
            <ns1:ext cx="604028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2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ENGINE // SQLITE 05</ns1:t>
            </ns1:r>
            <ns1:endParaRPr lang="en-US" sz="488" dirty="0"/>
          </ns1:p>
        </ns0:txBody>
      </ns0:sp>
      <ns0:sp>
        <ns0:nvSpPr>
          <ns0:cNvPr id="9" name="TextBox 20"/>
          <ns0:cNvSpPr/>
          <ns0:nvPr/>
        </ns0:nvSpPr>
        <ns0:spPr>
          <ns1:xfrm>
            <ns1:off x="457200" y="781717"/>
            <ns1:ext cx="8229600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DETERMINISTIC RANKING &amp; REBALANCING</ns1:t>
            </ns1:r>
            <ns1:endParaRPr lang="en-US" sz="488" dirty="0"/>
          </ns1:p>
        </ns0:txBody>
      </ns0:sp>
      <ns0:sp>
        <ns0:nvSpPr>
          <ns0:cNvPr id="10" name="TextBox 22"/>
          <ns0:cNvSpPr/>
          <ns0:nvPr/>
        </ns0:nvSpPr>
        <ns0:spPr>
          <ns1:xfrm>
            <ns1:off x="457200" y="950785"/>
            <ns1:ext cx="3374898" cy="5867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2310"/>
              </ns1:lnSpc>
              <ns1:buNone/>
            </ns1:pPr>
            <ns1:r>
              <ns1:rPr lang="en-US" sz="2100" b="1" spc="-52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Float Ranking &amp; SQLite Persistence</ns1:t>
            </ns1:r>
            <ns1:endParaRPr lang="en-US" sz="2100" dirty="0"/>
          </ns1:p>
        </ns0:txBody>
      </ns0:sp>
      <ns0:sp>
        <ns0:nvSpPr>
          <ns0:cNvPr id="11" name="TextBox 24"/>
          <ns0:cNvSpPr/>
          <ns0:nvPr/>
        </ns0:nvSpPr>
        <ns0:spPr>
          <ns1:xfrm>
            <ns1:off x="457200" y="1632775"/>
            <ns1:ext cx="2978039" cy="4286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Decoupled repository abstraction backing SQLModel ORM with transactional SQLite WAL mode. O(1) card reordering powered by fractional midpoint interpolation.</ns1:t>
            </ns1:r>
            <ns1:endParaRPr lang="en-US" sz="750" dirty="0"/>
          </ns1:p>
        </ns0:txBody>
      </ns0:sp>
      <ns0:sp>
        <ns0:nvSpPr>
          <ns0:cNvPr id="12" name="Shape 29"/>
          <ns0:cNvSpPr/>
          <ns0:nvPr/>
        </ns0:nvSpPr>
        <ns0:spPr>
          <ns1:xfrm>
            <ns1:off x="457200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13" name="TextBox 33"/>
          <ns0:cNvSpPr/>
          <ns0:nvPr/>
        </ns0:nvSpPr>
        <ns0:spPr>
          <ns1:xfrm>
            <ns1:off x="612648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RANKING ALGORITHM</ns1:t>
            </ns1:r>
            <ns1:endParaRPr lang="en-US" sz="450" dirty="0"/>
          </ns1:p>
        </ns0:txBody>
      </ns0:sp>
      <ns0:sp>
        <ns0:nvSpPr>
          <ns0:cNvPr id="14" name="TextBox 35"/>
          <ns0:cNvSpPr/>
          <ns0:nvPr/>
        </ns0:nvSpPr>
        <ns0:spPr>
          <ns1:xfrm>
            <ns1:off x="612648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Float Midpoint Engine</ns1:t>
            </ns1:r>
            <ns1:endParaRPr lang="en-US" sz="900" dirty="0"/>
          </ns1:p>
        </ns0:txBody>
      </ns0:sp>
      <ns0:sp>
        <ns0:nvSpPr>
          <ns0:cNvPr id="15" name="TextBox 37"/>
          <ns0:cNvSpPr/>
          <ns0:nvPr/>
        </ns0:nvSpPr>
        <ns0:spPr>
          <ns1:xfrm>
            <ns1:off x="612648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Calculates new rank as (prev + next) / 2 on drop. Automated rebalancing spreads sequence evenly across integers whenever rank difference drops below 1e-6.</ns1:t>
            </ns1:r>
            <ns1:endParaRPr lang="en-US" sz="600" dirty="0"/>
          </ns1:p>
        </ns0:txBody>
      </ns0:sp>
      <ns0:sp>
        <ns0:nvSpPr>
          <ns0:cNvPr id="16" name="TextBox 42"/>
          <ns0:cNvSpPr/>
          <ns0:nvPr/>
        </ns0:nvSpPr>
        <ns0:spPr>
          <ns1:xfrm>
            <ns1:off x="612648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Float Midpoint</ns1:t>
            </ns1:r>
            <ns1:endParaRPr lang="en-US" sz="450" dirty="0"/>
          </ns1:p>
        </ns0:txBody>
      </ns0:sp>
      <ns0:sp>
        <ns0:nvSpPr>
          <ns0:cNvPr id="17" name="TextBox 44"/>
          <ns0:cNvSpPr/>
          <ns0:nvPr/>
        </ns0:nvSpPr>
        <ns0:spPr>
          <ns1:xfrm>
            <ns1:off x="1142905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Auto-Rebalance</ns1:t>
            </ns1:r>
            <ns1:endParaRPr lang="en-US" sz="450" dirty="0"/>
          </ns1:p>
        </ns0:txBody>
      </ns0:sp>
      <ns0:sp>
        <ns0:nvSpPr>
          <ns0:cNvPr id="18" name="TextBox 46"/>
          <ns0:cNvSpPr/>
          <ns0:nvPr/>
        </ns0:nvSpPr>
        <ns0:spPr>
          <ns1:xfrm>
            <ns1:off x="1673162" y="3542014"/>
            <ns1:ext cx="42700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O(1) Insertion</ns1:t>
            </ns1:r>
            <ns1:endParaRPr lang="en-US" sz="450" dirty="0"/>
          </ns1:p>
        </ns0:txBody>
      </ns0:sp>
      <ns0:sp>
        <ns0:nvSpPr>
          <ns0:cNvPr id="19" name="Shape 50"/>
          <ns0:cNvSpPr/>
          <ns0:nvPr/>
        </ns0:nvSpPr>
        <ns0:spPr>
          <ns1:xfrm>
            <ns1:off x="3244834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0" name="TextBox 54"/>
          <ns0:cNvSpPr/>
          <ns0:nvPr/>
        </ns0:nvSpPr>
        <ns0:spPr>
          <ns1:xfrm>
            <ns1:off x="3400282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DATA REPOSITORY</ns1:t>
            </ns1:r>
            <ns1:endParaRPr lang="en-US" sz="450" dirty="0"/>
          </ns1:p>
        </ns0:txBody>
      </ns0:sp>
      <ns0:sp>
        <ns0:nvSpPr>
          <ns0:cNvPr id="21" name="TextBox 56"/>
          <ns0:cNvSpPr/>
          <ns0:nvPr/>
        </ns0:nvSpPr>
        <ns0:spPr>
          <ns1:xfrm>
            <ns1:off x="3400282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SQLiteBoardRepository</ns1:t>
            </ns1:r>
            <ns1:endParaRPr lang="en-US" sz="900" dirty="0"/>
          </ns1:p>
        </ns0:txBody>
      </ns0:sp>
      <ns0:sp>
        <ns0:nvSpPr>
          <ns0:cNvPr id="22" name="TextBox 58"/>
          <ns0:cNvSpPr/>
          <ns0:nvPr/>
        </ns0:nvSpPr>
        <ns0:spPr>
          <ns1:xfrm>
            <ns1:off x="3400282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Abstract BoardRepository protocol with dual implementations: in-memory mock for micro-benchmarks and SQLModel SQLite engine for durable disk persistence.</ns1:t>
            </ns1:r>
            <ns1:endParaRPr lang="en-US" sz="600" dirty="0"/>
          </ns1:p>
        </ns0:txBody>
      </ns0:sp>
      <ns0:sp>
        <ns0:nvSpPr>
          <ns0:cNvPr id="23" name="TextBox 63"/>
          <ns0:cNvSpPr/>
          <ns0:nvPr/>
        </ns0:nvSpPr>
        <ns0:spPr>
          <ns1:xfrm>
            <ns1:off x="3400282" y="3542014"/>
            <ns1:ext cx="32932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SQLModel ORM</ns1:t>
            </ns1:r>
            <ns1:endParaRPr lang="en-US" sz="450" dirty="0"/>
          </ns1:p>
        </ns0:txBody>
      </ns0:sp>
      <ns0:sp>
        <ns0:nvSpPr>
          <ns0:cNvPr id="24" name="TextBox 65"/>
          <ns0:cNvSpPr/>
          <ns0:nvPr/>
        </ns0:nvSpPr>
        <ns0:spPr>
          <ns1:xfrm>
            <ns1:off x="376770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SQLite WAL</ns1:t>
            </ns1:r>
            <ns1:endParaRPr lang="en-US" sz="450" dirty="0"/>
          </ns1:p>
        </ns0:txBody>
      </ns0:sp>
      <ns0:sp>
        <ns0:nvSpPr>
          <ns0:cNvPr id="25" name="TextBox 67"/>
          <ns0:cNvSpPr/>
          <ns0:nvPr/>
        </ns0:nvSpPr>
        <ns0:spPr>
          <ns1:xfrm>
            <ns1:off x="420023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Foreign Keys</ns1:t>
            </ns1:r>
            <ns1:endParaRPr lang="en-US" sz="450" dirty="0"/>
          </ns1:p>
        </ns0:txBody>
      </ns0:sp>
      <ns0:sp>
        <ns0:nvSpPr>
          <ns0:cNvPr id="26" name="Shape 71"/>
          <ns0:cNvSpPr/>
          <ns0:nvPr/>
        </ns0:nvSpPr>
        <ns0:spPr>
          <ns1:xfrm>
            <ns1:off x="6032468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7" name="TextBox 75"/>
          <ns0:cNvSpPr/>
          <ns0:nvPr/>
        </ns0:nvSpPr>
        <ns0:spPr>
          <ns1:xfrm>
            <ns1:off x="6187916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DATA SEEDING &amp; LIFESPAN</ns1:t>
            </ns1:r>
            <ns1:endParaRPr lang="en-US" sz="450" dirty="0"/>
          </ns1:p>
        </ns0:txBody>
      </ns0:sp>
      <ns0:sp>
        <ns0:nvSpPr>
          <ns0:cNvPr id="28" name="TextBox 77"/>
          <ns0:cNvSpPr/>
          <ns0:nvPr/>
        </ns0:nvSpPr>
        <ns0:spPr>
          <ns1:xfrm>
            <ns1:off x="6187916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Auto-Seeded State</ns1:t>
            </ns1:r>
            <ns1:endParaRPr lang="en-US" sz="900" dirty="0"/>
          </ns1:p>
        </ns0:txBody>
      </ns0:sp>
      <ns0:sp>
        <ns0:nvSpPr>
          <ns0:cNvPr id="29" name="TextBox 79"/>
          <ns0:cNvSpPr/>
          <ns0:nvPr/>
        </ns0:nvSpPr>
        <ns0:spPr>
          <ns1:xfrm>
            <ns1:off x="6187916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Wabi-sabi reduction merged with Linear/Raycast keyboard speed. High contrast sumi ink on natural unbleached sand surfaces, devoid of ambient visual noise.</ns1:t>
            </ns1:r>
            <ns1:endParaRPr lang="en-US" sz="600" dirty="0"/>
          </ns1:p>
        </ns0:txBody>
      </ns0:sp>
      <ns0:sp>
        <ns0:nvSpPr>
          <ns0:cNvPr id="30" name="TextBox 84"/>
          <ns0:cNvSpPr/>
          <ns0:nvPr/>
        </ns0:nvSpPr>
        <ns0:spPr>
          <ns1:xfrm>
            <ns1:off x="6187916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Lifespan Hook</ns1:t>
            </ns1:r>
            <ns1:endParaRPr lang="en-US" sz="450" dirty="0"/>
          </ns1:p>
        </ns0:txBody>
      </ns0:sp>
      <ns0:sp>
        <ns0:nvSpPr>
          <ns0:cNvPr id="31" name="TextBox 86"/>
          <ns0:cNvSpPr/>
          <ns0:nvPr/>
        </ns0:nvSpPr>
        <ns0:spPr>
          <ns1:xfrm>
            <ns1:off x="6718173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Auto-Seed</ns1:t>
            </ns1:r>
            <ns1:endParaRPr lang="en-US" sz="450" dirty="0"/>
          </ns1:p>
        </ns0:txBody>
      </ns0:sp>
      <ns0:sp>
        <ns0:nvSpPr>
          <ns0:cNvPr id="32" name="TextBox 88"/>
          <ns0:cNvSpPr/>
          <ns0:nvPr/>
        </ns0:nvSpPr>
        <ns0:spPr>
          <ns1:xfrm>
            <ns1:off x="7248430" y="3542014"/>
            <ns1:ext cx="58983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Async Engine</ns1:t>
            </ns1:r>
            <ns1:endParaRPr lang="en-US" sz="450" dirty="0"/>
          </ns1:p>
        </ns0:txBody>
      </ns0:sp>
      <ns0:sp>
        <ns0:nvSpPr>
          <ns0:cNvPr id="33" name="Shape 93"/>
          <ns0:cNvSpPr/>
          <ns0:nvPr/>
        </ns0:nvSpPr>
        <ns0:spPr>
          <ns1:xfrm>
            <ns1:off x="457200" y="4121944"/>
            <ns1:ext cx="8229600" cy="184023"/>
          </ns1:xfrm>
          <ns1:prstGeom prst="rect">
            <ns1:avLst/>
          </ns1:prstGeom>
          <ns1:noFill/>
          <ns1:ln/>
        </ns0:spPr>
      </ns0:sp>
      <ns0:pic>
        <ns0:nvPicPr>
          <ns0:cNvPr id="34" name="Picture 93" descr="__type_image">    </ns0:cNvPr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457200" y="4121944"/>
            <ns1:ext cx="8229600" cy="184023"/>
          </ns1:xfrm>
          <ns1:prstGeom prst="rect">
            <ns1:avLst/>
          </ns1:prstGeom>
        </ns0:spPr>
      </ns0:pic>
      <ns0:sp>
        <ns0:nvSpPr>
          <ns0:cNvPr id="35" name="TextBox 95"/>
          <ns0:cNvSpPr/>
          <ns0:nvPr/>
        </ns0:nvSpPr>
        <ns0:spPr>
          <ns1:xfrm>
            <ns1:off x="457200" y="4220242"/>
            <ns1:ext cx="1394031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ZEN-DATA-05 // SQLITE ENGINE &amp; FRACTIONAL RANKING</ns1:t>
            </ns1:r>
            <ns1:endParaRPr lang="en-US" sz="450" dirty="0"/>
          </ns1:p>
        </ns0:txBody>
      </ns0:sp>
      <ns0:sp>
        <ns0:nvSpPr>
          <ns0:cNvPr id="36" name="TextBox 97"/>
          <ns0:cNvSpPr/>
          <ns0:nvPr/>
        </ns0:nvSpPr>
        <ns0:spPr>
          <ns1:xfrm>
            <ns1:off x="8442817" y="4220242"/>
            <ns1:ext cx="243983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05 / 08</ns1:t>
            </ns1:r>
            <ns1:endParaRPr lang="en-US" sz="450" dirty="0"/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 name="Slide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3" name="Shape 2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4" name="Shape 4"/>
          <ns0:cNvSpPr/>
          <ns0:nvPr/>
        </ns0:nvSpPr>
        <ns0:spPr>
          <ns1:xfrm>
            <ns1:off x="457200" y="342900"/>
            <ns1:ext cx="8229600" cy="210217"/>
          </ns1:xfrm>
          <ns1:prstGeom prst="rect">
            <ns1:avLst/>
          </ns1:prstGeom>
          <ns1:noFill/>
          <ns1:ln/>
        </ns0:spPr>
      </ns0:sp>
      <ns0:pic>
        <ns0:nvPicPr>
          <ns0:cNvPr id="5" name="Picture 4" descr="__type_image">    </ns0:cNvPr>
          <ns0:cNvPicPr>
            <ns1:picLocks noChangeAspect="1"/>
          </ns0:cNvPicPr>
          <ns0:nvPr/>
        </ns0:nvPicPr>
        <ns0:blipFill>
          <ns1:blip ns2:embed="rId1">
            <ns1:extLst>
              <ns1:ext uri="{96DAC541-7B7A-43D3-8B79-37D633B846F1}">
                <ns3:svgBlip ns2:embed="rId2"/>
              </ns1:ext>
            </ns1:extLst>
          </ns1:blip>
          <ns1:stretch>
            <ns1:fillRect/>
          </ns1:stretch>
        </ns0:blipFill>
        <ns0:spPr>
          <ns1:xfrm>
            <ns1:off x="457200" y="342900"/>
            <ns1:ext cx="8229600" cy="210217"/>
          </ns1:xfrm>
          <ns1:prstGeom prst="rect">
            <ns1:avLst/>
          </ns1:prstGeom>
        </ns0:spPr>
      </ns0:pic>
      <ns0:sp>
        <ns0:nvSpPr>
          <ns0:cNvPr id="6" name="Shape 8"/>
          <ns0:cNvSpPr/>
          <ns0:nvPr/>
        </ns0:nvSpPr>
        <ns0:spPr>
          <ns1:xfrm>
            <ns1:off x="457200" y="375047"/>
            <ns1:ext cx="28575" cy="28575"/>
          </ns1:xfrm>
          <ns1:prstGeom prst="roundRect">
            <ns1:avLst>
              <ns1:gd name="adj" fmla="val 37500"/>
            </ns1:avLst>
          </ns1:prstGeom>
          <ns1:solidFill>
            <ns1:srgbClr val="100600"/>
          </ns1:solidFill>
          <ns1:ln/>
        </ns0:spPr>
      </ns0:sp>
      <ns0:sp>
        <ns0:nvSpPr>
          <ns0:cNvPr id="7" name="TextBox 10"/>
          <ns0:cNvSpPr/>
          <ns0:nvPr/>
        </ns0:nvSpPr>
        <ns0:spPr>
          <ns1:xfrm>
            <ns1:off x="542925" y="342900"/>
            <ns1:ext cx="1676543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 PRECISION SAAS — RESPONSIVE ADAPTATION</ns1:t>
            </ns1:r>
            <ns1:endParaRPr lang="en-US" sz="488" dirty="0"/>
          </ns1:p>
        </ns0:txBody>
      </ns0:sp>
      <ns0:sp>
        <ns0:nvSpPr>
          <ns0:cNvPr id="8" name="TextBox 13"/>
          <ns0:cNvSpPr/>
          <ns0:nvPr/>
        </ns0:nvSpPr>
        <ns0:spPr>
          <ns1:xfrm>
            <ns1:off x="8082772" y="342900"/>
            <ns1:ext cx="604028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2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ADAPTATION // VIEWPORT 06</ns1:t>
            </ns1:r>
            <ns1:endParaRPr lang="en-US" sz="488" dirty="0"/>
          </ns1:p>
        </ns0:txBody>
      </ns0:sp>
      <ns0:sp>
        <ns0:nvSpPr>
          <ns0:cNvPr id="9" name="TextBox 20"/>
          <ns0:cNvSpPr/>
          <ns0:nvPr/>
        </ns0:nvSpPr>
        <ns0:spPr>
          <ns1:xfrm>
            <ns1:off x="457200" y="781717"/>
            <ns1:ext cx="8229600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MULTI-SURFACE RESPONSIVE CONTRACT</ns1:t>
            </ns1:r>
            <ns1:endParaRPr lang="en-US" sz="488" dirty="0"/>
          </ns1:p>
        </ns0:txBody>
      </ns0:sp>
      <ns0:sp>
        <ns0:nvSpPr>
          <ns0:cNvPr id="10" name="TextBox 22"/>
          <ns0:cNvSpPr/>
          <ns0:nvPr/>
        </ns0:nvSpPr>
        <ns0:spPr>
          <ns1:xfrm>
            <ns1:off x="457200" y="950785"/>
            <ns1:ext cx="3374898" cy="5867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2310"/>
              </ns1:lnSpc>
              <ns1:buNone/>
            </ns1:pPr>
            <ns1:r>
              <ns1:rPr lang="en-US" sz="2100" b="1" spc="-52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Desktop, Tablet &amp; Mobile Matrix</ns1:t>
            </ns1:r>
            <ns1:endParaRPr lang="en-US" sz="2100" dirty="0"/>
          </ns1:p>
        </ns0:txBody>
      </ns0:sp>
      <ns0:sp>
        <ns0:nvSpPr>
          <ns0:cNvPr id="11" name="TextBox 24"/>
          <ns0:cNvSpPr/>
          <ns0:nvPr/>
        </ns0:nvSpPr>
        <ns0:spPr>
          <ns1:xfrm>
            <ns1:off x="457200" y="1632775"/>
            <ns1:ext cx="2978039" cy="4286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Tailwind CSS responsive architecture supporting viewports from 360px mobile compact up to 1920px widescreen displays without horizontal canvas breaks.</ns1:t>
            </ns1:r>
            <ns1:endParaRPr lang="en-US" sz="750" dirty="0"/>
          </ns1:p>
        </ns0:txBody>
      </ns0:sp>
      <ns0:sp>
        <ns0:nvSpPr>
          <ns0:cNvPr id="12" name="Shape 29"/>
          <ns0:cNvSpPr/>
          <ns0:nvPr/>
        </ns0:nvSpPr>
        <ns0:spPr>
          <ns1:xfrm>
            <ns1:off x="457200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13" name="TextBox 33"/>
          <ns0:cNvSpPr/>
          <ns0:nvPr/>
        </ns0:nvSpPr>
        <ns0:spPr>
          <ns1:xfrm>
            <ns1:off x="612648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DESKTOP VIEWPORT</ns1:t>
            </ns1:r>
            <ns1:endParaRPr lang="en-US" sz="450" dirty="0"/>
          </ns1:p>
        </ns0:txBody>
      </ns0:sp>
      <ns0:sp>
        <ns0:nvSpPr>
          <ns0:cNvPr id="14" name="TextBox 35"/>
          <ns0:cNvSpPr/>
          <ns0:nvPr/>
        </ns0:nvSpPr>
        <ns0:spPr>
          <ns1:xfrm>
            <ns1:off x="612648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lg: &amp; xl: Displays</ns1:t>
            </ns1:r>
            <ns1:endParaRPr lang="en-US" sz="900" dirty="0"/>
          </ns1:p>
        </ns0:txBody>
      </ns0:sp>
      <ns0:sp>
        <ns0:nvSpPr>
          <ns0:cNvPr id="15" name="TextBox 37"/>
          <ns0:cNvSpPr/>
          <ns0:nvPr/>
        </ns0:nvSpPr>
        <ns0:spPr>
          <ns1:xfrm>
            <ns1:off x="612648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Multi-column side-by-side flex layout with equal column widths. Persistent top search bar, fast keyboard command palette (CMD+K), and desktop status bar.</ns1:t>
            </ns1:r>
            <ns1:endParaRPr lang="en-US" sz="600" dirty="0"/>
          </ns1:p>
        </ns0:txBody>
      </ns0:sp>
      <ns0:sp>
        <ns0:nvSpPr>
          <ns0:cNvPr id="16" name="TextBox 42"/>
          <ns0:cNvSpPr/>
          <ns0:nvPr/>
        </ns0:nvSpPr>
        <ns0:spPr>
          <ns1:xfrm>
            <ns1:off x="612648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1440px / 1920px</ns1:t>
            </ns1:r>
            <ns1:endParaRPr lang="en-US" sz="450" dirty="0"/>
          </ns1:p>
        </ns0:txBody>
      </ns0:sp>
      <ns0:sp>
        <ns0:nvSpPr>
          <ns0:cNvPr id="17" name="TextBox 44"/>
          <ns0:cNvSpPr/>
          <ns0:nvPr/>
        </ns0:nvSpPr>
        <ns0:spPr>
          <ns1:xfrm>
            <ns1:off x="1142905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Side-by-Side</ns1:t>
            </ns1:r>
            <ns1:endParaRPr lang="en-US" sz="450" dirty="0"/>
          </ns1:p>
        </ns0:txBody>
      </ns0:sp>
      <ns0:sp>
        <ns0:nvSpPr>
          <ns0:cNvPr id="18" name="TextBox 46"/>
          <ns0:cNvSpPr/>
          <ns0:nvPr/>
        </ns0:nvSpPr>
        <ns0:spPr>
          <ns1:xfrm>
            <ns1:off x="1673162" y="3542014"/>
            <ns1:ext cx="42700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Zero Clutter</ns1:t>
            </ns1:r>
            <ns1:endParaRPr lang="en-US" sz="450" dirty="0"/>
          </ns1:p>
        </ns0:txBody>
      </ns0:sp>
      <ns0:sp>
        <ns0:nvSpPr>
          <ns0:cNvPr id="19" name="Shape 50"/>
          <ns0:cNvSpPr/>
          <ns0:nvPr/>
        </ns0:nvSpPr>
        <ns0:spPr>
          <ns1:xfrm>
            <ns1:off x="3244834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0" name="TextBox 54"/>
          <ns0:cNvSpPr/>
          <ns0:nvPr/>
        </ns0:nvSpPr>
        <ns0:spPr>
          <ns1:xfrm>
            <ns1:off x="3400282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TABLET VIEWPORT</ns1:t>
            </ns1:r>
            <ns1:endParaRPr lang="en-US" sz="450" dirty="0"/>
          </ns1:p>
        </ns0:txBody>
      </ns0:sp>
      <ns0:sp>
        <ns0:nvSpPr>
          <ns0:cNvPr id="21" name="TextBox 56"/>
          <ns0:cNvSpPr/>
          <ns0:nvPr/>
        </ns0:nvSpPr>
        <ns0:spPr>
          <ns1:xfrm>
            <ns1:off x="3400282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md: &amp; sm: Displays</ns1:t>
            </ns1:r>
            <ns1:endParaRPr lang="en-US" sz="900" dirty="0"/>
          </ns1:p>
        </ns0:txBody>
      </ns0:sp>
      <ns0:sp>
        <ns0:nvSpPr>
          <ns0:cNvPr id="22" name="TextBox 58"/>
          <ns0:cNvSpPr/>
          <ns0:nvPr/>
        </ns0:nvSpPr>
        <ns0:spPr>
          <ns1:xfrm>
            <ns1:off x="3400282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Fluid horizontal scrolling track with scroll snapping. Preserves column integrity, full drag-and-drop sortability, and inline card creation buttons.</ns1:t>
            </ns1:r>
            <ns1:endParaRPr lang="en-US" sz="600" dirty="0"/>
          </ns1:p>
        </ns0:txBody>
      </ns0:sp>
      <ns0:sp>
        <ns0:nvSpPr>
          <ns0:cNvPr id="23" name="TextBox 63"/>
          <ns0:cNvSpPr/>
          <ns0:nvPr/>
        </ns0:nvSpPr>
        <ns0:spPr>
          <ns1:xfrm>
            <ns1:off x="3400282" y="3542014"/>
            <ns1:ext cx="32932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820px / 1024px</ns1:t>
            </ns1:r>
            <ns1:endParaRPr lang="en-US" sz="450" dirty="0"/>
          </ns1:p>
        </ns0:txBody>
      </ns0:sp>
      <ns0:sp>
        <ns0:nvSpPr>
          <ns0:cNvPr id="24" name="TextBox 65"/>
          <ns0:cNvSpPr/>
          <ns0:nvPr/>
        </ns0:nvSpPr>
        <ns0:spPr>
          <ns1:xfrm>
            <ns1:off x="376770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Scroll Snapping</ns1:t>
            </ns1:r>
            <ns1:endParaRPr lang="en-US" sz="450" dirty="0"/>
          </ns1:p>
        </ns0:txBody>
      </ns0:sp>
      <ns0:sp>
        <ns0:nvSpPr>
          <ns0:cNvPr id="25" name="TextBox 67"/>
          <ns0:cNvSpPr/>
          <ns0:nvPr/>
        </ns0:nvSpPr>
        <ns0:spPr>
          <ns1:xfrm>
            <ns1:off x="420023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SortableJS</ns1:t>
            </ns1:r>
            <ns1:endParaRPr lang="en-US" sz="450" dirty="0"/>
          </ns1:p>
        </ns0:txBody>
      </ns0:sp>
      <ns0:sp>
        <ns0:nvSpPr>
          <ns0:cNvPr id="26" name="Shape 71"/>
          <ns0:cNvSpPr/>
          <ns0:nvPr/>
        </ns0:nvSpPr>
        <ns0:spPr>
          <ns1:xfrm>
            <ns1:off x="6032468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7" name="TextBox 75"/>
          <ns0:cNvSpPr/>
          <ns0:nvPr/>
        </ns0:nvSpPr>
        <ns0:spPr>
          <ns1:xfrm>
            <ns1:off x="6187916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MOBILE COMPACT</ns1:t>
            </ns1:r>
            <ns1:endParaRPr lang="en-US" sz="450" dirty="0"/>
          </ns1:p>
        </ns0:txBody>
      </ns0:sp>
      <ns0:sp>
        <ns0:nvSpPr>
          <ns0:cNvPr id="28" name="TextBox 77"/>
          <ns0:cNvSpPr/>
          <ns0:nvPr/>
        </ns0:nvSpPr>
        <ns0:spPr>
          <ns1:xfrm>
            <ns1:off x="6187916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360px — 430px Handhelds</ns1:t>
            </ns1:r>
            <ns1:endParaRPr lang="en-US" sz="900" dirty="0"/>
          </ns1:p>
        </ns0:txBody>
      </ns0:sp>
      <ns0:sp>
        <ns0:nvSpPr>
          <ns0:cNvPr id="29" name="TextBox 79"/>
          <ns0:cNvSpPr/>
          <ns0:nvPr/>
        </ns0:nvSpPr>
        <ns0:spPr>
          <ns1:xfrm>
            <ns1:off x="6187916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Wabi-sabi reduction merged with Linear/Raycast keyboard speed. High contrast sumi ink on natural unbleached sand surfaces, devoid of ambient visual noise.</ns1:t>
            </ns1:r>
            <ns1:endParaRPr lang="en-US" sz="600" dirty="0"/>
          </ns1:p>
        </ns0:txBody>
      </ns0:sp>
      <ns0:sp>
        <ns0:nvSpPr>
          <ns0:cNvPr id="30" name="TextBox 84"/>
          <ns0:cNvSpPr/>
          <ns0:nvPr/>
        </ns0:nvSpPr>
        <ns0:spPr>
          <ns1:xfrm>
            <ns1:off x="6187916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390x844 Base</ns1:t>
            </ns1:r>
            <ns1:endParaRPr lang="en-US" sz="450" dirty="0"/>
          </ns1:p>
        </ns0:txBody>
      </ns0:sp>
      <ns0:sp>
        <ns0:nvSpPr>
          <ns0:cNvPr id="31" name="TextBox 86"/>
          <ns0:cNvSpPr/>
          <ns0:nvPr/>
        </ns0:nvSpPr>
        <ns0:spPr>
          <ns1:xfrm>
            <ns1:off x="6718173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Touch Snapping</ns1:t>
            </ns1:r>
            <ns1:endParaRPr lang="en-US" sz="450" dirty="0"/>
          </ns1:p>
        </ns0:txBody>
      </ns0:sp>
      <ns0:sp>
        <ns0:nvSpPr>
          <ns0:cNvPr id="32" name="TextBox 88"/>
          <ns0:cNvSpPr/>
          <ns0:nvPr/>
        </ns0:nvSpPr>
        <ns0:spPr>
          <ns1:xfrm>
            <ns1:off x="7248430" y="3542014"/>
            <ns1:ext cx="58983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Tab Switcher</ns1:t>
            </ns1:r>
            <ns1:endParaRPr lang="en-US" sz="450" dirty="0"/>
          </ns1:p>
        </ns0:txBody>
      </ns0:sp>
      <ns0:sp>
        <ns0:nvSpPr>
          <ns0:cNvPr id="33" name="Shape 93"/>
          <ns0:cNvSpPr/>
          <ns0:nvPr/>
        </ns0:nvSpPr>
        <ns0:spPr>
          <ns1:xfrm>
            <ns1:off x="457200" y="4121944"/>
            <ns1:ext cx="8229600" cy="184023"/>
          </ns1:xfrm>
          <ns1:prstGeom prst="rect">
            <ns1:avLst/>
          </ns1:prstGeom>
          <ns1:noFill/>
          <ns1:ln/>
        </ns0:spPr>
      </ns0:sp>
      <ns0:pic>
        <ns0:nvPicPr>
          <ns0:cNvPr id="34" name="Picture 93" descr="__type_image">    </ns0:cNvPr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457200" y="4121944"/>
            <ns1:ext cx="8229600" cy="184023"/>
          </ns1:xfrm>
          <ns1:prstGeom prst="rect">
            <ns1:avLst/>
          </ns1:prstGeom>
        </ns0:spPr>
      </ns0:pic>
      <ns0:sp>
        <ns0:nvSpPr>
          <ns0:cNvPr id="35" name="TextBox 95"/>
          <ns0:cNvSpPr/>
          <ns0:nvPr/>
        </ns0:nvSpPr>
        <ns0:spPr>
          <ns1:xfrm>
            <ns1:off x="457200" y="4220242"/>
            <ns1:ext cx="1394031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ZEN-RESPONSIVE-06 // ADAPTIVE MULTI-DEVICE CONTRACT</ns1:t>
            </ns1:r>
            <ns1:endParaRPr lang="en-US" sz="450" dirty="0"/>
          </ns1:p>
        </ns0:txBody>
      </ns0:sp>
      <ns0:sp>
        <ns0:nvSpPr>
          <ns0:cNvPr id="36" name="TextBox 97"/>
          <ns0:cNvSpPr/>
          <ns0:nvPr/>
        </ns0:nvSpPr>
        <ns0:spPr>
          <ns1:xfrm>
            <ns1:off x="8442817" y="4220242"/>
            <ns1:ext cx="243983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06 / 08</ns1:t>
            </ns1:r>
            <ns1:endParaRPr lang="en-US" sz="450" dirty="0"/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 name="Slide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3" name="Shape 2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4" name="Shape 4"/>
          <ns0:cNvSpPr/>
          <ns0:nvPr/>
        </ns0:nvSpPr>
        <ns0:spPr>
          <ns1:xfrm>
            <ns1:off x="457200" y="342900"/>
            <ns1:ext cx="8229600" cy="210217"/>
          </ns1:xfrm>
          <ns1:prstGeom prst="rect">
            <ns1:avLst/>
          </ns1:prstGeom>
          <ns1:noFill/>
          <ns1:ln/>
        </ns0:spPr>
      </ns0:sp>
      <ns0:pic>
        <ns0:nvPicPr>
          <ns0:cNvPr id="5" name="Picture 4" descr="__type_image">    </ns0:cNvPr>
          <ns0:cNvPicPr>
            <ns1:picLocks noChangeAspect="1"/>
          </ns0:cNvPicPr>
          <ns0:nvPr/>
        </ns0:nvPicPr>
        <ns0:blipFill>
          <ns1:blip ns2:embed="rId1">
            <ns1:extLst>
              <ns1:ext uri="{96DAC541-7B7A-43D3-8B79-37D633B846F1}">
                <ns3:svgBlip ns2:embed="rId2"/>
              </ns1:ext>
            </ns1:extLst>
          </ns1:blip>
          <ns1:stretch>
            <ns1:fillRect/>
          </ns1:stretch>
        </ns0:blipFill>
        <ns0:spPr>
          <ns1:xfrm>
            <ns1:off x="457200" y="342900"/>
            <ns1:ext cx="8229600" cy="210217"/>
          </ns1:xfrm>
          <ns1:prstGeom prst="rect">
            <ns1:avLst/>
          </ns1:prstGeom>
        </ns0:spPr>
      </ns0:pic>
      <ns0:sp>
        <ns0:nvSpPr>
          <ns0:cNvPr id="6" name="Shape 8"/>
          <ns0:cNvSpPr/>
          <ns0:nvPr/>
        </ns0:nvSpPr>
        <ns0:spPr>
          <ns1:xfrm>
            <ns1:off x="457200" y="375047"/>
            <ns1:ext cx="28575" cy="28575"/>
          </ns1:xfrm>
          <ns1:prstGeom prst="roundRect">
            <ns1:avLst>
              <ns1:gd name="adj" fmla="val 37500"/>
            </ns1:avLst>
          </ns1:prstGeom>
          <ns1:solidFill>
            <ns1:srgbClr val="100600"/>
          </ns1:solidFill>
          <ns1:ln/>
        </ns0:spPr>
      </ns0:sp>
      <ns0:sp>
        <ns0:nvSpPr>
          <ns0:cNvPr id="7" name="TextBox 10"/>
          <ns0:cNvSpPr/>
          <ns0:nvPr/>
        </ns0:nvSpPr>
        <ns0:spPr>
          <ns1:xfrm>
            <ns1:off x="542925" y="342900"/>
            <ns1:ext cx="1676543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 PRECISION SAAS — PACKAGING &amp; DEPLOYMENT</ns1:t>
            </ns1:r>
            <ns1:endParaRPr lang="en-US" sz="488" dirty="0"/>
          </ns1:p>
        </ns0:txBody>
      </ns0:sp>
      <ns0:sp>
        <ns0:nvSpPr>
          <ns0:cNvPr id="8" name="TextBox 13"/>
          <ns0:cNvSpPr/>
          <ns0:nvPr/>
        </ns0:nvSpPr>
        <ns0:spPr>
          <ns1:xfrm>
            <ns1:off x="8082772" y="342900"/>
            <ns1:ext cx="604028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2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OPERATIONS // DOCKER 07</ns1:t>
            </ns1:r>
            <ns1:endParaRPr lang="en-US" sz="488" dirty="0"/>
          </ns1:p>
        </ns0:txBody>
      </ns0:sp>
      <ns0:sp>
        <ns0:nvSpPr>
          <ns0:cNvPr id="9" name="TextBox 20"/>
          <ns0:cNvSpPr/>
          <ns0:nvPr/>
        </ns0:nvSpPr>
        <ns0:spPr>
          <ns1:xfrm>
            <ns1:off x="457200" y="781717"/>
            <ns1:ext cx="8229600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DETERMINISTIC TOOLCHAIN &amp; CONTAINERIZATION</ns1:t>
            </ns1:r>
            <ns1:endParaRPr lang="en-US" sz="488" dirty="0"/>
          </ns1:p>
        </ns0:txBody>
      </ns0:sp>
      <ns0:sp>
        <ns0:nvSpPr>
          <ns0:cNvPr id="10" name="TextBox 22"/>
          <ns0:cNvSpPr/>
          <ns0:nvPr/>
        </ns0:nvSpPr>
        <ns0:spPr>
          <ns1:xfrm>
            <ns1:off x="457200" y="950785"/>
            <ns1:ext cx="3374898" cy="5867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2310"/>
              </ns1:lnSpc>
              <ns1:buNone/>
            </ns1:pPr>
            <ns1:r>
              <ns1:rPr lang="en-US" sz="2100" b="1" spc="-52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uv Environment &amp; Docker Compose</ns1:t>
            </ns1:r>
            <ns1:endParaRPr lang="en-US" sz="2100" dirty="0"/>
          </ns1:p>
        </ns0:txBody>
      </ns0:sp>
      <ns0:sp>
        <ns0:nvSpPr>
          <ns0:cNvPr id="11" name="TextBox 24"/>
          <ns0:cNvSpPr/>
          <ns0:nvPr/>
        </ns0:nvSpPr>
        <ns0:spPr>
          <ns1:xfrm>
            <ns1:off x="457200" y="1632775"/>
            <ns1:ext cx="2978039" cy="4286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Modern Python engineering with zero virtualenv drift. Multi-stage Docker container utilizing astral uv for sub-second builds and volume-backed database persistence.</ns1:t>
            </ns1:r>
            <ns1:endParaRPr lang="en-US" sz="750" dirty="0"/>
          </ns1:p>
        </ns0:txBody>
      </ns0:sp>
      <ns0:sp>
        <ns0:nvSpPr>
          <ns0:cNvPr id="12" name="Shape 29"/>
          <ns0:cNvSpPr/>
          <ns0:nvPr/>
        </ns0:nvSpPr>
        <ns0:spPr>
          <ns1:xfrm>
            <ns1:off x="457200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13" name="TextBox 33"/>
          <ns0:cNvSpPr/>
          <ns0:nvPr/>
        </ns0:nvSpPr>
        <ns0:spPr>
          <ns1:xfrm>
            <ns1:off x="612648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PACKAGE MANAGER</ns1:t>
            </ns1:r>
            <ns1:endParaRPr lang="en-US" sz="450" dirty="0"/>
          </ns1:p>
        </ns0:txBody>
      </ns0:sp>
      <ns0:sp>
        <ns0:nvSpPr>
          <ns0:cNvPr id="14" name="TextBox 35"/>
          <ns0:cNvSpPr/>
          <ns0:nvPr/>
        </ns0:nvSpPr>
        <ns0:spPr>
          <ns1:xfrm>
            <ns1:off x="612648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Astral uv Tooling</ns1:t>
            </ns1:r>
            <ns1:endParaRPr lang="en-US" sz="900" dirty="0"/>
          </ns1:p>
        </ns0:txBody>
      </ns0:sp>
      <ns0:sp>
        <ns0:nvSpPr>
          <ns0:cNvPr id="15" name="TextBox 37"/>
          <ns0:cNvSpPr/>
          <ns0:nvPr/>
        </ns0:nvSpPr>
        <ns0:spPr>
          <ns1:xfrm>
            <ns1:off x="612648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Replaces pip, pip-tools, and poetry with lightning-fast Rust-based package resolution. Fully locked via uv.lock for deterministic builds across all platforms.</ns1:t>
            </ns1:r>
            <ns1:endParaRPr lang="en-US" sz="600" dirty="0"/>
          </ns1:p>
        </ns0:txBody>
      </ns0:sp>
      <ns0:sp>
        <ns0:nvSpPr>
          <ns0:cNvPr id="16" name="TextBox 42"/>
          <ns0:cNvSpPr/>
          <ns0:nvPr/>
        </ns0:nvSpPr>
        <ns0:spPr>
          <ns1:xfrm>
            <ns1:off x="612648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uv sync</ns1:t>
            </ns1:r>
            <ns1:endParaRPr lang="en-US" sz="450" dirty="0"/>
          </ns1:p>
        </ns0:txBody>
      </ns0:sp>
      <ns0:sp>
        <ns0:nvSpPr>
          <ns0:cNvPr id="17" name="TextBox 44"/>
          <ns0:cNvSpPr/>
          <ns0:nvPr/>
        </ns0:nvSpPr>
        <ns0:spPr>
          <ns1:xfrm>
            <ns1:off x="1142905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uv.lock</ns1:t>
            </ns1:r>
            <ns1:endParaRPr lang="en-US" sz="450" dirty="0"/>
          </ns1:p>
        </ns0:txBody>
      </ns0:sp>
      <ns0:sp>
        <ns0:nvSpPr>
          <ns0:cNvPr id="18" name="TextBox 46"/>
          <ns0:cNvSpPr/>
          <ns0:nvPr/>
        </ns0:nvSpPr>
        <ns0:spPr>
          <ns1:xfrm>
            <ns1:off x="1673162" y="3542014"/>
            <ns1:ext cx="42700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pyproject.toml</ns1:t>
            </ns1:r>
            <ns1:endParaRPr lang="en-US" sz="450" dirty="0"/>
          </ns1:p>
        </ns0:txBody>
      </ns0:sp>
      <ns0:sp>
        <ns0:nvSpPr>
          <ns0:cNvPr id="19" name="Shape 50"/>
          <ns0:cNvSpPr/>
          <ns0:nvPr/>
        </ns0:nvSpPr>
        <ns0:spPr>
          <ns1:xfrm>
            <ns1:off x="3244834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0" name="TextBox 54"/>
          <ns0:cNvSpPr/>
          <ns0:nvPr/>
        </ns0:nvSpPr>
        <ns0:spPr>
          <ns1:xfrm>
            <ns1:off x="3400282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MULTI-STAGE DOCKER</ns1:t>
            </ns1:r>
            <ns1:endParaRPr lang="en-US" sz="450" dirty="0"/>
          </ns1:p>
        </ns0:txBody>
      </ns0:sp>
      <ns0:sp>
        <ns0:nvSpPr>
          <ns0:cNvPr id="21" name="TextBox 56"/>
          <ns0:cNvSpPr/>
          <ns0:nvPr/>
        </ns0:nvSpPr>
        <ns0:spPr>
          <ns1:xfrm>
            <ns1:off x="3400282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Lean Container Images</ns1:t>
            </ns1:r>
            <ns1:endParaRPr lang="en-US" sz="900" dirty="0"/>
          </ns1:p>
        </ns0:txBody>
      </ns0:sp>
      <ns0:sp>
        <ns0:nvSpPr>
          <ns0:cNvPr id="22" name="TextBox 58"/>
          <ns0:cNvSpPr/>
          <ns0:nvPr/>
        </ns0:nvSpPr>
        <ns0:spPr>
          <ns1:xfrm>
            <ns1:off x="3400282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Multi-stage Dockerfile leveraging distroless/python-slim base. Runs under non-privileged app user with built-in HTTP curl healthchecks on /health.</ns1:t>
            </ns1:r>
            <ns1:endParaRPr lang="en-US" sz="600" dirty="0"/>
          </ns1:p>
        </ns0:txBody>
      </ns0:sp>
      <ns0:sp>
        <ns0:nvSpPr>
          <ns0:cNvPr id="23" name="TextBox 63"/>
          <ns0:cNvSpPr/>
          <ns0:nvPr/>
        </ns0:nvSpPr>
        <ns0:spPr>
          <ns1:xfrm>
            <ns1:off x="3400282" y="3542014"/>
            <ns1:ext cx="32932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Non-Root User</ns1:t>
            </ns1:r>
            <ns1:endParaRPr lang="en-US" sz="450" dirty="0"/>
          </ns1:p>
        </ns0:txBody>
      </ns0:sp>
      <ns0:sp>
        <ns0:nvSpPr>
          <ns0:cNvPr id="24" name="TextBox 65"/>
          <ns0:cNvSpPr/>
          <ns0:nvPr/>
        </ns0:nvSpPr>
        <ns0:spPr>
          <ns1:xfrm>
            <ns1:off x="376770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Multi-Stage</ns1:t>
            </ns1:r>
            <ns1:endParaRPr lang="en-US" sz="450" dirty="0"/>
          </ns1:p>
        </ns0:txBody>
      </ns0:sp>
      <ns0:sp>
        <ns0:nvSpPr>
          <ns0:cNvPr id="25" name="TextBox 67"/>
          <ns0:cNvSpPr/>
          <ns0:nvPr/>
        </ns0:nvSpPr>
        <ns0:spPr>
          <ns1:xfrm>
            <ns1:off x="420023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Healthcheck</ns1:t>
            </ns1:r>
            <ns1:endParaRPr lang="en-US" sz="450" dirty="0"/>
          </ns1:p>
        </ns0:txBody>
      </ns0:sp>
      <ns0:sp>
        <ns0:nvSpPr>
          <ns0:cNvPr id="26" name="Shape 71"/>
          <ns0:cNvSpPr/>
          <ns0:nvPr/>
        </ns0:nvSpPr>
        <ns0:spPr>
          <ns1:xfrm>
            <ns1:off x="6032468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7" name="TextBox 75"/>
          <ns0:cNvSpPr/>
          <ns0:nvPr/>
        </ns0:nvSpPr>
        <ns0:spPr>
          <ns1:xfrm>
            <ns1:off x="6187916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DEVELOPER SCRIPTS</ns1:t>
            </ns1:r>
            <ns1:endParaRPr lang="en-US" sz="450" dirty="0"/>
          </ns1:p>
        </ns0:txBody>
      </ns0:sp>
      <ns0:sp>
        <ns0:nvSpPr>
          <ns0:cNvPr id="28" name="TextBox 77"/>
          <ns0:cNvSpPr/>
          <ns0:nvPr/>
        </ns0:nvSpPr>
        <ns0:spPr>
          <ns1:xfrm>
            <ns1:off x="6187916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manage.py &amp; Makefile</ns1:t>
            </ns1:r>
            <ns1:endParaRPr lang="en-US" sz="900" dirty="0"/>
          </ns1:p>
        </ns0:txBody>
      </ns0:sp>
      <ns0:sp>
        <ns0:nvSpPr>
          <ns0:cNvPr id="29" name="TextBox 79"/>
          <ns0:cNvSpPr/>
          <ns0:nvPr/>
        </ns0:nvSpPr>
        <ns0:spPr>
          <ns1:xfrm>
            <ns1:off x="6187916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Wabi-sabi reduction merged with Linear/Raycast keyboard speed. High contrast sumi ink on natural unbleached sand surfaces, devoid of ambient visual noise.</ns1:t>
            </ns1:r>
            <ns1:endParaRPr lang="en-US" sz="600" dirty="0"/>
          </ns1:p>
        </ns0:txBody>
      </ns0:sp>
      <ns0:sp>
        <ns0:nvSpPr>
          <ns0:cNvPr id="30" name="TextBox 84"/>
          <ns0:cNvSpPr/>
          <ns0:nvPr/>
        </ns0:nvSpPr>
        <ns0:spPr>
          <ns1:xfrm>
            <ns1:off x="6187916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manage.py</ns1:t>
            </ns1:r>
            <ns1:endParaRPr lang="en-US" sz="450" dirty="0"/>
          </ns1:p>
        </ns0:txBody>
      </ns0:sp>
      <ns0:sp>
        <ns0:nvSpPr>
          <ns0:cNvPr id="31" name="TextBox 86"/>
          <ns0:cNvSpPr/>
          <ns0:nvPr/>
        </ns0:nvSpPr>
        <ns0:spPr>
          <ns1:xfrm>
            <ns1:off x="6718173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make dev</ns1:t>
            </ns1:r>
            <ns1:endParaRPr lang="en-US" sz="450" dirty="0"/>
          </ns1:p>
        </ns0:txBody>
      </ns0:sp>
      <ns0:sp>
        <ns0:nvSpPr>
          <ns0:cNvPr id="32" name="TextBox 88"/>
          <ns0:cNvSpPr/>
          <ns0:nvPr/>
        </ns0:nvSpPr>
        <ns0:spPr>
          <ns1:xfrm>
            <ns1:off x="7248430" y="3542014"/>
            <ns1:ext cx="58983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compose up</ns1:t>
            </ns1:r>
            <ns1:endParaRPr lang="en-US" sz="450" dirty="0"/>
          </ns1:p>
        </ns0:txBody>
      </ns0:sp>
      <ns0:sp>
        <ns0:nvSpPr>
          <ns0:cNvPr id="33" name="Shape 93"/>
          <ns0:cNvSpPr/>
          <ns0:nvPr/>
        </ns0:nvSpPr>
        <ns0:spPr>
          <ns1:xfrm>
            <ns1:off x="457200" y="4121944"/>
            <ns1:ext cx="8229600" cy="184023"/>
          </ns1:xfrm>
          <ns1:prstGeom prst="rect">
            <ns1:avLst/>
          </ns1:prstGeom>
          <ns1:noFill/>
          <ns1:ln/>
        </ns0:spPr>
      </ns0:sp>
      <ns0:pic>
        <ns0:nvPicPr>
          <ns0:cNvPr id="34" name="Picture 93" descr="__type_image">    </ns0:cNvPr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457200" y="4121944"/>
            <ns1:ext cx="8229600" cy="184023"/>
          </ns1:xfrm>
          <ns1:prstGeom prst="rect">
            <ns1:avLst/>
          </ns1:prstGeom>
        </ns0:spPr>
      </ns0:pic>
      <ns0:sp>
        <ns0:nvSpPr>
          <ns0:cNvPr id="35" name="TextBox 95"/>
          <ns0:cNvSpPr/>
          <ns0:nvPr/>
        </ns0:nvSpPr>
        <ns0:spPr>
          <ns1:xfrm>
            <ns1:off x="457200" y="4220242"/>
            <ns1:ext cx="1394031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ZEN-DEVOPS-07 // PACKAGING &amp; CONTAINER PIPELINE</ns1:t>
            </ns1:r>
            <ns1:endParaRPr lang="en-US" sz="450" dirty="0"/>
          </ns1:p>
        </ns0:txBody>
      </ns0:sp>
      <ns0:sp>
        <ns0:nvSpPr>
          <ns0:cNvPr id="36" name="TextBox 97"/>
          <ns0:cNvSpPr/>
          <ns0:nvPr/>
        </ns0:nvSpPr>
        <ns0:spPr>
          <ns1:xfrm>
            <ns1:off x="8442817" y="4220242"/>
            <ns1:ext cx="243983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07 / 08</ns1:t>
            </ns1:r>
            <ns1:endParaRPr lang="en-US" sz="450" dirty="0"/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 name="Slide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3" name="Shape 2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F3F2EC"/>
          </ns1:solidFill>
          <ns1:ln/>
        </ns0:spPr>
      </ns0:sp>
      <ns0:sp>
        <ns0:nvSpPr>
          <ns0:cNvPr id="4" name="Shape 4"/>
          <ns0:cNvSpPr/>
          <ns0:nvPr/>
        </ns0:nvSpPr>
        <ns0:spPr>
          <ns1:xfrm>
            <ns1:off x="457200" y="342900"/>
            <ns1:ext cx="8229600" cy="210217"/>
          </ns1:xfrm>
          <ns1:prstGeom prst="rect">
            <ns1:avLst/>
          </ns1:prstGeom>
          <ns1:noFill/>
          <ns1:ln/>
        </ns0:spPr>
      </ns0:sp>
      <ns0:pic>
        <ns0:nvPicPr>
          <ns0:cNvPr id="5" name="Picture 4" descr="__type_image">    </ns0:cNvPr>
          <ns0:cNvPicPr>
            <ns1:picLocks noChangeAspect="1"/>
          </ns0:cNvPicPr>
          <ns0:nvPr/>
        </ns0:nvPicPr>
        <ns0:blipFill>
          <ns1:blip ns2:embed="rId1">
            <ns1:extLst>
              <ns1:ext uri="{96DAC541-7B7A-43D3-8B79-37D633B846F1}">
                <ns3:svgBlip ns2:embed="rId2"/>
              </ns1:ext>
            </ns1:extLst>
          </ns1:blip>
          <ns1:stretch>
            <ns1:fillRect/>
          </ns1:stretch>
        </ns0:blipFill>
        <ns0:spPr>
          <ns1:xfrm>
            <ns1:off x="457200" y="342900"/>
            <ns1:ext cx="8229600" cy="210217"/>
          </ns1:xfrm>
          <ns1:prstGeom prst="rect">
            <ns1:avLst/>
          </ns1:prstGeom>
        </ns0:spPr>
      </ns0:pic>
      <ns0:sp>
        <ns0:nvSpPr>
          <ns0:cNvPr id="6" name="Shape 8"/>
          <ns0:cNvSpPr/>
          <ns0:nvPr/>
        </ns0:nvSpPr>
        <ns0:spPr>
          <ns1:xfrm>
            <ns1:off x="457200" y="375047"/>
            <ns1:ext cx="28575" cy="28575"/>
          </ns1:xfrm>
          <ns1:prstGeom prst="roundRect">
            <ns1:avLst>
              <ns1:gd name="adj" fmla="val 37500"/>
            </ns1:avLst>
          </ns1:prstGeom>
          <ns1:solidFill>
            <ns1:srgbClr val="100600"/>
          </ns1:solidFill>
          <ns1:ln/>
        </ns0:spPr>
      </ns0:sp>
      <ns0:sp>
        <ns0:nvSpPr>
          <ns0:cNvPr id="7" name="TextBox 10"/>
          <ns0:cNvSpPr/>
          <ns0:nvPr/>
        </ns0:nvSpPr>
        <ns0:spPr>
          <ns1:xfrm>
            <ns1:off x="542925" y="342900"/>
            <ns1:ext cx="1676543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 PRECISION SAAS — PROJECT ROADMAP &amp; VERIFICATION</ns1:t>
            </ns1:r>
            <ns1:endParaRPr lang="en-US" sz="488" dirty="0"/>
          </ns1:p>
        </ns0:txBody>
      </ns0:sp>
      <ns0:sp>
        <ns0:nvSpPr>
          <ns0:cNvPr id="8" name="TextBox 13"/>
          <ns0:cNvSpPr/>
          <ns0:nvPr/>
        </ns0:nvSpPr>
        <ns0:spPr>
          <ns1:xfrm>
            <ns1:off x="8082772" y="342900"/>
            <ns1:ext cx="604028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2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VERIFICATION // QA 08</ns1:t>
            </ns1:r>
            <ns1:endParaRPr lang="en-US" sz="488" dirty="0"/>
          </ns1:p>
        </ns0:txBody>
      </ns0:sp>
      <ns0:sp>
        <ns0:nvSpPr>
          <ns0:cNvPr id="9" name="TextBox 20"/>
          <ns0:cNvSpPr/>
          <ns0:nvPr/>
        </ns0:nvSpPr>
        <ns0:spPr>
          <ns1:xfrm>
            <ns1:off x="457200" y="781717"/>
            <ns1:ext cx="8229600" cy="928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731"/>
              </ns1:lnSpc>
              <ns1:buNone/>
            </ns1:pPr>
            <ns1:r>
              <ns1:rPr lang="en-US" sz="488" spc="39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SPEC-DRIVEN PHASES &amp; 100% TEST COVERAGE</ns1:t>
            </ns1:r>
            <ns1:endParaRPr lang="en-US" sz="488" dirty="0"/>
          </ns1:p>
        </ns0:txBody>
      </ns0:sp>
      <ns0:sp>
        <ns0:nvSpPr>
          <ns0:cNvPr id="10" name="TextBox 22"/>
          <ns0:cNvSpPr/>
          <ns0:nvPr/>
        </ns0:nvSpPr>
        <ns0:spPr>
          <ns1:xfrm>
            <ns1:off x="457200" y="950785"/>
            <ns1:ext cx="3374898" cy="5867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2310"/>
              </ns1:lnSpc>
              <ns1:buNone/>
            </ns1:pPr>
            <ns1:r>
              <ns1:rPr lang="en-US" sz="2100" b="1" spc="-52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Execution Roadmap &amp; Quality Gate</ns1:t>
            </ns1:r>
            <ns1:endParaRPr lang="en-US" sz="2100" dirty="0"/>
          </ns1:p>
        </ns0:txBody>
      </ns0:sp>
      <ns0:sp>
        <ns0:nvSpPr>
          <ns0:cNvPr id="11" name="TextBox 24"/>
          <ns0:cNvSpPr/>
          <ns0:nvPr/>
        </ns0:nvSpPr>
        <ns0:spPr>
          <ns1:xfrm>
            <ns1:off x="457200" y="1632775"/>
            <ns1:ext cx="2978039" cy="4286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125"/>
              </ns1:lnSpc>
              <ns1:buNone/>
            </ns1:pPr>
            <ns1:r>
              <ns1:rPr lang="en-US" sz="75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Disciplined spec-driven lifecycle across 4 completed phases with 14 GitHub issues, 43 automated integration tests, and 100% test pass rate.</ns1:t>
            </ns1:r>
            <ns1:endParaRPr lang="en-US" sz="750" dirty="0"/>
          </ns1:p>
        </ns0:txBody>
      </ns0:sp>
      <ns0:sp>
        <ns0:nvSpPr>
          <ns0:cNvPr id="12" name="Shape 29"/>
          <ns0:cNvSpPr/>
          <ns0:nvPr/>
        </ns0:nvSpPr>
        <ns0:spPr>
          <ns1:xfrm>
            <ns1:off x="457200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13" name="TextBox 33"/>
          <ns0:cNvSpPr/>
          <ns0:nvPr/>
        </ns0:nvSpPr>
        <ns0:spPr>
          <ns1:xfrm>
            <ns1:off x="612648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PHASE 1 &amp; 2 SCOPE</ns1:t>
            </ns1:r>
            <ns1:endParaRPr lang="en-US" sz="450" dirty="0"/>
          </ns1:p>
        </ns0:txBody>
      </ns0:sp>
      <ns0:sp>
        <ns0:nvSpPr>
          <ns0:cNvPr id="14" name="TextBox 35"/>
          <ns0:cNvSpPr/>
          <ns0:nvPr/>
        </ns0:nvSpPr>
        <ns0:spPr>
          <ns1:xfrm>
            <ns1:off x="612648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Frontend &amp; SQLite Persistence</ns1:t>
            </ns1:r>
            <ns1:endParaRPr lang="en-US" sz="900" dirty="0"/>
          </ns1:p>
        </ns0:txBody>
      </ns0:sp>
      <ns0:sp>
        <ns0:nvSpPr>
          <ns0:cNvPr id="15" name="TextBox 37"/>
          <ns0:cNvSpPr/>
          <ns0:nvPr/>
        </ns0:nvSpPr>
        <ns0:spPr>
          <ns1:xfrm>
            <ns1:off x="612648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Issues #1-#6: UI scaffold, SortableJS, edit modal, dummy backend. Issues #7-#10: SQLModel entities, Float ranking engine, and route wiring.</ns1:t>
            </ns1:r>
            <ns1:endParaRPr lang="en-US" sz="600" dirty="0"/>
          </ns1:p>
        </ns0:txBody>
      </ns0:sp>
      <ns0:sp>
        <ns0:nvSpPr>
          <ns0:cNvPr id="16" name="TextBox 42"/>
          <ns0:cNvSpPr/>
          <ns0:nvPr/>
        </ns0:nvSpPr>
        <ns0:spPr>
          <ns1:xfrm>
            <ns1:off x="612648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Phase 1 Done</ns1:t>
            </ns1:r>
            <ns1:endParaRPr lang="en-US" sz="450" dirty="0"/>
          </ns1:p>
        </ns0:txBody>
      </ns0:sp>
      <ns0:sp>
        <ns0:nvSpPr>
          <ns0:cNvPr id="17" name="TextBox 44"/>
          <ns0:cNvSpPr/>
          <ns0:nvPr/>
        </ns0:nvSpPr>
        <ns0:spPr>
          <ns1:xfrm>
            <ns1:off x="1142905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Phase 2 Done</ns1:t>
            </ns1:r>
            <ns1:endParaRPr lang="en-US" sz="450" dirty="0"/>
          </ns1:p>
        </ns0:txBody>
      </ns0:sp>
      <ns0:sp>
        <ns0:nvSpPr>
          <ns0:cNvPr id="18" name="TextBox 46"/>
          <ns0:cNvSpPr/>
          <ns0:nvPr/>
        </ns0:nvSpPr>
        <ns0:spPr>
          <ns1:xfrm>
            <ns1:off x="1673162" y="3542014"/>
            <ns1:ext cx="42700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Issues #1-#10</ns1:t>
            </ns1:r>
            <ns1:endParaRPr lang="en-US" sz="450" dirty="0"/>
          </ns1:p>
        </ns0:txBody>
      </ns0:sp>
      <ns0:sp>
        <ns0:nvSpPr>
          <ns0:cNvPr id="19" name="Shape 50"/>
          <ns0:cNvSpPr/>
          <ns0:nvPr/>
        </ns0:nvSpPr>
        <ns0:spPr>
          <ns1:xfrm>
            <ns1:off x="3244834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0" name="TextBox 54"/>
          <ns0:cNvSpPr/>
          <ns0:nvPr/>
        </ns0:nvSpPr>
        <ns0:spPr>
          <ns1:xfrm>
            <ns1:off x="3400282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PHASE 3 &amp; 4 SCOPE</ns1:t>
            </ns1:r>
            <ns1:endParaRPr lang="en-US" sz="450" dirty="0"/>
          </ns1:p>
        </ns0:txBody>
      </ns0:sp>
      <ns0:sp>
        <ns0:nvSpPr>
          <ns0:cNvPr id="21" name="TextBox 56"/>
          <ns0:cNvSpPr/>
          <ns0:nvPr/>
        </ns0:nvSpPr>
        <ns0:spPr>
          <ns1:xfrm>
            <ns1:off x="3400282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Deploy &amp; Zen Design Refresh</ns1:t>
            </ns1:r>
            <ns1:endParaRPr lang="en-US" sz="900" dirty="0"/>
          </ns1:p>
        </ns0:txBody>
      </ns0:sp>
      <ns0:sp>
        <ns0:nvSpPr>
          <ns0:cNvPr id="22" name="TextBox 58"/>
          <ns0:cNvSpPr/>
          <ns0:nvPr/>
        </ns0:nvSpPr>
        <ns0:spPr>
          <ns1:xfrm>
            <ns1:off x="3400282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Issues #11-#12: Multi-stage Docker, healthcheck, compose. Issues #13-#14: Zen Precision SaaS design system refresh &amp; responsive board layout.</ns1:t>
            </ns1:r>
            <ns1:endParaRPr lang="en-US" sz="600" dirty="0"/>
          </ns1:p>
        </ns0:txBody>
      </ns0:sp>
      <ns0:sp>
        <ns0:nvSpPr>
          <ns0:cNvPr id="23" name="TextBox 63"/>
          <ns0:cNvSpPr/>
          <ns0:nvPr/>
        </ns0:nvSpPr>
        <ns0:spPr>
          <ns1:xfrm>
            <ns1:off x="3400282" y="3542014"/>
            <ns1:ext cx="32932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Phase 3 Done</ns1:t>
            </ns1:r>
            <ns1:endParaRPr lang="en-US" sz="450" dirty="0"/>
          </ns1:p>
        </ns0:txBody>
      </ns0:sp>
      <ns0:sp>
        <ns0:nvSpPr>
          <ns0:cNvPr id="24" name="TextBox 65"/>
          <ns0:cNvSpPr/>
          <ns0:nvPr/>
        </ns0:nvSpPr>
        <ns0:spPr>
          <ns1:xfrm>
            <ns1:off x="376770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Phase 4 Done</ns1:t>
            </ns1:r>
            <ns1:endParaRPr lang="en-US" sz="450" dirty="0"/>
          </ns1:p>
        </ns0:txBody>
      </ns0:sp>
      <ns0:sp>
        <ns0:nvSpPr>
          <ns0:cNvPr id="25" name="TextBox 67"/>
          <ns0:cNvSpPr/>
          <ns0:nvPr/>
        </ns0:nvSpPr>
        <ns0:spPr>
          <ns1:xfrm>
            <ns1:off x="4200239" y="3542014"/>
            <ns1:ext cx="394430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Issues #11-#14</ns1:t>
            </ns1:r>
            <ns1:endParaRPr lang="en-US" sz="450" dirty="0"/>
          </ns1:p>
        </ns0:txBody>
      </ns0:sp>
      <ns0:sp>
        <ns0:nvSpPr>
          <ns0:cNvPr id="26" name="Shape 71"/>
          <ns0:cNvSpPr/>
          <ns0:nvPr/>
        </ns0:nvSpPr>
        <ns0:spPr>
          <ns1:xfrm>
            <ns1:off x="6032468" y="2546461"/>
            <ns1:ext cx="2654284" cy="1280922"/>
          </ns1:xfrm>
          <ns1:prstGeom prst="roundRect">
            <ns1:avLst>
              <ns1:gd name="adj" fmla="val 837"/>
            </ns1:avLst>
          </ns1:prstGeom>
          <ns1:solidFill>
            <ns1:srgbClr val="FAF9F5"/>
          </ns1:solidFill>
          <ns1:ln w="3048">
            <ns1:solidFill>
              <ns1:srgbClr val="76777B"/>
            </ns1:solidFill>
            <ns1:prstDash val="solid"/>
          </ns1:ln>
        </ns0:spPr>
      </ns0:sp>
      <ns0:sp>
        <ns0:nvSpPr>
          <ns0:cNvPr id="27" name="TextBox 75"/>
          <ns0:cNvSpPr/>
          <ns0:nvPr/>
        </ns0:nvSpPr>
        <ns0:spPr>
          <ns1:xfrm>
            <ns1:off x="6187916" y="2701909"/>
            <ns1:ext cx="2343388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TESTING &amp; QUALITY</ns1:t>
            </ns1:r>
            <ns1:endParaRPr lang="en-US" sz="450" dirty="0"/>
          </ns1:p>
        </ns0:txBody>
      </ns0:sp>
      <ns0:sp>
        <ns0:nvSpPr>
          <ns0:cNvPr id="28" name="TextBox 77"/>
          <ns0:cNvSpPr/>
          <ns0:nvPr/>
        </ns0:nvSpPr>
        <ns0:spPr>
          <ns1:xfrm>
            <ns1:off x="6187916" y="2844784"/>
            <ns1:ext cx="2343388" cy="17145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1350"/>
              </ns1:lnSpc>
              <ns1:buNone/>
            </ns1:pPr>
            <ns1:r>
              <ns1:rPr lang="en-US" sz="900" b="1" spc="-9" kern="0" dirty="0">
                <ns1:solidFill>
                  <ns1:srgbClr val="07080A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43 Automated Tests (100%)</ns1:t>
            </ns1:r>
            <ns1:endParaRPr lang="en-US" sz="900" dirty="0"/>
          </ns1:p>
        </ns0:txBody>
      </ns0:sp>
      <ns0:sp>
        <ns0:nvSpPr>
          <ns0:cNvPr id="29" name="TextBox 79"/>
          <ns0:cNvSpPr/>
          <ns0:nvPr/>
        </ns0:nvSpPr>
        <ns0:spPr>
          <ns1:xfrm>
            <ns1:off x="6187916" y="3073384"/>
            <ns1:ext cx="2343388" cy="3543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930"/>
              </ns1:lnSpc>
              <ns1:buNone/>
            </ns1:pPr>
            <ns1:r>
              <ns1:rPr lang="en-US" sz="600" dirty="0">
                <ns1:solidFill>
                  <ns1:srgbClr val="5B5E64"/>
                </ns1:solidFill>
                <ns1:latin typeface="Inter" pitchFamily="34" charset="0"/>
                <ns1:ea typeface="Inter" pitchFamily="34" charset="-122"/>
                <ns1:cs typeface="Inter" pitchFamily="34" charset="-120"/>
              </ns1:rPr>
              <ns1:t>Wabi-sabi reduction merged with Linear/Raycast keyboard speed. High contrast sumi ink on natural unbleached sand surfaces, devoid of ambient visual noise.</ns1:t>
            </ns1:r>
            <ns1:endParaRPr lang="en-US" sz="600" dirty="0"/>
          </ns1:p>
        </ns0:txBody>
      </ns0:sp>
      <ns0:sp>
        <ns0:nvSpPr>
          <ns0:cNvPr id="30" name="TextBox 84"/>
          <ns0:cNvSpPr/>
          <ns0:nvPr/>
        </ns0:nvSpPr>
        <ns0:spPr>
          <ns1:xfrm>
            <ns1:off x="6187916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43 Passed</ns1:t>
            </ns1:r>
            <ns1:endParaRPr lang="en-US" sz="450" dirty="0"/>
          </ns1:p>
        </ns0:txBody>
      </ns0:sp>
      <ns0:sp>
        <ns0:nvSpPr>
          <ns0:cNvPr id="31" name="TextBox 86"/>
          <ns0:cNvSpPr/>
          <ns0:nvPr/>
        </ns0:nvSpPr>
        <ns0:spPr>
          <ns1:xfrm>
            <ns1:off x="6718173" y="3542014"/>
            <ns1:ext cx="492157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1.95s Runtime</ns1:t>
            </ns1:r>
            <ns1:endParaRPr lang="en-US" sz="450" dirty="0"/>
          </ns1:p>
        </ns0:txBody>
      </ns0:sp>
      <ns0:sp>
        <ns0:nvSpPr>
          <ns0:cNvPr id="32" name="TextBox 88"/>
          <ns0:cNvSpPr/>
          <ns0:nvPr/>
        </ns0:nvSpPr>
        <ns0:spPr>
          <ns1:xfrm>
            <ns1:off x="7248430" y="3542014"/>
            <ns1:ext cx="589836" cy="129921"/>
          </ns1:xfrm>
          <ns1:prstGeom prst="roundRect">
            <ns1:avLst>
              <ns1:gd name="adj" fmla="val 8248"/>
            </ns1:avLst>
          </ns1:prstGeom>
          <ns1:solidFill>
            <ns1:srgbClr val="E0E2E9"/>
          </ns1:solidFill>
          <ns1:ln w="3048">
            <ns1:prstDash val="solid"/>
          </ns1:ln>
        </ns0:spPr>
        <ns0:txBody>
          <ns1:bodyPr wrap="square" lIns="47625" tIns="19050" rIns="47625" bIns="1905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9" kern="0" dirty="0">
                <ns1:solidFill>
                  <ns1:srgbClr val="07080A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Zero Regress</ns1:t>
            </ns1:r>
            <ns1:endParaRPr lang="en-US" sz="450" dirty="0"/>
          </ns1:p>
        </ns0:txBody>
      </ns0:sp>
      <ns0:sp>
        <ns0:nvSpPr>
          <ns0:cNvPr id="33" name="Shape 93"/>
          <ns0:cNvSpPr/>
          <ns0:nvPr/>
        </ns0:nvSpPr>
        <ns0:spPr>
          <ns1:xfrm>
            <ns1:off x="457200" y="4121944"/>
            <ns1:ext cx="8229600" cy="184023"/>
          </ns1:xfrm>
          <ns1:prstGeom prst="rect">
            <ns1:avLst/>
          </ns1:prstGeom>
          <ns1:noFill/>
          <ns1:ln/>
        </ns0:spPr>
      </ns0:sp>
      <ns0:pic>
        <ns0:nvPicPr>
          <ns0:cNvPr id="34" name="Picture 93" descr="__type_image">    </ns0:cNvPr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457200" y="4121944"/>
            <ns1:ext cx="8229600" cy="184023"/>
          </ns1:xfrm>
          <ns1:prstGeom prst="rect">
            <ns1:avLst/>
          </ns1:prstGeom>
        </ns0:spPr>
      </ns0:pic>
      <ns0:sp>
        <ns0:nvSpPr>
          <ns0:cNvPr id="35" name="TextBox 95"/>
          <ns0:cNvSpPr/>
          <ns0:nvPr/>
        </ns0:nvSpPr>
        <ns0:spPr>
          <ns1:xfrm>
            <ns1:off x="457200" y="4220242"/>
            <ns1:ext cx="1394031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ZEN-ROADMAP-08 // SPEC-DRIVEN VERIFICATION COMPLETE</ns1:t>
            </ns1:r>
            <ns1:endParaRPr lang="en-US" sz="450" dirty="0"/>
          </ns1:p>
        </ns0:txBody>
      </ns0:sp>
      <ns0:sp>
        <ns0:nvSpPr>
          <ns0:cNvPr id="36" name="TextBox 97"/>
          <ns0:cNvSpPr/>
          <ns0:nvPr/>
        </ns0:nvSpPr>
        <ns0:spPr>
          <ns1:xfrm>
            <ns1:off x="8442817" y="4220242"/>
            <ns1:ext cx="243983" cy="857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spAutoFit/>
          </ns1:bodyPr>
          <ns1:lstStyle/>
          <ns1:p>
            <ns1:pPr algn="l" indent="0" marL="0">
              <ns1:lnSpc>
                <ns1:spcPts val="675"/>
              </ns1:lnSpc>
              <ns1:buNone/>
            </ns1:pPr>
            <ns1:r>
              <ns1:rPr lang="en-US" sz="450" spc="27" kern="0" dirty="0">
                <ns1:solidFill>
                  <ns1:srgbClr val="5B5E64"/>
                </ns1:solidFill>
                <ns1:latin typeface="JetBrains Mono" pitchFamily="34" charset="0"/>
                <ns1:ea typeface="JetBrains Mono" pitchFamily="34" charset="-122"/>
                <ns1:cs typeface="JetBrains Mono" pitchFamily="34" charset="-120"/>
              </ns1:rPr>
              <ns1:t>08 / 08</ns1:t>
            </ns1:r>
            <ns1:endParaRPr lang="en-US" sz="45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2026-09-20T17:38:42Z</dcterms:created>
  <dcterms:modified xsi:type="dcterms:W3CDTF">2026-09-20T17:38:42Z</dcterms:modified>
</cp:coreProperties>
</file>